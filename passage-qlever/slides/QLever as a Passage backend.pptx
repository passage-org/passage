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Blazegraph carries tuple counts inside its B+tree nodes, so "how many matches" and "which match sits at rank k" are both a tree descent. Its own uniform sampler is built straight on keyAt. QLever has neither — that is the whole question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Wikidata SPARQL query service backend replacement proposal. Worth saying plainly that it is a proposal open for community review rather than a finished switch, and that Blazegraph-specific services and functions will not carry over, so queries using them must be rewritten.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highlighted row out loud rather than hoping nobody asks: the evaluator is independent, but this particular query set was assembled by QLever's own authors. The author's verdict over all four benchmarks is still that QLever is the fastest of the four engines. Two caveats of his worth knowing: all four deviate from the SPARQL standard somewhere, and Virtuoso silently returns at most 1,048,576 answers per query, which accounts for most of its divergences on WDBench.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point at. The per-block metadata lives at the END of the permutation file, not in the sidecar: the reader seeks to the last offset and deserialises it at start-up. And the .meta sidecar is 992 bytes for PSO but 32 bytes for SPO — because SPO has 521,585 relations that each live inside a single block and are addressed by an offset within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that matters downstream: a bound component in a scan is an Id, and resolving it is a vocabulary lookup — unless it is a number or a date, which cost nothing. It is also where the absent-value trap lives: a string not in the vocabulary has no Id at all, and that has to be reported rather than silently turned into a wildcard.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Id on this slide was read from the fig2 index by asking QLever for the string behind it. The right-hand column is the honest catch: ordering by Id groups by datatype first, in enum order, so it is not SPARQL's comparison — that lives in ValueIdComparators and is a different function. An offset into a scan is a position in THIS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 predicates against a million objects, for the same ten million triples: that asymmetry is why the block counts differ. Note that the bound components have to be a PREFIX of the key order — that constraint is what decides which of the six a given pattern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rule is the one that matters for correctness later: because a block never splits triples that differ only by graph, a block's row count can be trusted without opening it — which is exactly the guard the offset patch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row is PSO. Its col0 has only 86 distinct values and compresses to nothing, yet the file is larger than SPO's — because what matters is the other columns: sorted by predicate, the subjects inside one predicate are a long ascending run but the objects are near-random, while SPO gets two low-entropy columns. Every number here was read from the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firstTriple_ and lastTriple_ are what the binary search uses to find the range of blocks a pattern touches, without reading any of them. numRows_ is what lets an offset be resolved before any I/O. Both were already there; nothing in this work added a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is the forty-line patch: skipped blocks are counted, never opened, and the guard is that a block's row count can only be trusted when the block holds no duplicates differing by graph. Step 5 is why a per-thread cache of decompressed blocks is worth 38x on scan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index built before the patch is read by the patched engine unchanged. That matters more than the size of the patch: a mechanism needing the index format to change would not port to the next engine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third row against the first two: an exact count is three orders of magnitude dearer than the estimate, and the block cache closes most but not all of that. The engine asks for the exact one wherever an answer depends on it, and for the estimate everywhere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limitations are constants, and this is the one that is a difference in kind. If the random-walk estimators matter on this backend, the thing to build is a per-block distinct count or a cheap rank — not a bigger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obvious question from the audience: why read the source rather than the documentation. The honest answer is that for the storage layer there is none, and the one paper that describes a block structure describes one that no longer exists and that was explicitly uncompressed.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 is the one the upstream README asks for, not the one on Wikipedia, which misses the TGDK, GRASP and Sparqloscope papers and dates the autocompletion work to an arXiv preprint rather than CIKM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NN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152144"/>
          </a:xfrm>
          <a:prstGeom prst="rect">
            <a:avLst/>
          </a:prstGeom>
          <a:solidFill>
            <a:srgbClr val="0084D1"/>
          </a:solidFill>
          <a:ln/>
        </p:spPr>
      </p:sp>
      <p:sp>
        <p:nvSpPr>
          <p:cNvPr id="3" name="Text 1"/>
          <p:cNvSpPr/>
          <p:nvPr>
            <p:ph idx="101" type="title" hasCustomPrompt="1"/>
          </p:nvPr>
        </p:nvSpPr>
        <p:spPr>
          <a:xfrm>
            <a:off x="274320" y="201168"/>
            <a:ext cx="11640312" cy="749808"/>
          </a:xfrm>
          <a:prstGeom prst="rect">
            <a:avLst/>
          </a:prstGeom>
          <a:noFill/>
          <a:ln/>
        </p:spPr>
        <p:txBody>
          <a:bodyPr wrap="square" rtlCol="0"/>
          <a:lstStyle>
            <a:lvl1pPr algn="ctr" indent="0" marL="0">
              <a:buNone/>
              <a:defRPr lang="en-US" sz="3200" b="1" dirty="0">
                <a:solidFill>
                  <a:srgbClr val="FFFFFF"/>
                </a:solidFill>
                <a:latin typeface="Roboto Slab" pitchFamily="34" charset="0"/>
                <a:ea typeface="Roboto Slab" pitchFamily="34" charset="-122"/>
                <a:cs typeface="Roboto Slab" pitchFamily="34" charset="-120"/>
              </a:defRPr>
            </a:lvl1pPr>
          </a:lstStyle>
          <a:p>
            <a:pPr algn="ctr" indent="0" marL="0">
              <a:buNone/>
            </a:pPr>
            <a:endParaRPr lang="en-US" sz="3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Why change the backend?</a:t>
            </a:r>
            <a:endParaRPr lang="en-US" sz="3200" dirty="0"/>
          </a:p>
        </p:txBody>
      </p:sp>
      <p:sp>
        <p:nvSpPr>
          <p:cNvPr id="4" name="Text 1"/>
          <p:cNvSpPr txBox="1"/>
          <p:nvPr/>
        </p:nvSpPr>
        <p:spPr>
          <a:xfrm>
            <a:off x="658368" y="1664208"/>
            <a:ext cx="10881360" cy="3840480"/>
          </a:xfrm>
          <a:prstGeom prst="rect">
            <a:avLst/>
          </a:prstGeom>
          <a:noFill/>
          <a:ln/>
        </p:spPr>
        <p:txBody>
          <a:bodyPr wrap="square" lIns="0" tIns="0" rIns="0" bIns="0" rtlCol="0" anchor="t"/>
          <a:lstStyle/>
          <a:p>
            <a:pPr marL="342900" indent="-342900">
              <a:spcAft>
                <a:spcPts val="800"/>
              </a:spcAft>
              <a:buSzPct val="100000"/>
              <a:buChar char="•"/>
            </a:pPr>
            <a:r>
              <a:rPr lang="en-US" sz="2000" b="1" dirty="0">
                <a:solidFill>
                  <a:srgbClr val="FF0000"/>
                </a:solidFill>
                <a:latin typeface="Roboto" pitchFamily="34" charset="0"/>
                <a:ea typeface="Roboto" pitchFamily="34" charset="-122"/>
                <a:cs typeface="Roboto" pitchFamily="34" charset="-120"/>
              </a:rPr>
              <a:t>Blazegraph is no longer maintained</a:t>
            </a:r>
            <a:endParaRPr lang="en-US" sz="2000" dirty="0"/>
          </a:p>
          <a:p>
            <a:pPr marL="342900" indent="-342900">
              <a:spcAft>
                <a:spcPts val="800"/>
              </a:spcAft>
              <a:buSzPct val="100000"/>
              <a:buChar char="•"/>
            </a:pPr>
            <a:r>
              <a:rPr lang="en-US" sz="2000" b="1" dirty="0">
                <a:solidFill>
                  <a:srgbClr val="000000"/>
                </a:solidFill>
                <a:latin typeface="Roboto" pitchFamily="34" charset="0"/>
                <a:ea typeface="Roboto" pitchFamily="34" charset="-122"/>
                <a:cs typeface="Roboto" pitchFamily="34" charset="-120"/>
              </a:rPr>
              <a:t>QLever is maintained, and six times smaller</a:t>
            </a:r>
            <a:endParaRPr lang="en-US" sz="2000" dirty="0"/>
          </a:p>
          <a:p>
            <a:pPr lvl="1" marL="685800" indent="-342900">
              <a:spcAft>
                <a:spcPts val="400"/>
              </a:spcAft>
              <a:buSzPct val="100000"/>
              <a:buChar char="•"/>
            </a:pPr>
            <a:r>
              <a:rPr lang="en-US" sz="1600" dirty="0">
                <a:solidFill>
                  <a:srgbClr val="000000"/>
                </a:solidFill>
                <a:latin typeface="Roboto" pitchFamily="34" charset="0"/>
                <a:ea typeface="Roboto" pitchFamily="34" charset="-122"/>
                <a:cs typeface="Roboto" pitchFamily="34" charset="-120"/>
              </a:rPr>
              <a:t>283 MB against 1.7 GB, for the same 10,916,457 triples</a:t>
            </a:r>
            <a:endParaRPr lang="en-US" sz="2000" dirty="0"/>
          </a:p>
          <a:p>
            <a:pPr marL="342900" indent="-342900">
              <a:spcAft>
                <a:spcPts val="800"/>
              </a:spcAft>
              <a:buSzPct val="100000"/>
              <a:buChar char="•"/>
            </a:pPr>
            <a:r>
              <a:rPr lang="en-US" sz="2000" b="1" dirty="0">
                <a:solidFill>
                  <a:srgbClr val="FF0000"/>
                </a:solidFill>
                <a:latin typeface="Roboto" pitchFamily="34" charset="0"/>
                <a:ea typeface="Roboto" pitchFamily="34" charset="-122"/>
                <a:cs typeface="Roboto" pitchFamily="34" charset="-120"/>
              </a:rPr>
              <a:t>But it has no augmented B+tree</a:t>
            </a:r>
            <a:endParaRPr lang="en-US" sz="2000" dirty="0"/>
          </a:p>
          <a:p>
            <a:pPr lvl="1" marL="685800" indent="-342900">
              <a:spcAft>
                <a:spcPts val="400"/>
              </a:spcAft>
              <a:buSzPct val="100000"/>
              <a:buChar char="•"/>
            </a:pPr>
            <a:r>
              <a:rPr lang="en-US" sz="1600" dirty="0">
                <a:solidFill>
                  <a:srgbClr val="000000"/>
                </a:solidFill>
                <a:latin typeface="Roboto" pitchFamily="34" charset="0"/>
                <a:ea typeface="Roboto" pitchFamily="34" charset="-122"/>
                <a:cs typeface="Roboto" pitchFamily="34" charset="-120"/>
              </a:rPr>
              <a:t>no rangeCount, no keyAt(rank)</a:t>
            </a:r>
            <a:endParaRPr lang="en-US" sz="2000" dirty="0"/>
          </a:p>
          <a:p>
            <a:pPr lvl="1" marL="685800" indent="-342900">
              <a:spcAft>
                <a:spcPts val="400"/>
              </a:spcAft>
              <a:buSzPct val="100000"/>
              <a:buChar char="•"/>
            </a:pPr>
            <a:r>
              <a:rPr lang="en-US" sz="1600" dirty="0">
                <a:solidFill>
                  <a:srgbClr val="000000"/>
                </a:solidFill>
                <a:latin typeface="Roboto" pitchFamily="34" charset="0"/>
                <a:ea typeface="Roboto" pitchFamily="34" charset="-122"/>
                <a:cs typeface="Roboto" pitchFamily="34" charset="-120"/>
              </a:rPr>
              <a:t>which are exactly the two questions a continuation asks</a:t>
            </a:r>
            <a:endParaRPr lang="en-US" sz="20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Wikidata reached the same conclusion</a:t>
            </a:r>
            <a:endParaRPr lang="en-US" sz="3200" dirty="0"/>
          </a:p>
        </p:txBody>
      </p:sp>
      <p:sp>
        <p:nvSpPr>
          <p:cNvPr id="4" name="Text 1"/>
          <p:cNvSpPr txBox="1"/>
          <p:nvPr/>
        </p:nvSpPr>
        <p:spPr>
          <a:xfrm>
            <a:off x="658368" y="1389888"/>
            <a:ext cx="10881360" cy="457200"/>
          </a:xfrm>
          <a:prstGeom prst="rect">
            <a:avLst/>
          </a:prstGeom>
          <a:noFill/>
          <a:ln/>
        </p:spPr>
        <p:txBody>
          <a:bodyPr wrap="square" lIns="0" tIns="0" rIns="0" bIns="0" rtlCol="0" anchor="t"/>
          <a:lstStyle/>
          <a:p>
            <a:pPr algn="l" indent="0" marL="0">
              <a:lnSpc>
                <a:spcPct val="120000"/>
              </a:lnSpc>
              <a:buNone/>
            </a:pPr>
            <a:r>
              <a:rPr lang="en-US" sz="1500" dirty="0">
                <a:solidFill>
                  <a:srgbClr val="000000"/>
                </a:solidFill>
                <a:latin typeface="Roboto" pitchFamily="34" charset="0"/>
                <a:ea typeface="Roboto" pitchFamily="34" charset="-122"/>
                <a:cs typeface="Roboto" pitchFamily="34" charset="-120"/>
              </a:rPr>
              <a:t>The Wikidata Platform Team proposes QLever as the replacement for Blazegraph in the Wikidata Query Service. Their reasons, quoted:</a:t>
            </a:r>
            <a:endParaRPr lang="en-US" sz="1500" dirty="0"/>
          </a:p>
        </p:txBody>
      </p:sp>
      <p:sp>
        <p:nvSpPr>
          <p:cNvPr id="5" name="Text 2"/>
          <p:cNvSpPr txBox="1"/>
          <p:nvPr/>
        </p:nvSpPr>
        <p:spPr>
          <a:xfrm>
            <a:off x="658368" y="1938528"/>
            <a:ext cx="10881360" cy="1188720"/>
          </a:xfrm>
          <a:prstGeom prst="rect">
            <a:avLst/>
          </a:prstGeom>
          <a:solidFill>
            <a:srgbClr val="F2F8FD"/>
          </a:solidFill>
          <a:ln/>
        </p:spPr>
        <p:txBody>
          <a:bodyPr wrap="square" lIns="127000" tIns="127000" rIns="127000" bIns="127000" rtlCol="0" anchor="t"/>
          <a:lstStyle/>
          <a:p>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“an open source project that has gone </a:t>
            </a:r>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unmaintained</a:t>
            </a:r>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 since being acquired by Amazon in 2018”</a:t>
            </a:r>
            <a:endParaRPr lang="en-US" sz="1400" dirty="0"/>
          </a:p>
          <a:p>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a:t>
            </a:r>
            <a:endParaRPr lang="en-US" sz="1400" dirty="0"/>
          </a:p>
          <a:p>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unable to scale</a:t>
            </a:r>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 to meet the growth targets of Wikidata”</a:t>
            </a:r>
            <a:endParaRPr lang="en-US" sz="1400" dirty="0"/>
          </a:p>
          <a:p>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“the cause of much of the </a:t>
            </a:r>
            <a:endParaRPr lang="en-US" sz="1400" dirty="0"/>
          </a:p>
          <a:p>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volatility</a:t>
            </a:r>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 of the Wikidata Query Service”</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58368" y="3310128"/>
          <a:ext cx="10881360" cy="914400"/>
        </p:xfrm>
        <a:graphic>
          <a:graphicData uri="http://schemas.openxmlformats.org/drawingml/2006/table">
            <a:tbl>
              <a:tblPr/>
              <a:tblGrid>
                <a:gridCol w="2743200"/>
                <a:gridCol w="8138160"/>
              </a:tblGrid>
              <a:tr h="0">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when</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what</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Oct 2025 – Mar 2026</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benchmarking and production-replay testing of the candidates</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November 2025</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triple store evaluation report published</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April 2026</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contractor engaged for documentation and query rewriting</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00000"/>
                          </a:solidFill>
                          <a:latin typeface="Roboto" pitchFamily="34" charset="0"/>
                          <a:ea typeface="Roboto" pitchFamily="34" charset="-122"/>
                          <a:cs typeface="Roboto" pitchFamily="34" charset="-120"/>
                        </a:rPr>
                        <a:t>17–23 Oct 2026</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00" b="1" dirty="0">
                          <a:solidFill>
                            <a:srgbClr val="000000"/>
                          </a:solidFill>
                          <a:latin typeface="Roboto" pitchFamily="34" charset="0"/>
                          <a:ea typeface="Roboto" pitchFamily="34" charset="-122"/>
                          <a:cs typeface="Roboto" pitchFamily="34" charset="-120"/>
                        </a:rPr>
                        <a:t>Query Service Days: the migration from Blazegraph to QLever</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bl>
          </a:graphicData>
        </a:graphic>
      </p:graphicFrame>
      <p:sp>
        <p:nvSpPr>
          <p:cNvPr id="7" name="Text 3"/>
          <p:cNvSpPr txBox="1"/>
          <p:nvPr/>
        </p:nvSpPr>
        <p:spPr>
          <a:xfrm>
            <a:off x="658368" y="5504688"/>
            <a:ext cx="10881360" cy="548640"/>
          </a:xfrm>
          <a:prstGeom prst="rect">
            <a:avLst/>
          </a:prstGeom>
          <a:noFill/>
          <a:ln/>
        </p:spPr>
        <p:txBody>
          <a:bodyPr wrap="square" lIns="0" tIns="0" rIns="0" bIns="0" rtlCol="0" anchor="t"/>
          <a:lstStyle/>
          <a:p>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Our backend problem is </a:t>
            </a:r>
            <a:pPr algn="l" indent="0" marL="0">
              <a:lnSpc>
                <a:spcPct val="120000"/>
              </a:lnSpc>
              <a:buNone/>
            </a:pPr>
            <a:r>
              <a:rPr lang="en-US" sz="1400" b="1" dirty="0">
                <a:solidFill>
                  <a:srgbClr val="38761D"/>
                </a:solidFill>
                <a:latin typeface="Roboto" pitchFamily="34" charset="0"/>
                <a:ea typeface="Roboto" pitchFamily="34" charset="-122"/>
                <a:cs typeface="Roboto" pitchFamily="34" charset="-120"/>
              </a:rPr>
              <a:t>the same problem the largest public SPARQL endpoint is solving</a:t>
            </a:r>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 — which is why porting Passage to QLever is worth doing now.</a:t>
            </a:r>
            <a:endParaRPr lang="en-US" sz="14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A third-party evaluation</a:t>
            </a:r>
            <a:endParaRPr lang="en-US" sz="3200" dirty="0"/>
          </a:p>
        </p:txBody>
      </p:sp>
      <p:sp>
        <p:nvSpPr>
          <p:cNvPr id="4" name="Text 1"/>
          <p:cNvSpPr txBox="1"/>
          <p:nvPr/>
        </p:nvSpPr>
        <p:spPr>
          <a:xfrm>
            <a:off x="658368" y="1389888"/>
            <a:ext cx="10881360" cy="548640"/>
          </a:xfrm>
          <a:prstGeom prst="rect">
            <a:avLst/>
          </a:prstGeom>
          <a:noFill/>
          <a:ln/>
        </p:spPr>
        <p:txBody>
          <a:bodyPr wrap="square" lIns="0" tIns="0" rIns="0" bIns="0" rtlCol="0" anchor="t"/>
          <a:lstStyle/>
          <a:p>
            <a:pPr algn="l" indent="0" marL="0">
              <a:lnSpc>
                <a:spcPct val="120000"/>
              </a:lnSpc>
              <a:buNone/>
            </a:pPr>
            <a:r>
              <a:rPr lang="en-US" sz="1300" dirty="0">
                <a:solidFill>
                  <a:srgbClr val="000000"/>
                </a:solidFill>
                <a:latin typeface="Roboto" pitchFamily="34" charset="0"/>
                <a:ea typeface="Roboto" pitchFamily="34" charset="-122"/>
                <a:cs typeface="Roboto" pitchFamily="34" charset="-120"/>
              </a:rPr>
              <a:t>Patel-Schneider, Benchmarking SPARQL Engines on Wikidata Queries, Wikidata Workshop at ISWC 2025. Wikidata of October 2024 — ~20 billion triples, 192 GB of RAM, 10-minute timeout. Four benchmarks, not one:</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2029968"/>
          <a:ext cx="10881360" cy="914400"/>
        </p:xfrm>
        <a:graphic>
          <a:graphicData uri="http://schemas.openxmlformats.org/drawingml/2006/table">
            <a:tbl>
              <a:tblPr/>
              <a:tblGrid>
                <a:gridCol w="1920240"/>
                <a:gridCol w="5120640"/>
                <a:gridCol w="3840480"/>
              </a:tblGrid>
              <a:tr h="0">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benchmark</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what it is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whose queries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WDBench</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fragments of WDQS log queries that timed out, in 5 classes — 2,658 queries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Angles et al., ISWC 2022</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WGPB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850 queries, 17 graph patterns instantiated 50 times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Hogan et al., ISWC 2019</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WDQS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298 queries from Wikidata Query Service logs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00" b="1" dirty="0">
                          <a:solidFill>
                            <a:srgbClr val="FF0000"/>
                          </a:solidFill>
                          <a:latin typeface="Roboto" pitchFamily="34" charset="0"/>
                          <a:ea typeface="Roboto" pitchFamily="34" charset="-122"/>
                          <a:cs typeface="Roboto" pitchFamily="34" charset="-120"/>
                        </a:rPr>
                        <a:t>QLever’s own evaluation page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Scholia</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new, built from the Scholia interface’s query templates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the author</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bl>
          </a:graphicData>
        </a:graphic>
      </p:graphicFrame>
      <p:sp>
        <p:nvSpPr>
          <p:cNvPr id="6" name="Text 2"/>
          <p:cNvSpPr txBox="1"/>
          <p:nvPr/>
        </p:nvSpPr>
        <p:spPr>
          <a:xfrm>
            <a:off x="658368" y="3858768"/>
            <a:ext cx="10881360" cy="274320"/>
          </a:xfrm>
          <a:prstGeom prst="rect">
            <a:avLst/>
          </a:prstGeom>
          <a:noFill/>
          <a:ln/>
        </p:spPr>
        <p:txBody>
          <a:bodyPr wrap="square" lIns="0" tIns="0" rIns="0" bIns="0" rtlCol="0" anchor="t"/>
          <a:lstStyle/>
          <a:p>
            <a:pPr algn="l" indent="0" marL="0">
              <a:lnSpc>
                <a:spcPct val="120000"/>
              </a:lnSpc>
              <a:buNone/>
            </a:pPr>
            <a:r>
              <a:rPr lang="en-US" sz="1300" b="1" dirty="0">
                <a:solidFill>
                  <a:srgbClr val="000000"/>
                </a:solidFill>
                <a:latin typeface="Roboto" pitchFamily="34" charset="0"/>
                <a:ea typeface="Roboto" pitchFamily="34" charset="-122"/>
                <a:cs typeface="Roboto" pitchFamily="34" charset="-120"/>
              </a:rPr>
              <a:t>The WDQS benchmark, median and mean per query, in milliseconds:</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58368" y="4224528"/>
          <a:ext cx="10881360" cy="914400"/>
        </p:xfrm>
        <a:graphic>
          <a:graphicData uri="http://schemas.openxmlformats.org/drawingml/2006/table">
            <a:tbl>
              <a:tblPr/>
              <a:tblGrid>
                <a:gridCol w="3749040"/>
                <a:gridCol w="2377440"/>
                <a:gridCol w="2377440"/>
                <a:gridCol w="2377440"/>
              </a:tblGrid>
              <a:tr h="0">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engine</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200" b="1" dirty="0">
                          <a:solidFill>
                            <a:srgbClr val="FFFFFF"/>
                          </a:solidFill>
                          <a:latin typeface="Roboto" pitchFamily="34" charset="0"/>
                          <a:ea typeface="Roboto" pitchFamily="34" charset="-122"/>
                          <a:cs typeface="Roboto" pitchFamily="34" charset="-120"/>
                        </a:rPr>
                        <a:t>median</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200" b="1" dirty="0">
                          <a:solidFill>
                            <a:srgbClr val="FFFFFF"/>
                          </a:solidFill>
                          <a:latin typeface="Roboto" pitchFamily="34" charset="0"/>
                          <a:ea typeface="Roboto" pitchFamily="34" charset="-122"/>
                          <a:cs typeface="Roboto" pitchFamily="34" charset="-120"/>
                        </a:rPr>
                        <a:t>mean</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200" b="1" dirty="0">
                          <a:solidFill>
                            <a:srgbClr val="FFFFFF"/>
                          </a:solidFill>
                          <a:latin typeface="Roboto" pitchFamily="34" charset="0"/>
                          <a:ea typeface="Roboto" pitchFamily="34" charset="-122"/>
                          <a:cs typeface="Roboto" pitchFamily="34" charset="-120"/>
                        </a:rPr>
                        <a:t>timeouts</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200" b="1" dirty="0">
                          <a:solidFill>
                            <a:srgbClr val="000000"/>
                          </a:solidFill>
                          <a:latin typeface="Roboto" pitchFamily="34" charset="0"/>
                          <a:ea typeface="Roboto" pitchFamily="34" charset="-122"/>
                          <a:cs typeface="Roboto" pitchFamily="34" charset="-120"/>
                        </a:rPr>
                        <a:t>QLever</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b="1" dirty="0">
                          <a:solidFill>
                            <a:srgbClr val="38761D"/>
                          </a:solidFill>
                          <a:latin typeface="Roboto" pitchFamily="34" charset="0"/>
                          <a:ea typeface="Roboto" pitchFamily="34" charset="-122"/>
                          <a:cs typeface="Roboto" pitchFamily="34" charset="-120"/>
                        </a:rPr>
                        <a:t>103</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b="1" dirty="0">
                          <a:solidFill>
                            <a:srgbClr val="38761D"/>
                          </a:solidFill>
                          <a:latin typeface="Roboto" pitchFamily="34" charset="0"/>
                          <a:ea typeface="Roboto" pitchFamily="34" charset="-122"/>
                          <a:cs typeface="Roboto" pitchFamily="34" charset="-120"/>
                        </a:rPr>
                        <a:t>4,583</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b="1" dirty="0">
                          <a:solidFill>
                            <a:srgbClr val="38761D"/>
                          </a:solidFill>
                          <a:latin typeface="Roboto" pitchFamily="34" charset="0"/>
                          <a:ea typeface="Roboto" pitchFamily="34" charset="-122"/>
                          <a:cs typeface="Roboto" pitchFamily="34" charset="-120"/>
                        </a:rPr>
                        <a:t>0</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Virtuoso</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461</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14,645</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2</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Blazegraph</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511</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12,560</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1</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MillenniumDB</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588</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dirty="0">
                          <a:solidFill>
                            <a:srgbClr val="000000"/>
                          </a:solidFill>
                          <a:latin typeface="Roboto" pitchFamily="34" charset="0"/>
                          <a:ea typeface="Roboto" pitchFamily="34" charset="-122"/>
                          <a:cs typeface="Roboto" pitchFamily="34" charset="-120"/>
                        </a:rPr>
                        <a:t>103,271</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200" dirty="0">
                          <a:solidFill>
                            <a:srgbClr val="FF0000"/>
                          </a:solidFill>
                          <a:latin typeface="Roboto" pitchFamily="34" charset="0"/>
                          <a:ea typeface="Roboto" pitchFamily="34" charset="-122"/>
                          <a:cs typeface="Roboto" pitchFamily="34" charset="-120"/>
                        </a:rPr>
                        <a:t>43</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bl>
          </a:graphicData>
        </a:graphic>
      </p:graphicFrame>
      <p:sp>
        <p:nvSpPr>
          <p:cNvPr id="8" name="Text 3"/>
          <p:cNvSpPr txBox="1"/>
          <p:nvPr/>
        </p:nvSpPr>
        <p:spPr>
          <a:xfrm>
            <a:off x="658368" y="5916168"/>
            <a:ext cx="10881360" cy="365760"/>
          </a:xfrm>
          <a:prstGeom prst="rect">
            <a:avLst/>
          </a:prstGeom>
          <a:noFill/>
          <a:ln/>
        </p:spPr>
        <p:txBody>
          <a:bodyPr wrap="square" lIns="0" tIns="0" rIns="0" bIns="0" rtlCol="0" anchor="t"/>
          <a:lstStyle/>
          <a:p>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Loading the same dump: QLever </a:t>
            </a:r>
            <a:pPr algn="l" indent="0" marL="0">
              <a:lnSpc>
                <a:spcPct val="120000"/>
              </a:lnSpc>
              <a:buNone/>
            </a:pPr>
            <a:r>
              <a:rPr lang="en-US" sz="1400" b="1" dirty="0">
                <a:solidFill>
                  <a:srgbClr val="38761D"/>
                </a:solidFill>
                <a:latin typeface="Roboto" pitchFamily="34" charset="0"/>
                <a:ea typeface="Roboto" pitchFamily="34" charset="-122"/>
                <a:cs typeface="Roboto" pitchFamily="34" charset="-120"/>
              </a:rPr>
              <a:t>about 4.5 hours</a:t>
            </a:r>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 Blazegraph </a:t>
            </a:r>
            <a:pPr algn="l" indent="0" marL="0">
              <a:lnSpc>
                <a:spcPct val="120000"/>
              </a:lnSpc>
              <a:buNone/>
            </a:pPr>
            <a:r>
              <a:rPr lang="en-US" sz="1400" b="1" dirty="0">
                <a:solidFill>
                  <a:srgbClr val="FF0000"/>
                </a:solidFill>
                <a:latin typeface="Roboto" pitchFamily="34" charset="0"/>
                <a:ea typeface="Roboto" pitchFamily="34" charset="-122"/>
                <a:cs typeface="Roboto" pitchFamily="34" charset="-120"/>
              </a:rPr>
              <a:t>over 10 days — first attempt failed</a:t>
            </a:r>
            <a:pPr algn="l" indent="0" marL="0">
              <a:lnSpc>
                <a:spcPct val="120000"/>
              </a:lnSpc>
              <a:buNone/>
            </a:pPr>
            <a:r>
              <a:rPr lang="en-US" sz="1400" b="1" dirty="0">
                <a:solidFill>
                  <a:srgbClr val="000000"/>
                </a:solidFill>
                <a:latin typeface="Roboto" pitchFamily="34" charset="0"/>
                <a:ea typeface="Roboto" pitchFamily="34" charset="-122"/>
                <a:cs typeface="Roboto" pitchFamily="34" charset="-120"/>
              </a:rPr>
              <a:t>.</a:t>
            </a:r>
            <a:endParaRPr lang="en-US" sz="14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An index on disk</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389888"/>
          <a:ext cx="10881360" cy="914400"/>
        </p:xfrm>
        <a:graphic>
          <a:graphicData uri="http://schemas.openxmlformats.org/drawingml/2006/table">
            <a:tbl>
              <a:tblPr/>
              <a:tblGrid>
                <a:gridCol w="4206240"/>
                <a:gridCol w="5120640"/>
                <a:gridCol w="1554480"/>
              </a:tblGrid>
              <a:tr h="0">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file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what it holds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size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watdiv10m.index.pso</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compressed blocks, then the per-block metadata at the end of the same file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47.5 MB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watdiv10m.index.pso.meta</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per-relation metadata</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992 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 and the same for 5 other permutations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POS, SPO, SOP, OPS, OSP</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258 MB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watdiv10m.vocabulary.words.external</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the strings themselves, plus a file of offsets into them</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36 MB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watdiv10m.vocabulary.words.internal</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the words kept in RAM, plus their ids and codebooks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53 kB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watdiv10m.internal.index.pso / .pos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QLever’s own triples (patterns, graph names)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1.7 MB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watdiv10m.meta-data.json</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locale, prefixes, index-rows-per-block, format version</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809 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58368" y="5504688"/>
            <a:ext cx="10881360" cy="365760"/>
          </a:xfrm>
          <a:prstGeom prst="rect">
            <a:avLst/>
          </a:prstGeom>
          <a:noFill/>
          <a:ln/>
        </p:spPr>
        <p:txBody>
          <a:bodyPr wrap="square" lIns="0" tIns="0" rIns="0" bIns="0" rtlCol="0" anchor="t"/>
          <a:lstStyle/>
          <a:p>
            <a:pPr algn="l" indent="0" marL="0">
              <a:lnSpc>
                <a:spcPct val="120000"/>
              </a:lnSpc>
              <a:buNone/>
            </a:pPr>
            <a:r>
              <a:rPr lang="en-US" sz="1500" b="1" dirty="0">
                <a:solidFill>
                  <a:srgbClr val="000000"/>
                </a:solidFill>
                <a:latin typeface="Roboto" pitchFamily="34" charset="0"/>
                <a:ea typeface="Roboto" pitchFamily="34" charset="-122"/>
                <a:cs typeface="Roboto" pitchFamily="34" charset="-120"/>
              </a:rPr>
              <a:t>10,916,457 triples — </a:t>
            </a:r>
            <a:pPr algn="l" indent="0" marL="0">
              <a:lnSpc>
                <a:spcPct val="120000"/>
              </a:lnSpc>
              <a:buNone/>
            </a:pPr>
            <a:r>
              <a:rPr lang="en-US" sz="1500" b="1" dirty="0">
                <a:solidFill>
                  <a:srgbClr val="38761D"/>
                </a:solidFill>
                <a:latin typeface="Roboto" pitchFamily="34" charset="0"/>
                <a:ea typeface="Roboto" pitchFamily="34" charset="-122"/>
                <a:cs typeface="Roboto" pitchFamily="34" charset="-120"/>
              </a:rPr>
              <a:t>285 MB in total</a:t>
            </a:r>
            <a:pPr algn="l" indent="0" marL="0">
              <a:lnSpc>
                <a:spcPct val="120000"/>
              </a:lnSpc>
              <a:buNone/>
            </a:pPr>
            <a:r>
              <a:rPr lang="en-US" sz="1500" b="1" dirty="0">
                <a:solidFill>
                  <a:srgbClr val="000000"/>
                </a:solidFill>
                <a:latin typeface="Roboto" pitchFamily="34" charset="0"/>
                <a:ea typeface="Roboto" pitchFamily="34" charset="-122"/>
                <a:cs typeface="Roboto" pitchFamily="34" charset="-120"/>
              </a:rPr>
              <a:t>, against 1.7 GB for the same data in Blazegraph.</a:t>
            </a:r>
            <a:endParaRPr lang="en-US" sz="15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Before the triples: the Id</a:t>
            </a:r>
            <a:endParaRPr lang="en-US" sz="3200" dirty="0"/>
          </a:p>
        </p:txBody>
      </p:sp>
      <p:sp>
        <p:nvSpPr>
          <p:cNvPr id="4" name="Text 1"/>
          <p:cNvSpPr txBox="1"/>
          <p:nvPr/>
        </p:nvSpPr>
        <p:spPr>
          <a:xfrm>
            <a:off x="658368" y="1389888"/>
            <a:ext cx="10881360" cy="457200"/>
          </a:xfrm>
          <a:prstGeom prst="rect">
            <a:avLst/>
          </a:prstGeom>
          <a:noFill/>
          <a:ln/>
        </p:spPr>
        <p:txBody>
          <a:bodyPr wrap="square" lIns="0" tIns="0" rIns="0" bIns="0" rtlCol="0" anchor="t"/>
          <a:lstStyle/>
          <a:p>
            <a:pPr algn="l" indent="0" marL="0">
              <a:lnSpc>
                <a:spcPct val="120000"/>
              </a:lnSpc>
              <a:buNone/>
            </a:pPr>
            <a:r>
              <a:rPr lang="en-US" sz="1500" dirty="0">
                <a:solidFill>
                  <a:srgbClr val="000000"/>
                </a:solidFill>
                <a:latin typeface="Roboto" pitchFamily="34" charset="0"/>
                <a:ea typeface="Roboto" pitchFamily="34" charset="-122"/>
                <a:cs typeface="Roboto" pitchFamily="34" charset="-120"/>
              </a:rPr>
              <a:t>A permutation stores no strings, only 64-bit Ids: 4 bits of datatype and 60 bits of value — 13 datatypes defined of the 16 the tag allows.</a:t>
            </a:r>
            <a:endParaRPr lang="en-US" sz="1500" dirty="0"/>
          </a:p>
        </p:txBody>
      </p:sp>
      <p:sp>
        <p:nvSpPr>
          <p:cNvPr id="5" name="Shape 2"/>
          <p:cNvSpPr/>
          <p:nvPr/>
        </p:nvSpPr>
        <p:spPr>
          <a:xfrm>
            <a:off x="658368" y="1984248"/>
            <a:ext cx="2377440" cy="566928"/>
          </a:xfrm>
          <a:prstGeom prst="rect">
            <a:avLst/>
          </a:prstGeom>
          <a:solidFill>
            <a:srgbClr val="0084D1"/>
          </a:solidFill>
          <a:ln w="12700">
            <a:solidFill>
              <a:srgbClr val="000000"/>
            </a:solidFill>
            <a:prstDash val="solid"/>
          </a:ln>
        </p:spPr>
      </p:sp>
      <p:sp>
        <p:nvSpPr>
          <p:cNvPr id="6" name="Text 3"/>
          <p:cNvSpPr txBox="1"/>
          <p:nvPr/>
        </p:nvSpPr>
        <p:spPr>
          <a:xfrm>
            <a:off x="658368" y="1984248"/>
            <a:ext cx="23774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4 bits</a:t>
            </a:r>
            <a:endParaRPr lang="en-US" sz="1300" dirty="0"/>
          </a:p>
          <a:p>
            <a:pPr algn="ctr" indent="0" marL="0">
              <a:buNone/>
            </a:pPr>
            <a:r>
              <a:rPr lang="en-US" sz="1300" b="1" dirty="0">
                <a:solidFill>
                  <a:srgbClr val="FFFFFF"/>
                </a:solidFill>
                <a:latin typeface="Roboto" pitchFamily="34" charset="0"/>
                <a:ea typeface="Roboto" pitchFamily="34" charset="-122"/>
                <a:cs typeface="Roboto" pitchFamily="34" charset="-120"/>
              </a:rPr>
              <a:t>datatype</a:t>
            </a:r>
            <a:endParaRPr lang="en-US" sz="1300" dirty="0"/>
          </a:p>
        </p:txBody>
      </p:sp>
      <p:sp>
        <p:nvSpPr>
          <p:cNvPr id="7" name="Shape 4"/>
          <p:cNvSpPr/>
          <p:nvPr/>
        </p:nvSpPr>
        <p:spPr>
          <a:xfrm>
            <a:off x="3172968" y="1984248"/>
            <a:ext cx="8366760" cy="566928"/>
          </a:xfrm>
          <a:prstGeom prst="rect">
            <a:avLst/>
          </a:prstGeom>
          <a:solidFill>
            <a:srgbClr val="D9EAD3"/>
          </a:solidFill>
          <a:ln w="12700">
            <a:solidFill>
              <a:srgbClr val="000000"/>
            </a:solidFill>
            <a:prstDash val="solid"/>
          </a:ln>
        </p:spPr>
      </p:sp>
      <p:sp>
        <p:nvSpPr>
          <p:cNvPr id="8" name="Text 5"/>
          <p:cNvSpPr txBox="1"/>
          <p:nvPr/>
        </p:nvSpPr>
        <p:spPr>
          <a:xfrm>
            <a:off x="3172968" y="1984248"/>
            <a:ext cx="8366760" cy="566928"/>
          </a:xfrm>
          <a:prstGeom prst="rect">
            <a:avLst/>
          </a:prstGeom>
          <a:noFill/>
          <a:ln/>
        </p:spPr>
        <p:txBody>
          <a:bodyPr wrap="square" lIns="0" tIns="0" rIns="0" bIns="0" rtlCol="0" anchor="ctr"/>
          <a:lstStyle/>
          <a:p>
            <a:pPr algn="ctr" indent="0" marL="0">
              <a:buNone/>
            </a:pPr>
            <a:r>
              <a:rPr lang="en-US" sz="1300" b="1" dirty="0">
                <a:solidFill>
                  <a:srgbClr val="000000"/>
                </a:solidFill>
                <a:latin typeface="Roboto" pitchFamily="34" charset="0"/>
                <a:ea typeface="Roboto" pitchFamily="34" charset="-122"/>
                <a:cs typeface="Roboto" pitchFamily="34" charset="-120"/>
              </a:rPr>
              <a:t>60 bits — a value, or an index into the vocabulary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2761488"/>
          <a:ext cx="10881360" cy="914400"/>
        </p:xfrm>
        <a:graphic>
          <a:graphicData uri="http://schemas.openxmlformats.org/drawingml/2006/table">
            <a:tbl>
              <a:tblPr/>
              <a:tblGrid>
                <a:gridCol w="4389120"/>
                <a:gridCol w="6492240"/>
              </a:tblGrid>
              <a:tr h="0">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datatype</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where the value lives</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Int · Double · Bool · Date · GeoPoint</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38761D"/>
                          </a:solidFill>
                          <a:latin typeface="Roboto" pitchFamily="34" charset="0"/>
                          <a:ea typeface="Roboto" pitchFamily="34" charset="-122"/>
                          <a:cs typeface="Roboto" pitchFamily="34" charset="-120"/>
                        </a:rPr>
                        <a:t>inside the Id — no lookup, and they compare and sort directly</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EncodedVal</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IRIs under a configured prefix, encoded in the Id itself</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VocabIndex · LocalVocabIndex · BlankNodeIndex</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FF0000"/>
                          </a:solidFill>
                          <a:latin typeface="Roboto" pitchFamily="34" charset="0"/>
                          <a:ea typeface="Roboto" pitchFamily="34" charset="-122"/>
                          <a:cs typeface="Roboto" pitchFamily="34" charset="-120"/>
                        </a:rPr>
                        <a:t>an index into the vocabulary — a lookup</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658368" y="4270248"/>
            <a:ext cx="10881360" cy="640080"/>
          </a:xfrm>
          <a:prstGeom prst="rect">
            <a:avLst/>
          </a:prstGeom>
          <a:noFill/>
          <a:ln/>
        </p:spPr>
        <p:txBody>
          <a:bodyPr wrap="square" lIns="0" tIns="0" rIns="0" bIns="0" rtlCol="0" anchor="t"/>
          <a:lstStyle/>
          <a:p>
            <a:pPr algn="l" indent="0" marL="0">
              <a:lnSpc>
                <a:spcPct val="120000"/>
              </a:lnSpc>
              <a:buNone/>
            </a:pPr>
            <a:r>
              <a:rPr lang="en-US" sz="1300" dirty="0">
                <a:solidFill>
                  <a:srgbClr val="000000"/>
                </a:solidFill>
                <a:latin typeface="Roboto" pitchFamily="34" charset="0"/>
                <a:ea typeface="Roboto" pitchFamily="34" charset="-122"/>
                <a:cs typeface="Roboto" pitchFamily="34" charset="-120"/>
              </a:rPr>
              <a:t>The vocabulary is split: internal in RAM (53 kB here) and external on disk (27.7 MB of words plus 8.4 MB of offsets). Ids are assigned so that their order is the strings’ order, which is what makes a prefix or a range a contiguous scan.</a:t>
            </a:r>
            <a:endParaRPr lang="en-US" sz="1300" dirty="0"/>
          </a:p>
        </p:txBody>
      </p:sp>
      <p:sp>
        <p:nvSpPr>
          <p:cNvPr id="11" name="Text 7"/>
          <p:cNvSpPr txBox="1"/>
          <p:nvPr/>
        </p:nvSpPr>
        <p:spPr>
          <a:xfrm>
            <a:off x="658368" y="4910328"/>
            <a:ext cx="10881360" cy="365760"/>
          </a:xfrm>
          <a:prstGeom prst="rect">
            <a:avLst/>
          </a:prstGeom>
          <a:noFill/>
          <a:ln/>
        </p:spPr>
        <p:txBody>
          <a:bodyPr wrap="square" lIns="0" tIns="0" rIns="0" bIns="0" rtlCol="0" anchor="t"/>
          <a:lstStyle/>
          <a:p>
            <a:pPr algn="l" indent="0" marL="0">
              <a:lnSpc>
                <a:spcPct val="120000"/>
              </a:lnSpc>
              <a:buNone/>
            </a:pPr>
            <a:r>
              <a:rPr lang="en-US" sz="1100" dirty="0">
                <a:solidFill>
                  <a:srgbClr val="595959"/>
                </a:solidFill>
                <a:latin typeface="Roboto" pitchFamily="34" charset="0"/>
                <a:ea typeface="Roboto" pitchFamily="34" charset="-122"/>
                <a:cs typeface="Roboto" pitchFamily="34" charset="-120"/>
              </a:rPr>
              <a:t>Published: wiki, “Internal and external vocabulary” and “QLever’s IDs for IRIs and literals” — conceptual, dated 2022. The 4/60 split is from the source.</a:t>
            </a:r>
            <a:endParaRPr lang="en-US" sz="11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Id order is value order</a:t>
            </a:r>
            <a:endParaRPr lang="en-US" sz="3200" dirty="0"/>
          </a:p>
        </p:txBody>
      </p:sp>
      <p:sp>
        <p:nvSpPr>
          <p:cNvPr id="4" name="Text 1"/>
          <p:cNvSpPr txBox="1"/>
          <p:nvPr/>
        </p:nvSpPr>
        <p:spPr>
          <a:xfrm>
            <a:off x="658368" y="1389888"/>
            <a:ext cx="10881360" cy="457200"/>
          </a:xfrm>
          <a:prstGeom prst="rect">
            <a:avLst/>
          </a:prstGeom>
          <a:noFill/>
          <a:ln/>
        </p:spPr>
        <p:txBody>
          <a:bodyPr wrap="square" lIns="0" tIns="0" rIns="0" bIns="0" rtlCol="0" anchor="t"/>
          <a:lstStyle/>
          <a:p>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Permutations are sorted by a plain 64-bit integer compare on the Id. No string is ever compared. The order still comes out right, because the Ids are handed out that way.</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 y="1938528"/>
          <a:ext cx="5303520" cy="914400"/>
        </p:xfrm>
        <a:graphic>
          <a:graphicData uri="http://schemas.openxmlformats.org/drawingml/2006/table">
            <a:tbl>
              <a:tblPr/>
              <a:tblGrid>
                <a:gridCol w="2386584"/>
                <a:gridCol w="2916936"/>
              </a:tblGrid>
              <a:tr h="0">
                <a:tc gridSpan="2">
                  <a:txBody>
                    <a:bodyPr/>
                    <a:lstStyle/>
                    <a:p>
                      <a:pPr algn="ctr" indent="0" marL="0">
                        <a:buNone/>
                      </a:pPr>
                      <a:r>
                        <a:rPr lang="en-US" sz="950" b="1" dirty="0">
                          <a:solidFill>
                            <a:srgbClr val="FFFFFF"/>
                          </a:solidFill>
                          <a:latin typeface="Roboto Mono" pitchFamily="34" charset="0"/>
                          <a:ea typeface="Roboto Mono" pitchFamily="34" charset="-122"/>
                          <a:cs typeface="Roboto Mono" pitchFamily="34" charset="-120"/>
                        </a:rPr>
                        <a:t>Count the payload up, read the strings out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hMerge="1">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4000000000000000</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&lt;http://ex.org/H1&gt;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4000000000000001</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&lt;http://ex.org/H2&gt;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4000000000000002</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&lt;http://ex.org/H3&gt;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4000000000000003</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&lt;http://ex.org/Human&gt;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4000000000000004</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&lt;http://ex.org/O1&gt;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4000000000000006</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&lt;http://ex.org/O3&gt;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4000000000000007</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&lt;http://ex.org/occupation&gt;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4000000000000008</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&lt;http://ex.org/type&gt;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36208" y="1938528"/>
          <a:ext cx="5303520" cy="914400"/>
        </p:xfrm>
        <a:graphic>
          <a:graphicData uri="http://schemas.openxmlformats.org/drawingml/2006/table">
            <a:tbl>
              <a:tblPr/>
              <a:tblGrid>
                <a:gridCol w="2386584"/>
                <a:gridCol w="2916936"/>
              </a:tblGrid>
              <a:tr h="0">
                <a:tc gridSpan="2">
                  <a:txBody>
                    <a:bodyPr/>
                    <a:lstStyle/>
                    <a:p>
                      <a:pPr algn="ctr" indent="0" marL="0">
                        <a:buNone/>
                      </a:pPr>
                      <a:r>
                        <a:rPr lang="en-US" sz="950" b="1" dirty="0">
                          <a:solidFill>
                            <a:srgbClr val="FFFFFF"/>
                          </a:solidFill>
                          <a:latin typeface="Roboto Mono" pitchFamily="34" charset="0"/>
                          <a:ea typeface="Roboto Mono" pitchFamily="34" charset="-122"/>
                          <a:cs typeface="Roboto Mono" pitchFamily="34" charset="-120"/>
                        </a:rPr>
                        <a:t>The 4-bit tag decides the group</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hMerge="1">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1000000000000001</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"true"^^xsd:boolean</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38761D"/>
                          </a:solidFill>
                          <a:latin typeface="Roboto Mono" pitchFamily="34" charset="0"/>
                          <a:ea typeface="Roboto Mono" pitchFamily="34" charset="-122"/>
                          <a:cs typeface="Roboto Mono" pitchFamily="34" charset="-120"/>
                        </a:rPr>
                        <a:t>200000000000002A</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38761D"/>
                          </a:solidFill>
                          <a:latin typeface="Roboto Mono" pitchFamily="34" charset="0"/>
                          <a:ea typeface="Roboto Mono" pitchFamily="34" charset="-122"/>
                          <a:cs typeface="Roboto Mono" pitchFamily="34" charset="-120"/>
                        </a:rPr>
                        <a:t>"42"^^xsd:int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38761D"/>
                          </a:solidFill>
                          <a:latin typeface="Roboto Mono" pitchFamily="34" charset="0"/>
                          <a:ea typeface="Roboto Mono" pitchFamily="34" charset="-122"/>
                          <a:cs typeface="Roboto Mono" pitchFamily="34" charset="-120"/>
                        </a:rPr>
                        <a:t>20000000000003E8</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38761D"/>
                          </a:solidFill>
                          <a:latin typeface="Roboto Mono" pitchFamily="34" charset="0"/>
                          <a:ea typeface="Roboto Mono" pitchFamily="34" charset="-122"/>
                          <a:cs typeface="Roboto Mono" pitchFamily="34" charset="-120"/>
                        </a:rPr>
                        <a:t>"1000"^^xsd:int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3800000000000000</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"-0.0"^^xsd:decimal</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4000000000000000</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950" dirty="0">
                          <a:solidFill>
                            <a:srgbClr val="000000"/>
                          </a:solidFill>
                          <a:latin typeface="Roboto Mono" pitchFamily="34" charset="0"/>
                          <a:ea typeface="Roboto Mono" pitchFamily="34" charset="-122"/>
                          <a:cs typeface="Roboto Mono" pitchFamily="34" charset="-120"/>
                        </a:rPr>
                        <a:t>&lt;http://ex.org/H1&gt;</a:t>
                      </a:r>
                      <a:endParaRPr lang="en-US" sz="950" dirty="0">
                        <a:latin typeface="Roboto Mono" charset="0"/>
                        <a:ea typeface="Roboto Mono" charset="0"/>
                        <a:cs typeface="Roboto Mono" charset="0"/>
                      </a:endParaRPr>
                    </a:p>
                  </a:txBody>
                  <a:tcPr marL="38100" marR="38100" marT="38100" marB="381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7" name="Text 2"/>
          <p:cNvSpPr txBox="1"/>
          <p:nvPr/>
        </p:nvSpPr>
        <p:spPr>
          <a:xfrm>
            <a:off x="658368" y="4407408"/>
            <a:ext cx="10881360" cy="457200"/>
          </a:xfrm>
          <a:prstGeom prst="rect">
            <a:avLst/>
          </a:prstGeom>
          <a:noFill/>
          <a:ln/>
        </p:spPr>
        <p:txBody>
          <a:bodyPr wrap="square" lIns="0" tIns="0" rIns="0" bIns="0" rtlCol="0" anchor="t"/>
          <a:lstStyle/>
          <a:p>
            <a:pPr algn="l" indent="0" marL="0">
              <a:lnSpc>
                <a:spcPct val="120000"/>
              </a:lnSpc>
              <a:buNone/>
            </a:pPr>
            <a:r>
              <a:rPr lang="en-US" sz="1200" dirty="0">
                <a:solidFill>
                  <a:srgbClr val="000000"/>
                </a:solidFill>
                <a:latin typeface="Roboto" pitchFamily="34" charset="0"/>
                <a:ea typeface="Roboto" pitchFamily="34" charset="-122"/>
                <a:cs typeface="Roboto" pitchFamily="34" charset="-120"/>
              </a:rPr>
              <a:t>Byte-wise lexicographic: H3 &lt; Human because ‘3’ &lt; ‘u’. For Int the payload is the number — 42 is …002A, and this index contains no integers at all.</a:t>
            </a:r>
            <a:endParaRPr lang="en-US" sz="1200" dirty="0"/>
          </a:p>
        </p:txBody>
      </p:sp>
      <p:sp>
        <p:nvSpPr>
          <p:cNvPr id="8" name="Text 3"/>
          <p:cNvSpPr txBox="1"/>
          <p:nvPr/>
        </p:nvSpPr>
        <p:spPr>
          <a:xfrm>
            <a:off x="658368" y="4956048"/>
            <a:ext cx="10881360" cy="640080"/>
          </a:xfrm>
          <a:prstGeom prst="rect">
            <a:avLst/>
          </a:prstGeom>
          <a:noFill/>
          <a:ln w="19050">
            <a:solidFill>
              <a:srgbClr val="FF0000"/>
            </a:solidFill>
          </a:ln>
        </p:spPr>
        <p:txBody>
          <a:bodyPr wrap="square" lIns="127000" tIns="127000" rIns="127000" bIns="127000" rtlCol="0" anchor="t"/>
          <a:lstStyle/>
          <a:p>
            <a:pPr algn="l" indent="0" marL="0">
              <a:lnSpc>
                <a:spcPct val="120000"/>
              </a:lnSpc>
              <a:buNone/>
            </a:pPr>
            <a:r>
              <a:rPr lang="en-US" sz="1300" dirty="0">
                <a:solidFill>
                  <a:srgbClr val="000000"/>
                </a:solidFill>
                <a:latin typeface="Roboto" pitchFamily="34" charset="0"/>
                <a:ea typeface="Roboto" pitchFamily="34" charset="-122"/>
                <a:cs typeface="Roboto" pitchFamily="34" charset="-120"/>
              </a:rPr>
              <a:t>Largest Int Id 2FFFFFFFFFFFFFFF &lt; smallest IRI Id 4000000000000000 — so every number sorts before every IRI. That is the storage order, not the SPARQL order.</a:t>
            </a:r>
            <a:endParaRPr lang="en-US" sz="13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Six sorted permutations</a:t>
            </a:r>
            <a:endParaRPr lang="en-US" sz="3200" dirty="0"/>
          </a:p>
        </p:txBody>
      </p:sp>
      <p:sp>
        <p:nvSpPr>
          <p:cNvPr id="4" name="Text 1"/>
          <p:cNvSpPr txBox="1"/>
          <p:nvPr/>
        </p:nvSpPr>
        <p:spPr>
          <a:xfrm>
            <a:off x="658368" y="1389888"/>
            <a:ext cx="10881360" cy="457200"/>
          </a:xfrm>
          <a:prstGeom prst="rect">
            <a:avLst/>
          </a:prstGeom>
          <a:noFill/>
          <a:ln/>
        </p:spPr>
        <p:txBody>
          <a:bodyPr wrap="square" lIns="0" tIns="0" rIns="0" bIns="0" rtlCol="0" anchor="t"/>
          <a:lstStyle/>
          <a:p>
            <a:pPr algn="l" indent="0" marL="0">
              <a:lnSpc>
                <a:spcPct val="120000"/>
              </a:lnSpc>
              <a:buNone/>
            </a:pPr>
            <a:r>
              <a:rPr lang="en-US" sz="1500" dirty="0">
                <a:solidFill>
                  <a:srgbClr val="000000"/>
                </a:solidFill>
                <a:latin typeface="Roboto" pitchFamily="34" charset="0"/>
                <a:ea typeface="Roboto" pitchFamily="34" charset="-122"/>
                <a:cs typeface="Roboto" pitchFamily="34" charset="-120"/>
              </a:rPr>
              <a:t>Every triple is stored six times, each time sorted by a different key order. The first column is called col0, and its distinct values are the relations.</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 y="2029968"/>
          <a:ext cx="10881360" cy="914400"/>
        </p:xfrm>
        <a:graphic>
          <a:graphicData uri="http://schemas.openxmlformats.org/drawingml/2006/table">
            <a:tbl>
              <a:tblPr/>
              <a:tblGrid>
                <a:gridCol w="2377440"/>
                <a:gridCol w="2834640"/>
                <a:gridCol w="3291840"/>
                <a:gridCol w="2377440"/>
              </a:tblGrid>
              <a:tr h="0">
                <a:tc>
                  <a:txBody>
                    <a:bodyPr/>
                    <a:lstStyle/>
                    <a:p>
                      <a:pPr algn="l" indent="0" marL="0">
                        <a:buNone/>
                      </a:pPr>
                      <a:r>
                        <a:rPr lang="en-US" sz="1300" b="1" dirty="0">
                          <a:solidFill>
                            <a:srgbClr val="FFFFFF"/>
                          </a:solidFill>
                          <a:latin typeface="Roboto" pitchFamily="34" charset="0"/>
                          <a:ea typeface="Roboto" pitchFamily="34" charset="-122"/>
                          <a:cs typeface="Roboto" pitchFamily="34" charset="-120"/>
                        </a:rPr>
                        <a:t>permutation</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300" b="1" dirty="0">
                          <a:solidFill>
                            <a:srgbClr val="FFFFFF"/>
                          </a:solidFill>
                          <a:latin typeface="Roboto" pitchFamily="34" charset="0"/>
                          <a:ea typeface="Roboto" pitchFamily="34" charset="-122"/>
                          <a:cs typeface="Roboto" pitchFamily="34" charset="-120"/>
                        </a:rPr>
                        <a:t>answers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300" b="1" dirty="0">
                          <a:solidFill>
                            <a:srgbClr val="FFFFFF"/>
                          </a:solidFill>
                          <a:latin typeface="Roboto" pitchFamily="34" charset="0"/>
                          <a:ea typeface="Roboto" pitchFamily="34" charset="-122"/>
                          <a:cs typeface="Roboto" pitchFamily="34" charset="-120"/>
                        </a:rPr>
                        <a:t>relations (distinct col0)</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300" b="1" dirty="0">
                          <a:solidFill>
                            <a:srgbClr val="FFFFFF"/>
                          </a:solidFill>
                          <a:latin typeface="Roboto" pitchFamily="34" charset="0"/>
                          <a:ea typeface="Roboto" pitchFamily="34" charset="-122"/>
                          <a:cs typeface="Roboto" pitchFamily="34" charset="-120"/>
                        </a:rPr>
                        <a:t>blocks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300" b="1" dirty="0">
                          <a:solidFill>
                            <a:srgbClr val="000000"/>
                          </a:solidFill>
                          <a:latin typeface="Roboto" pitchFamily="34" charset="0"/>
                          <a:ea typeface="Roboto" pitchFamily="34" charset="-122"/>
                          <a:cs typeface="Roboto" pitchFamily="34" charset="-120"/>
                        </a:rPr>
                        <a:t>PSO · POS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bound predicate</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86</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366</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00000"/>
                          </a:solidFill>
                          <a:latin typeface="Roboto" pitchFamily="34" charset="0"/>
                          <a:ea typeface="Roboto" pitchFamily="34" charset="-122"/>
                          <a:cs typeface="Roboto" pitchFamily="34" charset="-120"/>
                        </a:rPr>
                        <a:t>SPO · SOP</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bound subject</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521,585</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234</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300" b="1" dirty="0">
                          <a:solidFill>
                            <a:srgbClr val="000000"/>
                          </a:solidFill>
                          <a:latin typeface="Roboto" pitchFamily="34" charset="0"/>
                          <a:ea typeface="Roboto" pitchFamily="34" charset="-122"/>
                          <a:cs typeface="Roboto" pitchFamily="34" charset="-120"/>
                        </a:rPr>
                        <a:t>OPS · OSP</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bound object</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1,005,832</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249</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58368" y="3767328"/>
            <a:ext cx="10881360" cy="640080"/>
          </a:xfrm>
          <a:prstGeom prst="rect">
            <a:avLst/>
          </a:prstGeom>
          <a:noFill/>
          <a:ln/>
        </p:spPr>
        <p:txBody>
          <a:bodyPr wrap="square" lIns="0" tIns="0" rIns="0" bIns="0" rtlCol="0" anchor="t"/>
          <a:lstStyle/>
          <a:p>
            <a:pPr algn="l" indent="0" marL="0">
              <a:lnSpc>
                <a:spcPct val="120000"/>
              </a:lnSpc>
              <a:buNone/>
            </a:pPr>
            <a:r>
              <a:rPr lang="en-US" sz="1500" dirty="0">
                <a:solidFill>
                  <a:srgbClr val="000000"/>
                </a:solidFill>
                <a:latin typeface="Roboto" pitchFamily="34" charset="0"/>
                <a:ea typeface="Roboto" pitchFamily="34" charset="-122"/>
                <a:cs typeface="Roboto" pitchFamily="34" charset="-120"/>
              </a:rPr>
              <a:t>A scan picks the permutation whose key order puts the bound components first. The matching triples are then a </a:t>
            </a:r>
            <a:pPr algn="l" indent="0" marL="0">
              <a:lnSpc>
                <a:spcPct val="120000"/>
              </a:lnSpc>
              <a:buNone/>
            </a:pPr>
            <a:r>
              <a:rPr lang="en-US" sz="1500" b="1" dirty="0">
                <a:solidFill>
                  <a:srgbClr val="38761D"/>
                </a:solidFill>
                <a:latin typeface="Roboto" pitchFamily="34" charset="0"/>
                <a:ea typeface="Roboto" pitchFamily="34" charset="-122"/>
                <a:cs typeface="Roboto" pitchFamily="34" charset="-120"/>
              </a:rPr>
              <a:t>contiguous range</a:t>
            </a:r>
            <a:pPr algn="l" indent="0" marL="0">
              <a:lnSpc>
                <a:spcPct val="120000"/>
              </a:lnSpc>
              <a:buNone/>
            </a:pPr>
            <a:r>
              <a:rPr lang="en-US" sz="1500" dirty="0">
                <a:solidFill>
                  <a:srgbClr val="000000"/>
                </a:solidFill>
                <a:latin typeface="Roboto" pitchFamily="34" charset="0"/>
                <a:ea typeface="Roboto" pitchFamily="34" charset="-122"/>
                <a:cs typeface="Roboto" pitchFamily="34" charset="-120"/>
              </a:rPr>
              <a:t> — which is what makes an offset meaningful at all.</a:t>
            </a:r>
            <a:endParaRPr lang="en-US" sz="1500" dirty="0"/>
          </a:p>
        </p:txBody>
      </p:sp>
      <p:sp>
        <p:nvSpPr>
          <p:cNvPr id="7" name="Text 3"/>
          <p:cNvSpPr txBox="1"/>
          <p:nvPr/>
        </p:nvSpPr>
        <p:spPr>
          <a:xfrm>
            <a:off x="658368" y="4498848"/>
            <a:ext cx="10881360" cy="365760"/>
          </a:xfrm>
          <a:prstGeom prst="rect">
            <a:avLst/>
          </a:prstGeom>
          <a:noFill/>
          <a:ln/>
        </p:spPr>
        <p:txBody>
          <a:bodyPr wrap="square" lIns="0" tIns="0" rIns="0" bIns="0" rtlCol="0" anchor="t"/>
          <a:lstStyle/>
          <a:p>
            <a:pPr algn="l" indent="0" marL="0">
              <a:lnSpc>
                <a:spcPct val="120000"/>
              </a:lnSpc>
              <a:buNone/>
            </a:pPr>
            <a:r>
              <a:rPr lang="en-US" sz="1200" dirty="0">
                <a:solidFill>
                  <a:srgbClr val="595959"/>
                </a:solidFill>
                <a:latin typeface="Roboto" pitchFamily="34" charset="0"/>
                <a:ea typeface="Roboto" pitchFamily="34" charset="-122"/>
                <a:cs typeface="Roboto" pitchFamily="34" charset="-120"/>
              </a:rPr>
              <a:t>This much is published: Bast et al., Knowledge Graphs, 2023, §1.5.2. Everything from here on is not.</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Where a block ends</a:t>
            </a:r>
            <a:endParaRPr lang="en-US" sz="3200" dirty="0"/>
          </a:p>
        </p:txBody>
      </p:sp>
      <p:sp>
        <p:nvSpPr>
          <p:cNvPr id="4" name="Text 1"/>
          <p:cNvSpPr txBox="1"/>
          <p:nvPr/>
        </p:nvSpPr>
        <p:spPr>
          <a:xfrm>
            <a:off x="658368" y="1389888"/>
            <a:ext cx="10881360" cy="457200"/>
          </a:xfrm>
          <a:prstGeom prst="rect">
            <a:avLst/>
          </a:prstGeom>
          <a:noFill/>
          <a:ln/>
        </p:spPr>
        <p:txBody>
          <a:bodyPr wrap="square" lIns="0" tIns="0" rIns="0" bIns="0" rtlCol="0" anchor="t"/>
          <a:lstStyle/>
          <a:p>
            <a:pPr algn="l" indent="0" marL="0">
              <a:lnSpc>
                <a:spcPct val="120000"/>
              </a:lnSpc>
              <a:buNone/>
            </a:pPr>
            <a:r>
              <a:rPr lang="en-US" sz="1500" dirty="0">
                <a:solidFill>
                  <a:srgbClr val="000000"/>
                </a:solidFill>
                <a:latin typeface="Roboto" pitchFamily="34" charset="0"/>
                <a:ea typeface="Roboto" pitchFamily="34" charset="-122"/>
                <a:cs typeface="Roboto" pitchFamily="34" charset="-120"/>
              </a:rPr>
              <a:t>index-rows-per-block = 31,250 is a </a:t>
            </a:r>
            <a:pPr algn="l" indent="0" marL="0">
              <a:lnSpc>
                <a:spcPct val="120000"/>
              </a:lnSpc>
              <a:buNone/>
            </a:pPr>
            <a:r>
              <a:rPr lang="en-US" sz="1500" b="1" dirty="0">
                <a:solidFill>
                  <a:srgbClr val="FF0000"/>
                </a:solidFill>
                <a:latin typeface="Roboto" pitchFamily="34" charset="0"/>
                <a:ea typeface="Roboto" pitchFamily="34" charset="-122"/>
                <a:cs typeface="Roboto" pitchFamily="34" charset="-120"/>
              </a:rPr>
              <a:t>soft</a:t>
            </a:r>
            <a:pPr algn="l" indent="0" marL="0">
              <a:lnSpc>
                <a:spcPct val="120000"/>
              </a:lnSpc>
              <a:buNone/>
            </a:pPr>
            <a:r>
              <a:rPr lang="en-US" sz="1500" dirty="0">
                <a:solidFill>
                  <a:srgbClr val="000000"/>
                </a:solidFill>
                <a:latin typeface="Roboto" pitchFamily="34" charset="0"/>
                <a:ea typeface="Roboto" pitchFamily="34" charset="-122"/>
                <a:cs typeface="Roboto" pitchFamily="34" charset="-120"/>
              </a:rPr>
              <a:t> target. Three rules bend it, and they explain the counts on the previous slide.</a:t>
            </a:r>
            <a:endParaRPr lang="en-US" sz="1500" dirty="0"/>
          </a:p>
        </p:txBody>
      </p:sp>
      <p:sp>
        <p:nvSpPr>
          <p:cNvPr id="5" name="Text 2"/>
          <p:cNvSpPr txBox="1"/>
          <p:nvPr/>
        </p:nvSpPr>
        <p:spPr>
          <a:xfrm>
            <a:off x="658368" y="2029968"/>
            <a:ext cx="10881360" cy="3291840"/>
          </a:xfrm>
          <a:prstGeom prst="rect">
            <a:avLst/>
          </a:prstGeom>
          <a:noFill/>
          <a:ln/>
        </p:spPr>
        <p:txBody>
          <a:bodyPr wrap="square" lIns="0" tIns="0" rIns="0" bIns="0" rtlCol="0" anchor="t"/>
          <a:lstStyle/>
          <a:p>
            <a:pPr marL="342900" indent="-342900">
              <a:spcAft>
                <a:spcPts val="800"/>
              </a:spcAft>
              <a:buSzPct val="100000"/>
              <a:buChar char="•"/>
            </a:pPr>
            <a:r>
              <a:rPr lang="en-US" sz="1700" b="1" dirty="0">
                <a:solidFill>
                  <a:srgbClr val="000000"/>
                </a:solidFill>
                <a:latin typeface="Roboto" pitchFamily="34" charset="0"/>
                <a:ea typeface="Roboto" pitchFamily="34" charset="-122"/>
                <a:cs typeface="Roboto" pitchFamily="34" charset="-120"/>
              </a:rPr>
              <a:t>A large relation starts a new block</a:t>
            </a:r>
            <a:endParaRPr lang="en-US" sz="1700" dirty="0"/>
          </a:p>
          <a:p>
            <a:pPr lvl="1" marL="685800" indent="-342900">
              <a:spcAft>
                <a:spcPts val="400"/>
              </a:spcAft>
              <a:buSzPct val="100000"/>
              <a:buChar char="•"/>
            </a:pPr>
            <a:r>
              <a:rPr lang="en-US" sz="1400" dirty="0">
                <a:solidFill>
                  <a:srgbClr val="000000"/>
                </a:solidFill>
                <a:latin typeface="Roboto" pitchFamily="34" charset="0"/>
                <a:ea typeface="Roboto" pitchFamily="34" charset="-122"/>
                <a:cs typeface="Roboto" pitchFamily="34" charset="-120"/>
              </a:rPr>
              <a:t>PSO: 349 blocks of 31,250 rows, plus up to 85 relation boundaries → 366</a:t>
            </a:r>
            <a:endParaRPr lang="en-US" sz="1700" dirty="0"/>
          </a:p>
          <a:p>
            <a:pPr marL="342900" indent="-342900">
              <a:spcAft>
                <a:spcPts val="800"/>
              </a:spcAft>
              <a:buSzPct val="100000"/>
              <a:buChar char="•"/>
            </a:pPr>
            <a:r>
              <a:rPr lang="en-US" sz="1700" b="1" dirty="0">
                <a:solidFill>
                  <a:srgbClr val="000000"/>
                </a:solidFill>
                <a:latin typeface="Roboto" pitchFamily="34" charset="0"/>
                <a:ea typeface="Roboto" pitchFamily="34" charset="-122"/>
                <a:cs typeface="Roboto" pitchFamily="34" charset="-120"/>
              </a:rPr>
              <a:t>Small relations share a block, filled to 1.5 × the target = 46,875 rows</a:t>
            </a:r>
            <a:endParaRPr lang="en-US" sz="1700" dirty="0"/>
          </a:p>
          <a:p>
            <a:pPr lvl="1" marL="685800" indent="-342900">
              <a:spcAft>
                <a:spcPts val="400"/>
              </a:spcAft>
              <a:buSzPct val="100000"/>
              <a:buChar char="•"/>
            </a:pPr>
            <a:r>
              <a:rPr lang="en-US" sz="1400" dirty="0">
                <a:solidFill>
                  <a:srgbClr val="000000"/>
                </a:solidFill>
                <a:latin typeface="Roboto" pitchFamily="34" charset="0"/>
                <a:ea typeface="Roboto" pitchFamily="34" charset="-122"/>
                <a:cs typeface="Roboto" pitchFamily="34" charset="-120"/>
              </a:rPr>
              <a:t>SPO: 10,916,457 ÷ 46,875 = 233 → 234, for 521,585 relations</a:t>
            </a:r>
            <a:endParaRPr lang="en-US" sz="1700" dirty="0"/>
          </a:p>
          <a:p>
            <a:pPr lvl="1" marL="685800" indent="-342900">
              <a:spcAft>
                <a:spcPts val="400"/>
              </a:spcAft>
              <a:buSzPct val="100000"/>
              <a:buChar char="•"/>
            </a:pPr>
            <a:r>
              <a:rPr lang="en-US" sz="1400" dirty="0">
                <a:solidFill>
                  <a:srgbClr val="000000"/>
                </a:solidFill>
                <a:latin typeface="Roboto" pitchFamily="34" charset="0"/>
                <a:ea typeface="Roboto" pitchFamily="34" charset="-122"/>
                <a:cs typeface="Roboto" pitchFamily="34" charset="-120"/>
              </a:rPr>
              <a:t>each is found by offsetInBlock_, so it needs no entry of its own</a:t>
            </a:r>
            <a:endParaRPr lang="en-US" sz="1700" dirty="0"/>
          </a:p>
          <a:p>
            <a:pPr marL="342900" indent="-342900">
              <a:spcAft>
                <a:spcPts val="800"/>
              </a:spcAft>
              <a:buSzPct val="100000"/>
              <a:buChar char="•"/>
            </a:pPr>
            <a:r>
              <a:rPr lang="en-US" sz="1700" b="1" dirty="0">
                <a:solidFill>
                  <a:srgbClr val="000000"/>
                </a:solidFill>
                <a:latin typeface="Roboto" pitchFamily="34" charset="0"/>
                <a:ea typeface="Roboto" pitchFamily="34" charset="-122"/>
                <a:cs typeface="Roboto" pitchFamily="34" charset="-120"/>
              </a:rPr>
              <a:t>A block grows past the target rather than split triples equal but for their graph</a:t>
            </a:r>
            <a:endParaRPr lang="en-US" sz="17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What is actually in a block</a:t>
            </a:r>
            <a:endParaRPr lang="en-US" sz="3200" dirty="0"/>
          </a:p>
        </p:txBody>
      </p:sp>
      <p:sp>
        <p:nvSpPr>
          <p:cNvPr id="4" name="Text 1"/>
          <p:cNvSpPr txBox="1"/>
          <p:nvPr/>
        </p:nvSpPr>
        <p:spPr>
          <a:xfrm>
            <a:off x="658368" y="1389888"/>
            <a:ext cx="10881360" cy="365760"/>
          </a:xfrm>
          <a:prstGeom prst="rect">
            <a:avLst/>
          </a:prstGeom>
          <a:noFill/>
          <a:ln/>
        </p:spPr>
        <p:txBody>
          <a:bodyPr wrap="square" lIns="0" tIns="0" rIns="0" bIns="0" rtlCol="0" anchor="t"/>
          <a:lstStyle/>
          <a:p>
            <a:pPr algn="l" indent="0" marL="0">
              <a:lnSpc>
                <a:spcPct val="120000"/>
              </a:lnSpc>
              <a:buNone/>
            </a:pPr>
            <a:r>
              <a:rPr lang="en-US" sz="1400" dirty="0">
                <a:solidFill>
                  <a:srgbClr val="000000"/>
                </a:solidFill>
                <a:latin typeface="Roboto" pitchFamily="34" charset="0"/>
                <a:ea typeface="Roboto" pitchFamily="34" charset="-122"/>
                <a:cs typeface="Roboto" pitchFamily="34" charset="-120"/>
              </a:rPr>
              <a:t>The first rows of a PSO block, as stored — four columns of 64-bit Ids, each column its own Zstd stream:</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847088"/>
          <a:ext cx="10881360" cy="914400"/>
        </p:xfrm>
        <a:graphic>
          <a:graphicData uri="http://schemas.openxmlformats.org/drawingml/2006/table">
            <a:tbl>
              <a:tblPr/>
              <a:tblGrid>
                <a:gridCol w="1005840"/>
                <a:gridCol w="3291840"/>
                <a:gridCol w="3291840"/>
                <a:gridCol w="3291840"/>
              </a:tblGrid>
              <a:tr h="0">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row</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col0 (P)</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col1 (S)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col2 (O)</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0</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8761D"/>
                          </a:solidFill>
                          <a:latin typeface="Roboto Mono" pitchFamily="34" charset="0"/>
                          <a:ea typeface="Roboto Mono" pitchFamily="34" charset="-122"/>
                          <a:cs typeface="Roboto Mono" pitchFamily="34" charset="-120"/>
                        </a:rPr>
                        <a:t>4000000000100FF0</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84D1"/>
                          </a:solidFill>
                          <a:latin typeface="Roboto Mono" pitchFamily="34" charset="0"/>
                          <a:ea typeface="Roboto Mono" pitchFamily="34" charset="-122"/>
                          <a:cs typeface="Roboto Mono" pitchFamily="34" charset="-120"/>
                        </a:rPr>
                        <a:t>40000000000979A6</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400000000009DB51</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1</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38761D"/>
                          </a:solidFill>
                          <a:latin typeface="Roboto Mono" pitchFamily="34" charset="0"/>
                          <a:ea typeface="Roboto Mono" pitchFamily="34" charset="-122"/>
                          <a:cs typeface="Roboto Mono" pitchFamily="34" charset="-120"/>
                        </a:rPr>
                        <a:t>4000000000100FF0</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84D1"/>
                          </a:solidFill>
                          <a:latin typeface="Roboto Mono" pitchFamily="34" charset="0"/>
                          <a:ea typeface="Roboto Mono" pitchFamily="34" charset="-122"/>
                          <a:cs typeface="Roboto Mono" pitchFamily="34" charset="-120"/>
                        </a:rPr>
                        <a:t>40000000000979A7</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400000000009DB51</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2</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8761D"/>
                          </a:solidFill>
                          <a:latin typeface="Roboto Mono" pitchFamily="34" charset="0"/>
                          <a:ea typeface="Roboto Mono" pitchFamily="34" charset="-122"/>
                          <a:cs typeface="Roboto Mono" pitchFamily="34" charset="-120"/>
                        </a:rPr>
                        <a:t>4000000000100FF0</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84D1"/>
                          </a:solidFill>
                          <a:latin typeface="Roboto Mono" pitchFamily="34" charset="0"/>
                          <a:ea typeface="Roboto Mono" pitchFamily="34" charset="-122"/>
                          <a:cs typeface="Roboto Mono" pitchFamily="34" charset="-120"/>
                        </a:rPr>
                        <a:t>40000000000979A8</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400000000009DB4F</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3</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38761D"/>
                          </a:solidFill>
                          <a:latin typeface="Roboto Mono" pitchFamily="34" charset="0"/>
                          <a:ea typeface="Roboto Mono" pitchFamily="34" charset="-122"/>
                          <a:cs typeface="Roboto Mono" pitchFamily="34" charset="-120"/>
                        </a:rPr>
                        <a:t>4000000000100FF0</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84D1"/>
                          </a:solidFill>
                          <a:latin typeface="Roboto Mono" pitchFamily="34" charset="0"/>
                          <a:ea typeface="Roboto Mono" pitchFamily="34" charset="-122"/>
                          <a:cs typeface="Roboto Mono" pitchFamily="34" charset="-120"/>
                        </a:rPr>
                        <a:t>40000000000979A9</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400000000009DB57</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4</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8761D"/>
                          </a:solidFill>
                          <a:latin typeface="Roboto Mono" pitchFamily="34" charset="0"/>
                          <a:ea typeface="Roboto Mono" pitchFamily="34" charset="-122"/>
                          <a:cs typeface="Roboto Mono" pitchFamily="34" charset="-120"/>
                        </a:rPr>
                        <a:t>4000000000100FF0</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84D1"/>
                          </a:solidFill>
                          <a:latin typeface="Roboto Mono" pitchFamily="34" charset="0"/>
                          <a:ea typeface="Roboto Mono" pitchFamily="34" charset="-122"/>
                          <a:cs typeface="Roboto Mono" pitchFamily="34" charset="-120"/>
                        </a:rPr>
                        <a:t>40000000000979AA</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400000000009DB56</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000000"/>
                          </a:solidFill>
                          <a:latin typeface="Roboto Mono" pitchFamily="34" charset="0"/>
                          <a:ea typeface="Roboto Mono" pitchFamily="34" charset="-122"/>
                          <a:cs typeface="Roboto Mono" pitchFamily="34" charset="-120"/>
                        </a:rPr>
                        <a:t>…</a:t>
                      </a:r>
                      <a:endParaRPr lang="en-US" sz="1100" dirty="0">
                        <a:latin typeface="Roboto Mono" charset="0"/>
                        <a:ea typeface="Roboto Mono" charset="0"/>
                        <a:cs typeface="Roboto Mon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b="1" dirty="0">
                          <a:solidFill>
                            <a:srgbClr val="38761D"/>
                          </a:solidFill>
                          <a:latin typeface="Roboto" pitchFamily="34" charset="0"/>
                          <a:ea typeface="Roboto" pitchFamily="34" charset="-122"/>
                          <a:cs typeface="Roboto" pitchFamily="34" charset="-120"/>
                        </a:rPr>
                        <a:t>identical, 31,250 times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b="1" dirty="0">
                          <a:solidFill>
                            <a:srgbClr val="0084D1"/>
                          </a:solidFill>
                          <a:latin typeface="Roboto" pitchFamily="34" charset="0"/>
                          <a:ea typeface="Roboto" pitchFamily="34" charset="-122"/>
                          <a:cs typeface="Roboto" pitchFamily="34" charset="-120"/>
                        </a:rPr>
                        <a:t>+1 every row</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~10 distinct values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bl>
          </a:graphicData>
        </a:graphic>
      </p:graphicFrame>
      <p:sp>
        <p:nvSpPr>
          <p:cNvPr id="6" name="Text 2"/>
          <p:cNvSpPr txBox="1"/>
          <p:nvPr/>
        </p:nvSpPr>
        <p:spPr>
          <a:xfrm>
            <a:off x="658368" y="4178808"/>
            <a:ext cx="10881360" cy="365760"/>
          </a:xfrm>
          <a:prstGeom prst="rect">
            <a:avLst/>
          </a:prstGeom>
          <a:noFill/>
          <a:ln/>
        </p:spPr>
        <p:txBody>
          <a:bodyPr wrap="square" lIns="0" tIns="0" rIns="0" bIns="0" rtlCol="0" anchor="t"/>
          <a:lstStyle/>
          <a:p>
            <a:pPr algn="l" indent="0" marL="0">
              <a:lnSpc>
                <a:spcPct val="120000"/>
              </a:lnSpc>
              <a:buNone/>
            </a:pPr>
            <a:r>
              <a:rPr lang="en-US" sz="1200" dirty="0">
                <a:solidFill>
                  <a:srgbClr val="000000"/>
                </a:solidFill>
                <a:latin typeface="Roboto" pitchFamily="34" charset="0"/>
                <a:ea typeface="Roboto" pitchFamily="34" charset="-122"/>
                <a:cs typeface="Roboto" pitchFamily="34" charset="-120"/>
              </a:rPr>
              <a:t>Row 0 spelled out: &lt;…#type&gt; · &lt;…wsdbm/Product0&gt; · &lt;…wsdbm/ProductCategory11&gt; — and a fourth column holds the graph.</a:t>
            </a:r>
            <a:endParaRPr lang="en-US" sz="1200" dirty="0"/>
          </a:p>
        </p:txBody>
      </p:sp>
      <p:sp>
        <p:nvSpPr>
          <p:cNvPr id="7" name="Text 3"/>
          <p:cNvSpPr txBox="1"/>
          <p:nvPr/>
        </p:nvSpPr>
        <p:spPr>
          <a:xfrm>
            <a:off x="658368" y="4590288"/>
            <a:ext cx="10881360" cy="274320"/>
          </a:xfrm>
          <a:prstGeom prst="rect">
            <a:avLst/>
          </a:prstGeom>
          <a:noFill/>
          <a:ln/>
        </p:spPr>
        <p:txBody>
          <a:bodyPr wrap="square" lIns="0" tIns="0" rIns="0" bIns="0" rtlCol="0" anchor="t"/>
          <a:lstStyle/>
          <a:p>
            <a:pPr algn="l" indent="0" marL="0">
              <a:lnSpc>
                <a:spcPct val="120000"/>
              </a:lnSpc>
              <a:buNone/>
            </a:pPr>
            <a:r>
              <a:rPr lang="en-US" sz="1300" b="1" dirty="0">
                <a:solidFill>
                  <a:srgbClr val="000000"/>
                </a:solidFill>
                <a:latin typeface="Roboto" pitchFamily="34" charset="0"/>
                <a:ea typeface="Roboto" pitchFamily="34" charset="-122"/>
                <a:cs typeface="Roboto" pitchFamily="34" charset="-120"/>
              </a:rPr>
              <a:t>That shape is why it compresses, and why the six permutations do not compress alike:</a:t>
            </a:r>
            <a:endParaRPr lang="en-US" sz="13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58368" y="4956048"/>
          <a:ext cx="10881360" cy="914400"/>
        </p:xfrm>
        <a:graphic>
          <a:graphicData uri="http://schemas.openxmlformats.org/drawingml/2006/table">
            <a:tbl>
              <a:tblPr/>
              <a:tblGrid>
                <a:gridCol w="2011680"/>
                <a:gridCol w="4023360"/>
                <a:gridCol w="3017520"/>
                <a:gridCol w="1828800"/>
              </a:tblGrid>
              <a:tr h="0">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permutation</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col0 is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on disk (333 MB raw)</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ratio</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SPO</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subject — 521,585 values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28.4 MB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38761D"/>
                          </a:solidFill>
                          <a:latin typeface="Roboto" pitchFamily="34" charset="0"/>
                          <a:ea typeface="Roboto" pitchFamily="34" charset="-122"/>
                          <a:cs typeface="Roboto" pitchFamily="34" charset="-120"/>
                        </a:rPr>
                        <a:t>11.7×</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PSO</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predicate — 86 values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45.3 MB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7.4×</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b="1" dirty="0">
                          <a:solidFill>
                            <a:srgbClr val="000000"/>
                          </a:solidFill>
                          <a:latin typeface="Roboto" pitchFamily="34" charset="0"/>
                          <a:ea typeface="Roboto" pitchFamily="34" charset="-122"/>
                          <a:cs typeface="Roboto" pitchFamily="34" charset="-120"/>
                        </a:rPr>
                        <a:t>OPS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object — 1,005,832 values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47.9 MB</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000000"/>
                          </a:solidFill>
                          <a:latin typeface="Roboto" pitchFamily="34" charset="0"/>
                          <a:ea typeface="Roboto" pitchFamily="34" charset="-122"/>
                          <a:cs typeface="Roboto" pitchFamily="34" charset="-120"/>
                        </a:rPr>
                        <a:t>6.9×</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What is held in RAM</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481328"/>
          <a:ext cx="5303520" cy="914400"/>
        </p:xfrm>
        <a:graphic>
          <a:graphicData uri="http://schemas.openxmlformats.org/drawingml/2006/table">
            <a:tbl>
              <a:tblPr/>
              <a:tblGrid>
                <a:gridCol w="2757830"/>
                <a:gridCol w="2545690"/>
              </a:tblGrid>
              <a:tr h="0">
                <a:tc gridSpan="2">
                  <a:txBody>
                    <a:bodyPr/>
                    <a:lstStyle/>
                    <a:p>
                      <a:pPr algn="ctr" indent="0" marL="0">
                        <a:buNone/>
                      </a:pPr>
                      <a:r>
                        <a:rPr lang="en-US" sz="1000" b="1" dirty="0">
                          <a:solidFill>
                            <a:srgbClr val="FFFFFF"/>
                          </a:solidFill>
                        </a:rPr>
                        <a:t>CompressedBlockMetadata — one per block</a:t>
                      </a:r>
                      <a:endParaRPr lang="en-US" sz="1000" dirty="0"/>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hMerge="1">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offsetsAndCompressedSize_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one per column</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b="1" dirty="0">
                          <a:solidFill>
                            <a:srgbClr val="FF0000"/>
                          </a:solidFill>
                          <a:latin typeface="Roboto Mono" pitchFamily="34" charset="0"/>
                          <a:ea typeface="Roboto Mono" pitchFamily="34" charset="-122"/>
                          <a:cs typeface="Roboto Mono" pitchFamily="34" charset="-120"/>
                        </a:rPr>
                        <a:t>numRows_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rows in this block</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firstTriple_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col0, col1, col2, graph</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lastTriple_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col0, col1, col2, graph</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graphInfo_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graphs present, if few</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containsDuplicates…</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…WithDifferentGraphs_</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blockIndex_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its place in the file</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36208" y="1481328"/>
          <a:ext cx="5303520" cy="914400"/>
        </p:xfrm>
        <a:graphic>
          <a:graphicData uri="http://schemas.openxmlformats.org/drawingml/2006/table">
            <a:tbl>
              <a:tblPr/>
              <a:tblGrid>
                <a:gridCol w="2757830"/>
                <a:gridCol w="2545690"/>
              </a:tblGrid>
              <a:tr h="0">
                <a:tc gridSpan="2">
                  <a:txBody>
                    <a:bodyPr/>
                    <a:lstStyle/>
                    <a:p>
                      <a:pPr algn="ctr" indent="0" marL="0">
                        <a:buNone/>
                      </a:pPr>
                      <a:r>
                        <a:rPr lang="en-US" sz="1000" b="1" dirty="0">
                          <a:solidFill>
                            <a:srgbClr val="FFFFFF"/>
                          </a:solidFill>
                        </a:rPr>
                        <a:t>CompressedRelationMetadata — one per relation</a:t>
                      </a:r>
                      <a:endParaRPr lang="en-US" sz="1000" dirty="0"/>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hMerge="1">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col0Id_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the relation itself</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numRows_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its size</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multiplicityCol1_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1.0 means functional</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multiplicityCol2_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used by the planner</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offsetInBlock_</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where it starts in a shared block</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indent="0" marL="0">
                        <a:buNone/>
                      </a:pPr>
                      <a:r>
                        <a:rPr lang="en-US" sz="1000" dirty="0">
                          <a:solidFill>
                            <a:srgbClr val="000000"/>
                          </a:solidFill>
                          <a:latin typeface="Roboto Mono" pitchFamily="34" charset="0"/>
                          <a:ea typeface="Roboto Mono" pitchFamily="34" charset="-122"/>
                          <a:cs typeface="Roboto Mono" pitchFamily="34" charset="-120"/>
                        </a:rPr>
                        <a:t>= uint64 max</a:t>
                      </a:r>
                      <a:endParaRPr lang="en-US" sz="1000" dirty="0">
                        <a:latin typeface="Roboto Mono" charset="0"/>
                        <a:ea typeface="Roboto Mono" charset="0"/>
                        <a:cs typeface="Roboto Mon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000000"/>
                          </a:solidFill>
                          <a:latin typeface="Roboto" pitchFamily="34" charset="0"/>
                          <a:ea typeface="Roboto" pitchFamily="34" charset="-122"/>
                          <a:cs typeface="Roboto" pitchFamily="34" charset="-120"/>
                        </a:rPr>
                        <a:t>means: it owns its blocks</a:t>
                      </a:r>
                      <a:endParaRPr lang="en-US" sz="1000" dirty="0">
                        <a:latin typeface="Roboto" charset="0"/>
                        <a:ea typeface="Roboto" charset="0"/>
                        <a:cs typeface="Roboto" charset="0"/>
                      </a:endParaRPr>
                    </a:p>
                  </a:txBody>
                  <a:tcPr marL="50800" marR="50800" marT="50800" marB="508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6" name="Text 1"/>
          <p:cNvSpPr txBox="1"/>
          <p:nvPr/>
        </p:nvSpPr>
        <p:spPr>
          <a:xfrm>
            <a:off x="658368" y="4681728"/>
            <a:ext cx="10881360" cy="365760"/>
          </a:xfrm>
          <a:prstGeom prst="rect">
            <a:avLst/>
          </a:prstGeom>
          <a:noFill/>
          <a:ln/>
        </p:spPr>
        <p:txBody>
          <a:bodyPr wrap="square" lIns="0" tIns="0" rIns="0" bIns="0" rtlCol="0" anchor="t"/>
          <a:lstStyle/>
          <a:p>
            <a:pPr algn="l" indent="0" marL="0">
              <a:lnSpc>
                <a:spcPct val="120000"/>
              </a:lnSpc>
              <a:buNone/>
            </a:pPr>
            <a:r>
              <a:rPr lang="en-US" sz="1500" b="1" dirty="0">
                <a:solidFill>
                  <a:srgbClr val="000000"/>
                </a:solidFill>
                <a:latin typeface="Roboto" pitchFamily="34" charset="0"/>
                <a:ea typeface="Roboto" pitchFamily="34" charset="-122"/>
                <a:cs typeface="Roboto" pitchFamily="34" charset="-120"/>
              </a:rPr>
              <a:t>Every block’s numRows_ is </a:t>
            </a:r>
            <a:pPr algn="l" indent="0" marL="0">
              <a:lnSpc>
                <a:spcPct val="120000"/>
              </a:lnSpc>
              <a:buNone/>
            </a:pPr>
            <a:r>
              <a:rPr lang="en-US" sz="1500" b="1" dirty="0">
                <a:solidFill>
                  <a:srgbClr val="38761D"/>
                </a:solidFill>
                <a:latin typeface="Roboto" pitchFamily="34" charset="0"/>
                <a:ea typeface="Roboto" pitchFamily="34" charset="-122"/>
                <a:cs typeface="Roboto" pitchFamily="34" charset="-120"/>
              </a:rPr>
              <a:t>exact and already in memory</a:t>
            </a:r>
            <a:pPr algn="l" indent="0" marL="0">
              <a:lnSpc>
                <a:spcPct val="120000"/>
              </a:lnSpc>
              <a:buNone/>
            </a:pPr>
            <a:r>
              <a:rPr lang="en-US" sz="1500" b="1" dirty="0">
                <a:solidFill>
                  <a:srgbClr val="000000"/>
                </a:solidFill>
                <a:latin typeface="Roboto" pitchFamily="34" charset="0"/>
                <a:ea typeface="Roboto" pitchFamily="34" charset="-122"/>
                <a:cs typeface="Roboto" pitchFamily="34" charset="-120"/>
              </a:rPr>
              <a:t> — the whole offset mechanism rests on that one field.</a:t>
            </a:r>
            <a:endParaRPr lang="en-US" sz="1500" dirty="0"/>
          </a:p>
        </p:txBody>
      </p:sp>
      <p:sp>
        <p:nvSpPr>
          <p:cNvPr id="7" name="Text 2"/>
          <p:cNvSpPr txBox="1"/>
          <p:nvPr/>
        </p:nvSpPr>
        <p:spPr>
          <a:xfrm>
            <a:off x="658368" y="5138928"/>
            <a:ext cx="10881360" cy="365760"/>
          </a:xfrm>
          <a:prstGeom prst="rect">
            <a:avLst/>
          </a:prstGeom>
          <a:noFill/>
          <a:ln/>
        </p:spPr>
        <p:txBody>
          <a:bodyPr wrap="square" lIns="0" tIns="0" rIns="0" bIns="0" rtlCol="0" anchor="t"/>
          <a:lstStyle/>
          <a:p>
            <a:pPr algn="l" indent="0" marL="0">
              <a:lnSpc>
                <a:spcPct val="120000"/>
              </a:lnSpc>
              <a:buNone/>
            </a:pPr>
            <a:r>
              <a:rPr lang="en-US" sz="1300" dirty="0">
                <a:solidFill>
                  <a:srgbClr val="000000"/>
                </a:solidFill>
                <a:latin typeface="Roboto" pitchFamily="34" charset="0"/>
                <a:ea typeface="Roboto" pitchFamily="34" charset="-122"/>
                <a:cs typeface="Roboto" pitchFamily="34" charset="-120"/>
              </a:rPr>
              <a:t>366 blocks for PSO, 234 for SPO, 249 for OPS: a few thousand records for a ten-million-triple index.</a:t>
            </a:r>
            <a:endParaRPr lang="en-US" sz="13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A scan, step by step</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389888"/>
          <a:ext cx="10881360" cy="914400"/>
        </p:xfrm>
        <a:graphic>
          <a:graphicData uri="http://schemas.openxmlformats.org/drawingml/2006/table">
            <a:tbl>
              <a:tblPr/>
              <a:tblGrid>
                <a:gridCol w="731520"/>
                <a:gridCol w="6492240"/>
                <a:gridCol w="3657600"/>
              </a:tblGrid>
              <a:tr h="0">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what happens</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200" b="1" dirty="0">
                          <a:solidFill>
                            <a:srgbClr val="FFFFFF"/>
                          </a:solidFill>
                          <a:latin typeface="Roboto" pitchFamily="34" charset="0"/>
                          <a:ea typeface="Roboto" pitchFamily="34" charset="-122"/>
                          <a:cs typeface="Roboto" pitchFamily="34" charset="-120"/>
                        </a:rPr>
                        <a:t>cost</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1</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Resolve each bound component to an Id in the vocabulary</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8761D"/>
                          </a:solidFill>
                          <a:latin typeface="Roboto" pitchFamily="34" charset="0"/>
                          <a:ea typeface="Roboto" pitchFamily="34" charset="-122"/>
                          <a:cs typeface="Roboto" pitchFamily="34" charset="-120"/>
                        </a:rPr>
                        <a:t>a lookup</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2</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Pick the permutation whose key order puts them first</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200" dirty="0">
                          <a:solidFill>
                            <a:srgbClr val="38761D"/>
                          </a:solidFill>
                          <a:latin typeface="Roboto" pitchFamily="34" charset="0"/>
                          <a:ea typeface="Roboto" pitchFamily="34" charset="-122"/>
                          <a:cs typeface="Roboto" pitchFamily="34" charset="-120"/>
                        </a:rPr>
                        <a:t>free</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3</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Binary-search firstTriple_ / lastTriple_ for the block range</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8761D"/>
                          </a:solidFill>
                          <a:latin typeface="Roboto" pitchFamily="34" charset="0"/>
                          <a:ea typeface="Roboto" pitchFamily="34" charset="-122"/>
                          <a:cs typeface="Roboto" pitchFamily="34" charset="-120"/>
                        </a:rPr>
                        <a:t>in RAM, no I/O</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00000"/>
                          </a:solidFill>
                          <a:latin typeface="Roboto" pitchFamily="34" charset="0"/>
                          <a:ea typeface="Roboto" pitchFamily="34" charset="-122"/>
                          <a:cs typeface="Roboto" pitchFamily="34" charset="-120"/>
                        </a:rPr>
                        <a:t>4</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00" b="1" dirty="0">
                          <a:solidFill>
                            <a:srgbClr val="000000"/>
                          </a:solidFill>
                          <a:latin typeface="Roboto" pitchFamily="34" charset="0"/>
                          <a:ea typeface="Roboto" pitchFamily="34" charset="-122"/>
                          <a:cs typeface="Roboto" pitchFamily="34" charset="-120"/>
                        </a:rPr>
                        <a:t>Walk numRows_ to the block holding the offset</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00" b="1" dirty="0">
                          <a:solidFill>
                            <a:srgbClr val="000000"/>
                          </a:solidFill>
                          <a:latin typeface="Roboto" pitchFamily="34" charset="0"/>
                          <a:ea typeface="Roboto" pitchFamily="34" charset="-122"/>
                          <a:cs typeface="Roboto" pitchFamily="34" charset="-120"/>
                        </a:rPr>
                        <a:t>in RAM — this is the patch</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5</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Read and decompress that block’s needed columns</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0000"/>
                          </a:solidFill>
                          <a:latin typeface="Roboto" pitchFamily="34" charset="0"/>
                          <a:ea typeface="Roboto" pitchFamily="34" charset="-122"/>
                          <a:cs typeface="Roboto" pitchFamily="34" charset="-120"/>
                        </a:rPr>
                        <a:t>one block, every time</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6</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Trim the first and last block, which may be partial</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a scan of the block</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7</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Roboto" pitchFamily="34" charset="0"/>
                          <a:ea typeface="Roboto" pitchFamily="34" charset="-122"/>
                          <a:cs typeface="Roboto" pitchFamily="34" charset="-120"/>
                        </a:rPr>
                        <a:t>Stream the blocks in between, ~20 in flight</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8761D"/>
                          </a:solidFill>
                          <a:latin typeface="Roboto" pitchFamily="34" charset="0"/>
                          <a:ea typeface="Roboto" pitchFamily="34" charset="-122"/>
                          <a:cs typeface="Roboto" pitchFamily="34" charset="-120"/>
                        </a:rPr>
                        <a:t>fast and parallel</a:t>
                      </a:r>
                      <a:endParaRPr lang="en-US" sz="12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58368" y="4956048"/>
            <a:ext cx="10881360" cy="457200"/>
          </a:xfrm>
          <a:prstGeom prst="rect">
            <a:avLst/>
          </a:prstGeom>
          <a:noFill/>
          <a:ln/>
        </p:spPr>
        <p:txBody>
          <a:bodyPr wrap="square" lIns="0" tIns="0" rIns="0" bIns="0" rtlCol="0" anchor="t"/>
          <a:lstStyle/>
          <a:p>
            <a:pPr algn="l" indent="0" marL="0">
              <a:lnSpc>
                <a:spcPct val="120000"/>
              </a:lnSpc>
              <a:buNone/>
            </a:pPr>
            <a:r>
              <a:rPr lang="en-US" sz="1500" b="1" dirty="0">
                <a:solidFill>
                  <a:srgbClr val="000000"/>
                </a:solidFill>
                <a:latin typeface="Roboto" pitchFamily="34" charset="0"/>
                <a:ea typeface="Roboto" pitchFamily="34" charset="-122"/>
                <a:cs typeface="Roboto" pitchFamily="34" charset="-120"/>
              </a:rPr>
              <a:t>Steps 1–4 are free. </a:t>
            </a:r>
            <a:pPr algn="l" indent="0" marL="0">
              <a:lnSpc>
                <a:spcPct val="120000"/>
              </a:lnSpc>
              <a:buNone/>
            </a:pPr>
            <a:r>
              <a:rPr lang="en-US" sz="1500" b="1" dirty="0">
                <a:solidFill>
                  <a:srgbClr val="FF0000"/>
                </a:solidFill>
                <a:latin typeface="Roboto" pitchFamily="34" charset="0"/>
                <a:ea typeface="Roboto" pitchFamily="34" charset="-122"/>
                <a:cs typeface="Roboto" pitchFamily="34" charset="-120"/>
              </a:rPr>
              <a:t>Step 5 is the whole cost of opening a scan</a:t>
            </a:r>
            <a:pPr algn="l" indent="0" marL="0">
              <a:lnSpc>
                <a:spcPct val="120000"/>
              </a:lnSpc>
              <a:buNone/>
            </a:pPr>
            <a:r>
              <a:rPr lang="en-US" sz="1500" b="1" dirty="0">
                <a:solidFill>
                  <a:srgbClr val="000000"/>
                </a:solidFill>
                <a:latin typeface="Roboto" pitchFamily="34" charset="0"/>
                <a:ea typeface="Roboto" pitchFamily="34" charset="-122"/>
                <a:cs typeface="Roboto" pitchFamily="34" charset="-120"/>
              </a:rPr>
              <a:t>, and it does not depend on how many rows you then read.</a:t>
            </a:r>
            <a:endParaRPr lang="en-US" sz="15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Compatible anyway</a:t>
            </a:r>
            <a:endParaRPr lang="en-US" sz="3200" dirty="0"/>
          </a:p>
        </p:txBody>
      </p:sp>
      <p:sp>
        <p:nvSpPr>
          <p:cNvPr id="4" name="Text 1"/>
          <p:cNvSpPr txBox="1"/>
          <p:nvPr/>
        </p:nvSpPr>
        <p:spPr>
          <a:xfrm>
            <a:off x="658368" y="1572768"/>
            <a:ext cx="10881360" cy="2743200"/>
          </a:xfrm>
          <a:prstGeom prst="rect">
            <a:avLst/>
          </a:prstGeom>
          <a:noFill/>
          <a:ln/>
        </p:spPr>
        <p:txBody>
          <a:bodyPr wrap="square" lIns="0" tIns="0" rIns="0" bIns="0" rtlCol="0" anchor="t"/>
          <a:lstStyle/>
          <a:p>
            <a:pPr marL="342900" indent="-342900">
              <a:spcAft>
                <a:spcPts val="800"/>
              </a:spcAft>
              <a:buSzPct val="100000"/>
              <a:buChar char="•"/>
            </a:pPr>
            <a:r>
              <a:rPr lang="en-US" sz="1900" b="1" dirty="0">
                <a:solidFill>
                  <a:srgbClr val="000000"/>
                </a:solidFill>
                <a:latin typeface="Roboto" pitchFamily="34" charset="0"/>
                <a:ea typeface="Roboto" pitchFamily="34" charset="-122"/>
                <a:cs typeface="Roboto" pitchFamily="34" charset="-120"/>
              </a:rPr>
              <a:t>The block index holds exact row counts, in RAM</a:t>
            </a:r>
            <a:endParaRPr lang="en-US" sz="1900" dirty="0"/>
          </a:p>
          <a:p>
            <a:pPr lvl="1" marL="685800" indent="-342900">
              <a:spcAft>
                <a:spcPts val="400"/>
              </a:spcAft>
              <a:buSzPct val="100000"/>
              <a:buChar char="•"/>
            </a:pPr>
            <a:r>
              <a:rPr lang="en-US" sz="1500" dirty="0">
                <a:solidFill>
                  <a:srgbClr val="000000"/>
                </a:solidFill>
                <a:latin typeface="Roboto" pitchFamily="34" charset="0"/>
                <a:ea typeface="Roboto" pitchFamily="34" charset="-122"/>
                <a:cs typeface="Roboto" pitchFamily="34" charset="-120"/>
              </a:rPr>
              <a:t>an offset resolves before any block is read</a:t>
            </a:r>
            <a:endParaRPr lang="en-US" sz="1900" dirty="0"/>
          </a:p>
          <a:p>
            <a:pPr marL="342900" indent="-342900">
              <a:spcAft>
                <a:spcPts val="800"/>
              </a:spcAft>
              <a:buSzPct val="100000"/>
              <a:buChar char="•"/>
            </a:pPr>
            <a:r>
              <a:rPr lang="en-US" sz="1900" b="1" dirty="0">
                <a:solidFill>
                  <a:srgbClr val="000000"/>
                </a:solidFill>
                <a:latin typeface="Roboto" pitchFamily="34" charset="0"/>
                <a:ea typeface="Roboto" pitchFamily="34" charset="-122"/>
                <a:cs typeface="Roboto" pitchFamily="34" charset="-120"/>
              </a:rPr>
              <a:t>An exact cardinality exists too</a:t>
            </a:r>
            <a:endParaRPr lang="en-US" sz="1900" dirty="0"/>
          </a:p>
          <a:p>
            <a:pPr lvl="1" marL="685800" indent="-342900">
              <a:spcAft>
                <a:spcPts val="400"/>
              </a:spcAft>
              <a:buSzPct val="100000"/>
              <a:buChar char="•"/>
            </a:pPr>
            <a:r>
              <a:rPr lang="en-US" sz="1500" dirty="0">
                <a:solidFill>
                  <a:srgbClr val="000000"/>
                </a:solidFill>
                <a:latin typeface="Roboto" pitchFamily="34" charset="0"/>
                <a:ea typeface="Roboto" pitchFamily="34" charset="-122"/>
                <a:cs typeface="Roboto" pitchFamily="34" charset="-120"/>
              </a:rPr>
              <a:t>it decompresses the two boundary blocks — correct, not free</a:t>
            </a:r>
            <a:endParaRPr lang="en-US" sz="1900" dirty="0"/>
          </a:p>
          <a:p>
            <a:pPr marL="342900" indent="-342900">
              <a:spcAft>
                <a:spcPts val="800"/>
              </a:spcAft>
              <a:buSzPct val="100000"/>
              <a:buChar char="•"/>
            </a:pPr>
            <a:r>
              <a:rPr lang="en-US" sz="1900" b="1" dirty="0">
                <a:solidFill>
                  <a:srgbClr val="000000"/>
                </a:solidFill>
                <a:latin typeface="Roboto" pitchFamily="34" charset="0"/>
                <a:ea typeface="Roboto" pitchFamily="34" charset="-122"/>
                <a:cs typeface="Roboto" pitchFamily="34" charset="-120"/>
              </a:rPr>
              <a:t>40 lines of QLever, off by default, nothing in the index format</a:t>
            </a:r>
            <a:endParaRPr lang="en-US" sz="1900" dirty="0"/>
          </a:p>
        </p:txBody>
      </p:sp>
      <p:sp>
        <p:nvSpPr>
          <p:cNvPr id="5" name="Text 2"/>
          <p:cNvSpPr txBox="1"/>
          <p:nvPr/>
        </p:nvSpPr>
        <p:spPr>
          <a:xfrm>
            <a:off x="658368" y="4498848"/>
            <a:ext cx="10881360" cy="914400"/>
          </a:xfrm>
          <a:prstGeom prst="rect">
            <a:avLst/>
          </a:prstGeom>
          <a:noFill/>
          <a:ln w="19050">
            <a:solidFill>
              <a:srgbClr val="FF0000"/>
            </a:solidFill>
          </a:ln>
        </p:spPr>
        <p:txBody>
          <a:bodyPr wrap="square" lIns="127000" tIns="127000" rIns="127000" bIns="127000" rtlCol="0" anchor="t"/>
          <a:lstStyle/>
          <a:p>
            <a:pPr algn="l" indent="0" marL="0">
              <a:lnSpc>
                <a:spcPct val="120000"/>
              </a:lnSpc>
              <a:buNone/>
            </a:pPr>
            <a:r>
              <a:rPr lang="en-US" sz="1800" b="1" dirty="0">
                <a:solidFill>
                  <a:srgbClr val="000000"/>
                </a:solidFill>
                <a:latin typeface="Roboto" pitchFamily="34" charset="0"/>
                <a:ea typeface="Roboto" pitchFamily="34" charset="-122"/>
                <a:cs typeface="Roboto" pitchFamily="34" charset="-120"/>
              </a:rPr>
              <a:t>Everything a continuation depends on stays exact.</a:t>
            </a:r>
            <a:endParaRPr lang="en-US" sz="1800" dirty="0"/>
          </a:p>
          <a:p>
            <a:pPr algn="l" indent="0" marL="0">
              <a:lnSpc>
                <a:spcPct val="120000"/>
              </a:lnSpc>
              <a:buNone/>
            </a:pPr>
            <a:r>
              <a:rPr lang="en-US" sz="1800" b="1" dirty="0">
                <a:solidFill>
                  <a:srgbClr val="000000"/>
                </a:solidFill>
                <a:latin typeface="Roboto" pitchFamily="34" charset="0"/>
                <a:ea typeface="Roboto" pitchFamily="34" charset="-122"/>
                <a:cs typeface="Roboto" pitchFamily="34" charset="-120"/>
              </a:rPr>
              <a:t>What changes is the price, not the correctness.</a:t>
            </a:r>
            <a:endParaRPr lang="en-US" sz="18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What it costs instead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81360" cy="914400"/>
        </p:xfrm>
        <a:graphic>
          <a:graphicData uri="http://schemas.openxmlformats.org/drawingml/2006/table">
            <a:tbl>
              <a:tblPr/>
              <a:tblGrid>
                <a:gridCol w="5394960"/>
                <a:gridCol w="2743200"/>
                <a:gridCol w="2743200"/>
              </a:tblGrid>
              <a:tr h="0">
                <a:tc>
                  <a:txBody>
                    <a:bodyPr/>
                    <a:lstStyle/>
                    <a:p>
                      <a:pPr algn="l" indent="0" marL="0">
                        <a:buNone/>
                      </a:pPr>
                      <a:r>
                        <a:rPr lang="en-US" sz="1300" b="1" dirty="0">
                          <a:solidFill>
                            <a:srgbClr val="FFFFFF"/>
                          </a:solidFill>
                          <a:latin typeface="Roboto" pitchFamily="34" charset="0"/>
                          <a:ea typeface="Roboto" pitchFamily="34" charset="-122"/>
                          <a:cs typeface="Roboto" pitchFamily="34" charset="-120"/>
                        </a:rPr>
                        <a:t>QLever, per call</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300" b="1" dirty="0">
                          <a:solidFill>
                            <a:srgbClr val="FFFFFF"/>
                          </a:solidFill>
                          <a:latin typeface="Roboto" pitchFamily="34" charset="0"/>
                          <a:ea typeface="Roboto" pitchFamily="34" charset="-122"/>
                          <a:cs typeface="Roboto" pitchFamily="34" charset="-120"/>
                        </a:rPr>
                        <a:t>?s ?p ?o</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300" b="1" dirty="0">
                          <a:solidFill>
                            <a:srgbClr val="FFFFFF"/>
                          </a:solidFill>
                          <a:latin typeface="Roboto" pitchFamily="34" charset="0"/>
                          <a:ea typeface="Roboto" pitchFamily="34" charset="-122"/>
                          <a:cs typeface="Roboto" pitchFamily="34" charset="-120"/>
                        </a:rPr>
                        <a:t>?s a ?c</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exact cardinality, no block cache</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1,047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766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exact cardinality, cache of 16</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33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14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the metadata estimate</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38761D"/>
                          </a:solidFill>
                          <a:latin typeface="Roboto" pitchFamily="34" charset="0"/>
                          <a:ea typeface="Roboto" pitchFamily="34" charset="-122"/>
                          <a:cs typeface="Roboto" pitchFamily="34" charset="-120"/>
                        </a:rPr>
                        <a:t>0.9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38761D"/>
                          </a:solidFill>
                          <a:latin typeface="Roboto" pitchFamily="34" charset="0"/>
                          <a:ea typeface="Roboto" pitchFamily="34" charset="-122"/>
                          <a:cs typeface="Roboto" pitchFamily="34" charset="-120"/>
                        </a:rPr>
                        <a:t>0.2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re-enter at an advancing offset</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1,812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b="1" dirty="0">
                          <a:solidFill>
                            <a:srgbClr val="38761D"/>
                          </a:solidFill>
                          <a:latin typeface="Roboto" pitchFamily="34" charset="0"/>
                          <a:ea typeface="Roboto" pitchFamily="34" charset="-122"/>
                          <a:cs typeface="Roboto" pitchFamily="34" charset="-120"/>
                        </a:rPr>
                        <a:t>14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re-enter at a scattered offset</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0000"/>
                          </a:solidFill>
                          <a:latin typeface="Roboto" pitchFamily="34" charset="0"/>
                          <a:ea typeface="Roboto" pitchFamily="34" charset="-122"/>
                          <a:cs typeface="Roboto" pitchFamily="34" charset="-120"/>
                        </a:rPr>
                        <a:t>3,063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FF0000"/>
                          </a:solidFill>
                          <a:latin typeface="Roboto" pitchFamily="34" charset="0"/>
                          <a:ea typeface="Roboto" pitchFamily="34" charset="-122"/>
                          <a:cs typeface="Roboto" pitchFamily="34" charset="-120"/>
                        </a:rPr>
                        <a:t>476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000000"/>
                          </a:solidFill>
                          <a:latin typeface="Roboto" pitchFamily="34" charset="0"/>
                          <a:ea typeface="Roboto" pitchFamily="34" charset="-122"/>
                          <a:cs typeface="Roboto" pitchFamily="34" charset="-120"/>
                        </a:rPr>
                        <a:t>one uniform draw</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b="1" dirty="0">
                          <a:solidFill>
                            <a:srgbClr val="FF0000"/>
                          </a:solidFill>
                          <a:latin typeface="Roboto" pitchFamily="34" charset="0"/>
                          <a:ea typeface="Roboto" pitchFamily="34" charset="-122"/>
                          <a:cs typeface="Roboto" pitchFamily="34" charset="-120"/>
                        </a:rPr>
                        <a:t>2,725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300" b="1" dirty="0">
                          <a:solidFill>
                            <a:srgbClr val="FF0000"/>
                          </a:solidFill>
                          <a:latin typeface="Roboto" pitchFamily="34" charset="0"/>
                          <a:ea typeface="Roboto" pitchFamily="34" charset="-122"/>
                          <a:cs typeface="Roboto" pitchFamily="34" charset="-120"/>
                        </a:rPr>
                        <a:t>500 µs</a:t>
                      </a:r>
                      <a:endParaRPr lang="en-US" sz="13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bl>
          </a:graphicData>
        </a:graphic>
      </p:graphicFrame>
      <p:sp>
        <p:nvSpPr>
          <p:cNvPr id="5" name="Text 1"/>
          <p:cNvSpPr txBox="1"/>
          <p:nvPr/>
        </p:nvSpPr>
        <p:spPr>
          <a:xfrm>
            <a:off x="658368" y="5047488"/>
            <a:ext cx="10881360" cy="365760"/>
          </a:xfrm>
          <a:prstGeom prst="rect">
            <a:avLst/>
          </a:prstGeom>
          <a:noFill/>
          <a:ln/>
        </p:spPr>
        <p:txBody>
          <a:bodyPr wrap="square" lIns="0" tIns="0" rIns="0" bIns="0" rtlCol="0" anchor="t"/>
          <a:lstStyle/>
          <a:p>
            <a:pPr algn="l" indent="0" marL="0">
              <a:lnSpc>
                <a:spcPct val="120000"/>
              </a:lnSpc>
              <a:buNone/>
            </a:pPr>
            <a:r>
              <a:rPr lang="en-US" sz="1100" dirty="0">
                <a:solidFill>
                  <a:srgbClr val="595959"/>
                </a:solidFill>
                <a:latin typeface="Roboto" pitchFamily="34" charset="0"/>
                <a:ea typeface="Roboto" pitchFamily="34" charset="-122"/>
                <a:cs typeface="Roboto" pitchFamily="34" charset="-120"/>
              </a:rPr>
              <a:t>WatDiv 10M · 10,916,457 and 136,215 matches · 100 calls each · skip is lazy, so every row reads a component afterwards</a:t>
            </a:r>
            <a:endParaRPr lang="en-US" sz="11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Limitations</a:t>
            </a:r>
            <a:endParaRPr lang="en-US" sz="3200" dirty="0"/>
          </a:p>
        </p:txBody>
      </p:sp>
      <p:sp>
        <p:nvSpPr>
          <p:cNvPr id="4" name="Text 1"/>
          <p:cNvSpPr txBox="1"/>
          <p:nvPr/>
        </p:nvSpPr>
        <p:spPr>
          <a:xfrm>
            <a:off x="658368" y="1572768"/>
            <a:ext cx="10881360" cy="2743200"/>
          </a:xfrm>
          <a:prstGeom prst="rect">
            <a:avLst/>
          </a:prstGeom>
          <a:noFill/>
          <a:ln/>
        </p:spPr>
        <p:txBody>
          <a:bodyPr wrap="square" lIns="0" tIns="0" rIns="0" bIns="0" rtlCol="0" anchor="t"/>
          <a:lstStyle/>
          <a:p>
            <a:pPr marL="342900" indent="-342900">
              <a:spcAft>
                <a:spcPts val="800"/>
              </a:spcAft>
              <a:buSzPct val="100000"/>
              <a:buChar char="•"/>
            </a:pPr>
            <a:r>
              <a:rPr lang="en-US" sz="1900" b="1" dirty="0">
                <a:solidFill>
                  <a:srgbClr val="38761D"/>
                </a:solidFill>
                <a:latin typeface="Roboto" pitchFamily="34" charset="0"/>
                <a:ea typeface="Roboto" pitchFamily="34" charset="-122"/>
                <a:cs typeface="Roboto" pitchFamily="34" charset="-120"/>
              </a:rPr>
              <a:t>A continuation re-enters where it stopped — 14 µs</a:t>
            </a:r>
            <a:endParaRPr lang="en-US" sz="1900" dirty="0"/>
          </a:p>
          <a:p>
            <a:pPr lvl="1" marL="685800" indent="-342900">
              <a:spcAft>
                <a:spcPts val="400"/>
              </a:spcAft>
              <a:buSzPct val="100000"/>
              <a:buChar char="•"/>
            </a:pPr>
            <a:r>
              <a:rPr lang="en-US" sz="1500" dirty="0">
                <a:solidFill>
                  <a:srgbClr val="000000"/>
                </a:solidFill>
                <a:latin typeface="Roboto" pitchFamily="34" charset="0"/>
                <a:ea typeface="Roboto" pitchFamily="34" charset="-122"/>
                <a:cs typeface="Roboto" pitchFamily="34" charset="-120"/>
              </a:rPr>
              <a:t>it stays in the same block, which is what the block cache is for</a:t>
            </a:r>
            <a:endParaRPr lang="en-US" sz="1900" dirty="0"/>
          </a:p>
          <a:p>
            <a:pPr marL="342900" indent="-342900">
              <a:spcAft>
                <a:spcPts val="800"/>
              </a:spcAft>
              <a:buSzPct val="100000"/>
              <a:buChar char="•"/>
            </a:pPr>
            <a:r>
              <a:rPr lang="en-US" sz="1900" b="1" dirty="0">
                <a:solidFill>
                  <a:srgbClr val="FF0000"/>
                </a:solidFill>
                <a:latin typeface="Roboto" pitchFamily="34" charset="0"/>
                <a:ea typeface="Roboto" pitchFamily="34" charset="-122"/>
                <a:cs typeface="Roboto" pitchFamily="34" charset="-120"/>
              </a:rPr>
              <a:t>A random walk re-enters anywhere — 476 µs</a:t>
            </a:r>
            <a:endParaRPr lang="en-US" sz="1900" dirty="0"/>
          </a:p>
          <a:p>
            <a:pPr lvl="1" marL="685800" indent="-342900">
              <a:spcAft>
                <a:spcPts val="400"/>
              </a:spcAft>
              <a:buSzPct val="100000"/>
              <a:buChar char="•"/>
            </a:pPr>
            <a:r>
              <a:rPr lang="en-US" sz="1500" dirty="0">
                <a:solidFill>
                  <a:srgbClr val="000000"/>
                </a:solidFill>
                <a:latin typeface="Roboto" pitchFamily="34" charset="0"/>
                <a:ea typeface="Roboto" pitchFamily="34" charset="-122"/>
                <a:cs typeface="Roboto" pitchFamily="34" charset="-120"/>
              </a:rPr>
              <a:t>the cache cannot help: 476 µs against 477 with it off</a:t>
            </a:r>
            <a:endParaRPr lang="en-US" sz="1900" dirty="0"/>
          </a:p>
          <a:p>
            <a:pPr lvl="1" marL="685800" indent="-342900">
              <a:spcAft>
                <a:spcPts val="400"/>
              </a:spcAft>
              <a:buSzPct val="100000"/>
              <a:buChar char="•"/>
            </a:pPr>
            <a:r>
              <a:rPr lang="en-US" sz="1500" dirty="0">
                <a:solidFill>
                  <a:srgbClr val="000000"/>
                </a:solidFill>
                <a:latin typeface="Roboto" pitchFamily="34" charset="0"/>
                <a:ea typeface="Roboto" pitchFamily="34" charset="-122"/>
                <a:cs typeface="Roboto" pitchFamily="34" charset="-120"/>
              </a:rPr>
              <a:t>depth d pays d exact counts and d scattered re-entries, where keyAt pays d tree descents</a:t>
            </a:r>
            <a:endParaRPr lang="en-US" sz="1900" dirty="0"/>
          </a:p>
        </p:txBody>
      </p:sp>
      <p:sp>
        <p:nvSpPr>
          <p:cNvPr id="5" name="Text 2"/>
          <p:cNvSpPr txBox="1"/>
          <p:nvPr/>
        </p:nvSpPr>
        <p:spPr>
          <a:xfrm>
            <a:off x="658368" y="4590288"/>
            <a:ext cx="10881360" cy="731520"/>
          </a:xfrm>
          <a:prstGeom prst="rect">
            <a:avLst/>
          </a:prstGeom>
          <a:noFill/>
          <a:ln w="19050">
            <a:solidFill>
              <a:srgbClr val="FF0000"/>
            </a:solidFill>
          </a:ln>
        </p:spPr>
        <p:txBody>
          <a:bodyPr wrap="square" lIns="127000" tIns="127000" rIns="127000" bIns="127000" rtlCol="0" anchor="t"/>
          <a:lstStyle/>
          <a:p>
            <a:pPr algn="l" indent="0" marL="0">
              <a:lnSpc>
                <a:spcPct val="120000"/>
              </a:lnSpc>
              <a:buNone/>
            </a:pPr>
            <a:r>
              <a:rPr lang="en-US" sz="2200" b="1" dirty="0">
                <a:solidFill>
                  <a:srgbClr val="000000"/>
                </a:solidFill>
                <a:latin typeface="Roboto" pitchFamily="34" charset="0"/>
                <a:ea typeface="Roboto" pitchFamily="34" charset="-122"/>
                <a:cs typeface="Roboto" pitchFamily="34" charset="-120"/>
              </a:rPr>
              <a:t>Preemption ports. Sampling pays.</a:t>
            </a:r>
            <a:endParaRPr lang="en-US" sz="2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Where this is written down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389888"/>
          <a:ext cx="10881360" cy="914400"/>
        </p:xfrm>
        <a:graphic>
          <a:graphicData uri="http://schemas.openxmlformats.org/drawingml/2006/table">
            <a:tbl>
              <a:tblPr/>
              <a:tblGrid>
                <a:gridCol w="4754880"/>
                <a:gridCol w="6126480"/>
              </a:tblGrid>
              <a:tr h="0">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what</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00" b="1" dirty="0">
                          <a:solidFill>
                            <a:srgbClr val="FFFFFF"/>
                          </a:solidFill>
                          <a:latin typeface="Roboto" pitchFamily="34" charset="0"/>
                          <a:ea typeface="Roboto" pitchFamily="34" charset="-122"/>
                          <a:cs typeface="Roboto" pitchFamily="34" charset="-120"/>
                        </a:rPr>
                        <a:t>documented where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The six permutations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38761D"/>
                          </a:solidFill>
                          <a:latin typeface="Roboto" pitchFamily="34" charset="0"/>
                          <a:ea typeface="Roboto" pitchFamily="34" charset="-122"/>
                          <a:cs typeface="Roboto" pitchFamily="34" charset="-120"/>
                        </a:rPr>
                        <a:t>Book chapter 2023, §1.5.2, with worked examples; also the wiki</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Internal / external vocabulary, Id ordering</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Wiki, two pages — conceptual, dated 2022</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The 4 + 60 bit layout of an Id</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00" b="1" dirty="0">
                          <a:solidFill>
                            <a:srgbClr val="FF0000"/>
                          </a:solidFill>
                          <a:latin typeface="Roboto" pitchFamily="34" charset="0"/>
                          <a:ea typeface="Roboto" pitchFamily="34" charset="-122"/>
                          <a:cs typeface="Roboto" pitchFamily="34" charset="-120"/>
                        </a:rPr>
                        <a:t>nowhere — the wiki describes ranges, never the encoding</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Blocks, their size, their cutting rules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00" b="1" dirty="0">
                          <a:solidFill>
                            <a:srgbClr val="FF0000"/>
                          </a:solidFill>
                          <a:latin typeface="Roboto" pitchFamily="34" charset="0"/>
                          <a:ea typeface="Roboto" pitchFamily="34" charset="-122"/>
                          <a:cs typeface="Roboto" pitchFamily="34" charset="-120"/>
                        </a:rPr>
                        <a:t>nowhere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Per-column Zstd, offsets and sizes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00" b="1" dirty="0">
                          <a:solidFill>
                            <a:srgbClr val="FF0000"/>
                          </a:solidFill>
                          <a:latin typeface="Roboto" pitchFamily="34" charset="0"/>
                          <a:ea typeface="Roboto" pitchFamily="34" charset="-122"/>
                          <a:cs typeface="Roboto" pitchFamily="34" charset="-120"/>
                        </a:rPr>
                        <a:t>nowhere — the wiki only says “compressed in a variety of ways”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Block and relation metadata, their fields</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00" b="1" dirty="0">
                          <a:solidFill>
                            <a:srgbClr val="FF0000"/>
                          </a:solidFill>
                          <a:latin typeface="Roboto" pitchFamily="34" charset="0"/>
                          <a:ea typeface="Roboto" pitchFamily="34" charset="-122"/>
                          <a:cs typeface="Roboto" pitchFamily="34" charset="-120"/>
                        </a:rPr>
                        <a:t>nowhere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100" dirty="0">
                          <a:solidFill>
                            <a:srgbClr val="000000"/>
                          </a:solidFill>
                          <a:latin typeface="Roboto" pitchFamily="34" charset="0"/>
                          <a:ea typeface="Roboto" pitchFamily="34" charset="-122"/>
                          <a:cs typeface="Roboto" pitchFamily="34" charset="-120"/>
                        </a:rPr>
                        <a:t>Metadata at the end of the permutation file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00" b="1" dirty="0">
                          <a:solidFill>
                            <a:srgbClr val="FF0000"/>
                          </a:solidFill>
                          <a:latin typeface="Roboto" pitchFamily="34" charset="0"/>
                          <a:ea typeface="Roboto" pitchFamily="34" charset="-122"/>
                          <a:cs typeface="Roboto" pitchFamily="34" charset="-120"/>
                        </a:rPr>
                        <a:t>nowhere</a:t>
                      </a:r>
                      <a:endParaRPr lang="en-US" sz="1100" dirty="0">
                        <a:latin typeface="Roboto" charset="0"/>
                        <a:ea typeface="Roboto" charset="0"/>
                        <a:cs typeface="Roboto" charset="0"/>
                      </a:endParaRPr>
                    </a:p>
                  </a:txBody>
                  <a:tcPr marL="76200" marR="76200" marT="76200" marB="762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bl>
          </a:graphicData>
        </a:graphic>
      </p:graphicFrame>
      <p:sp>
        <p:nvSpPr>
          <p:cNvPr id="5" name="Text 1"/>
          <p:cNvSpPr txBox="1"/>
          <p:nvPr/>
        </p:nvSpPr>
        <p:spPr>
          <a:xfrm>
            <a:off x="658368" y="4956048"/>
            <a:ext cx="10881360" cy="548640"/>
          </a:xfrm>
          <a:prstGeom prst="rect">
            <a:avLst/>
          </a:prstGeom>
          <a:noFill/>
          <a:ln/>
        </p:spPr>
        <p:txBody>
          <a:bodyPr wrap="square" lIns="0" tIns="0" rIns="0" bIns="0" rtlCol="0" anchor="t"/>
          <a:lstStyle/>
          <a:p>
            <a:pPr algn="l" indent="0" marL="0">
              <a:lnSpc>
                <a:spcPct val="120000"/>
              </a:lnSpc>
              <a:buNone/>
            </a:pPr>
            <a:r>
              <a:rPr lang="en-US" sz="1200" dirty="0">
                <a:solidFill>
                  <a:srgbClr val="000000"/>
                </a:solidFill>
                <a:latin typeface="Roboto" pitchFamily="34" charset="0"/>
                <a:ea typeface="Roboto" pitchFamily="34" charset="-122"/>
                <a:cs typeface="Roboto" pitchFamily="34" charset="-120"/>
              </a:rPr>
              <a:t>The CIKM 2017 paper does describe blocks — but of an older, different index: lists of subject + offset pairs, each block keyed by its lowest subject ID. On compressing them it says: “We choose to not do this.”</a:t>
            </a:r>
            <a:endParaRPr lang="en-US" sz="1200" dirty="0"/>
          </a:p>
        </p:txBody>
      </p:sp>
      <p:sp>
        <p:nvSpPr>
          <p:cNvPr id="6" name="Text 2"/>
          <p:cNvSpPr txBox="1"/>
          <p:nvPr/>
        </p:nvSpPr>
        <p:spPr>
          <a:xfrm>
            <a:off x="658368" y="5504688"/>
            <a:ext cx="10881360" cy="457200"/>
          </a:xfrm>
          <a:prstGeom prst="rect">
            <a:avLst/>
          </a:prstGeom>
          <a:noFill/>
          <a:ln/>
        </p:spPr>
        <p:txBody>
          <a:bodyPr wrap="square" lIns="0" tIns="0" rIns="0" bIns="0" rtlCol="0" anchor="t"/>
          <a:lstStyle/>
          <a:p>
            <a:pPr algn="l" indent="0" marL="0">
              <a:lnSpc>
                <a:spcPct val="120000"/>
              </a:lnSpc>
              <a:buNone/>
            </a:pPr>
            <a:r>
              <a:rPr lang="en-US" sz="1200" dirty="0">
                <a:solidFill>
                  <a:srgbClr val="000000"/>
                </a:solidFill>
                <a:latin typeface="Roboto" pitchFamily="34" charset="0"/>
                <a:ea typeface="Roboto" pitchFamily="34" charset="-122"/>
                <a:cs typeface="Roboto" pitchFamily="34" charset="-120"/>
              </a:rPr>
              <a:t>No architecture page at docs.qlever.dev. The wiki’s “Overview over the QLever codebase” is “currently still a stub” and covers Turtle parsing only.</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274320" y="201168"/>
            <a:ext cx="11640312" cy="749808"/>
          </a:xfrm>
          <a:prstGeom prst="rect">
            <a:avLst/>
          </a:prstGeom>
          <a:noFill/>
          <a:ln/>
        </p:spPr>
        <p:txBody>
          <a:bodyPr wrap="square" lIns="0" tIns="0" rIns="0" bIns="0" rtlCol="0" anchor="ctr"/>
          <a:lstStyle/>
          <a:p>
            <a:pPr algn="ctr" indent="0" marL="0">
              <a:buNone/>
            </a:pPr>
            <a:r>
              <a:rPr lang="en-US" sz="3200" b="1" dirty="0">
                <a:solidFill>
                  <a:srgbClr val="FFFFFF"/>
                </a:solidFill>
                <a:latin typeface="Roboto Slab" pitchFamily="34" charset="0"/>
                <a:ea typeface="Roboto Slab" pitchFamily="34" charset="-122"/>
                <a:cs typeface="Roboto Slab" pitchFamily="34" charset="-120"/>
              </a:rPr>
              <a:t>References</a:t>
            </a:r>
            <a:endParaRPr lang="en-US" sz="3200" dirty="0"/>
          </a:p>
        </p:txBody>
      </p:sp>
      <p:sp>
        <p:nvSpPr>
          <p:cNvPr id="4" name="Text 1"/>
          <p:cNvSpPr txBox="1"/>
          <p:nvPr/>
        </p:nvSpPr>
        <p:spPr>
          <a:xfrm>
            <a:off x="658368" y="1389888"/>
            <a:ext cx="10881360" cy="274320"/>
          </a:xfrm>
          <a:prstGeom prst="rect">
            <a:avLst/>
          </a:prstGeom>
          <a:noFill/>
          <a:ln/>
        </p:spPr>
        <p:txBody>
          <a:bodyPr wrap="square" lIns="0" tIns="0" rIns="0" bIns="0" rtlCol="0" anchor="t"/>
          <a:lstStyle/>
          <a:p>
            <a:pPr algn="l" indent="0" marL="0">
              <a:lnSpc>
                <a:spcPct val="120000"/>
              </a:lnSpc>
              <a:buNone/>
            </a:pPr>
            <a:r>
              <a:rPr lang="en-US" sz="1300" b="1" dirty="0">
                <a:solidFill>
                  <a:srgbClr val="000000"/>
                </a:solidFill>
                <a:latin typeface="Roboto" pitchFamily="34" charset="0"/>
                <a:ea typeface="Roboto" pitchFamily="34" charset="-122"/>
                <a:cs typeface="Roboto" pitchFamily="34" charset="-120"/>
              </a:rPr>
              <a:t>QLever, as the project itself asks to be cited:</a:t>
            </a:r>
            <a:endParaRPr lang="en-US" sz="1300" dirty="0"/>
          </a:p>
        </p:txBody>
      </p:sp>
      <p:sp>
        <p:nvSpPr>
          <p:cNvPr id="5" name="Text 2"/>
          <p:cNvSpPr txBox="1"/>
          <p:nvPr/>
        </p:nvSpPr>
        <p:spPr>
          <a:xfrm>
            <a:off x="658368" y="1709928"/>
            <a:ext cx="10881360" cy="18288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Bast, Buchhold. QLever: A Query Engine for Efficient SPARQL+Text Search. CIKM 2017, 647–656.</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Bast, Kalmbach, Klumpp, Kramer, Schnelle. Efficient SPARQL Autocompletion via SPARQL. CIKM 2022.</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Bast, Brosi, Kalmbach, Klumpp. Knowledge Graphs (book chapter), 2023 — §1.5.2 covers triple permutations.</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Bast et al. The dblp Knowledge Graph and SPARQL Endpoint. TGDK 2024.</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Bast, Brosi, Kalmbach. Efficient Spatial Joins on Large Geometry Sets. SIGSPATIAL 2025, 466–476.</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Walter, Bast. GRASP: zero-shot question answering on RDF graphs. ISWC 2025.</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Bast, Kalmbach, Tsiapalis, Ullinger. Sparqloscope: a comprehensive SPARQL benchmark. ISWC 2025.</a:t>
            </a:r>
            <a:endParaRPr lang="en-US" sz="1100" dirty="0"/>
          </a:p>
        </p:txBody>
      </p:sp>
      <p:sp>
        <p:nvSpPr>
          <p:cNvPr id="6" name="Text 3"/>
          <p:cNvSpPr txBox="1"/>
          <p:nvPr/>
        </p:nvSpPr>
        <p:spPr>
          <a:xfrm>
            <a:off x="658368" y="3630168"/>
            <a:ext cx="10881360" cy="274320"/>
          </a:xfrm>
          <a:prstGeom prst="rect">
            <a:avLst/>
          </a:prstGeom>
          <a:noFill/>
          <a:ln/>
        </p:spPr>
        <p:txBody>
          <a:bodyPr wrap="square" lIns="0" tIns="0" rIns="0" bIns="0" rtlCol="0" anchor="t"/>
          <a:lstStyle/>
          <a:p>
            <a:pPr algn="l" indent="0" marL="0">
              <a:lnSpc>
                <a:spcPct val="120000"/>
              </a:lnSpc>
              <a:buNone/>
            </a:pPr>
            <a:r>
              <a:rPr lang="en-US" sz="1300" b="1" dirty="0">
                <a:solidFill>
                  <a:srgbClr val="000000"/>
                </a:solidFill>
                <a:latin typeface="Roboto" pitchFamily="34" charset="0"/>
                <a:ea typeface="Roboto" pitchFamily="34" charset="-122"/>
                <a:cs typeface="Roboto" pitchFamily="34" charset="-120"/>
              </a:rPr>
              <a:t>Independent evaluations, and the migration:</a:t>
            </a:r>
            <a:endParaRPr lang="en-US" sz="1300" dirty="0"/>
          </a:p>
        </p:txBody>
      </p:sp>
      <p:sp>
        <p:nvSpPr>
          <p:cNvPr id="7" name="Text 4"/>
          <p:cNvSpPr txBox="1"/>
          <p:nvPr/>
        </p:nvSpPr>
        <p:spPr>
          <a:xfrm>
            <a:off x="658368" y="3950208"/>
            <a:ext cx="10881360" cy="100584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Patel-Schneider. Benchmarking SPARQL Engines on Wikidata Queries. Wikidata Workshop at ISWC 2025.</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Lam, Elvesæter, Martin-Recuerda. Evaluation of a Representative Selection of SPARQL Query Engines Using Wikidata. ESWC 2023, 679–696.</a:t>
            </a:r>
            <a:endParaRPr lang="en-US" sz="1100" dirty="0"/>
          </a:p>
          <a:p>
            <a:pPr marL="342900" indent="-342900">
              <a:spcAft>
                <a:spcPts val="800"/>
              </a:spcAft>
              <a:buSzPct val="100000"/>
              <a:buChar char="•"/>
            </a:pPr>
            <a:r>
              <a:rPr lang="en-US" sz="1100" dirty="0">
                <a:solidFill>
                  <a:srgbClr val="000000"/>
                </a:solidFill>
                <a:latin typeface="Roboto" pitchFamily="34" charset="0"/>
                <a:ea typeface="Roboto" pitchFamily="34" charset="-122"/>
                <a:cs typeface="Roboto" pitchFamily="34" charset="-120"/>
              </a:rPr>
              <a:t>Wikidata Platform Team. WDQS backend update — Backend Replacement. wikidata.org.</a:t>
            </a:r>
            <a:endParaRPr lang="en-US" sz="1100" dirty="0"/>
          </a:p>
        </p:txBody>
      </p:sp>
      <p:sp>
        <p:nvSpPr>
          <p:cNvPr id="8" name="Text 5"/>
          <p:cNvSpPr txBox="1"/>
          <p:nvPr/>
        </p:nvSpPr>
        <p:spPr>
          <a:xfrm>
            <a:off x="658368" y="5047488"/>
            <a:ext cx="10881360" cy="548640"/>
          </a:xfrm>
          <a:prstGeom prst="rect">
            <a:avLst/>
          </a:prstGeom>
          <a:noFill/>
          <a:ln/>
        </p:spPr>
        <p:txBody>
          <a:bodyPr wrap="square" lIns="0" tIns="0" rIns="0" bIns="0" rtlCol="0" anchor="t"/>
          <a:lstStyle/>
          <a:p>
            <a:pPr algn="l" indent="0" marL="0">
              <a:lnSpc>
                <a:spcPct val="120000"/>
              </a:lnSpc>
              <a:buNone/>
            </a:pPr>
            <a:r>
              <a:rPr lang="en-US" sz="1100" dirty="0">
                <a:solidFill>
                  <a:srgbClr val="000000"/>
                </a:solidFill>
                <a:latin typeface="Roboto" pitchFamily="34" charset="0"/>
                <a:ea typeface="Roboto" pitchFamily="34" charset="-122"/>
                <a:cs typeface="Roboto" pitchFamily="34" charset="-120"/>
              </a:rPr>
              <a:t>Talks: Bast, The QLever SPARQL Engine — DSG Seminar, Waterloo 2022 (recorded) · Wikidata Data Modeling Days 2023 · DBpedia Day keynote, SEMANTiCS 2025.   Docs: docs.qlever.dev · github.com/ad-freiburg/qlever/wiki</a:t>
            </a:r>
            <a:endParaRPr lang="en-US" sz="11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Slab"/>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QLever as a Passage backend</dc:title>
  <dc:subject>PptxGenJS Presentation</dc:subject>
  <dc:creator>PptxGenJS</dc:creator>
  <cp:lastModifiedBy>PptxGenJS</cp:lastModifiedBy>
  <cp:revision>1</cp:revision>
  <dcterms:created xsi:type="dcterms:W3CDTF">2026-10-17T07:47:29Z</dcterms:created>
  <dcterms:modified xsi:type="dcterms:W3CDTF">2026-10-17T07:47:29Z</dcterms:modified>
</cp:coreProperties>
</file>