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Blazegraph carries tuple counts inside its B+tree nodes, so "how many matches" and "which match sits at rank k" are both a tree descent. Its own uniform sampler is built straight on keyAt. QLever has neither — that is the whole question in one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the Wikidata SPARQL query service backend replacement proposal. Worth saying plainly that it is a proposal open for community review rather than a finished switch, and that Blazegraph-specific services and functions will not carry over, so queries using them must be rewritten. The timing is a gift: the Query Service Days are this very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yellow row out loud rather than hoping nobody asks: the evaluator is independent, but this particular query set was assembled by QLever's own authors. The author's verdict over all four benchmarks is still that QLever is the fastest of the four engines. Two caveats of his worth knowing: all four deviate from the SPARQL standard somewhere, and Virtuoso silently returns at most 1,048,576 answers per query, which accounts for most of its divergences on WDBench.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to point at. The per-block metadata lives at the END of the permutation file, not in the sidecar: the reader seeks to the last offset and deserialises it at start-up. And the .meta sidecar is 992 bytes for PSO but 32 bytes for SPO — because SPO has 521,585 relations that each live inside a single block and are addressed by an offset within it, so they need no entry of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that matters downstream: a bound component in a scan is an Id, and resolving it is a vocabulary lookup — unless it is a number or a date, which cost nothing. It is also where the absent-value trap lives: a string not in the vocabulary has no Id at all, and that has to be reported rather than silently turned into a wildcard.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Id on this slide was read from the fig2 index by asking QLever for the string behind it. The right-hand column is the honest catch: ordering by Id groups by datatype first, in enum order, so it is not SPARQL's comparison — that lives in ValueIdComparators and is a different function. An offset into a scan is a position in THIS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86 predicates against a million objects, for the same ten million triples: that asymmetry is why the block counts differ, and the next slide explains the rest. Note that the bound components have to be a PREFIX of the key order — that constraint is what decides which of the six a given pattern 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rule is the one that matters for correctness later: because a block never splits triples that differ only by graph, a block's row count can be trusted without opening it — which is exactly the guard the offset patch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counter-intuitive row is PSO. Its col0 has only 86 distinct values and compresses to nothing, yet the file is larger than SPO's — because what matters is the other columns: sorted by predicate, the subjects inside one predicate are a long ascending run but the objects are near-random, while SPO gets two low-entropy columns. Every number here was read from the index: the rows through the JNI bridge, the sizes with 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firstTriple_ and lastTriple_ are what the binary search uses to find the range of blocks a pattern touches, without reading any of them. numRows_ is what lets an offset be resolved before any I/O. Both were already there; nothing in this work added a field.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is the forty-line patch: skipped blocks are counted, never opened, and the guard is that a block's row count can only be trusted when the block holds no duplicates differing by graph. Step 5 is why a per-thread cache of decompressed blocks is worth 38x on scan opening.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index built before the patch is read by the patched engine unchanged. That matters more than the size of the patch: a mechanism needing the index format to change would not port to the next engine either.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third row against the first two: an exact count is three orders of magnitude dearer than the estimate, and the block cache closes most but not all of that. The engine asks for the exact one wherever an answer depends on it, and for the estimate everywhere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Flat against linear, and linear per slice is quadratic over an enumeration: upstream reaches an offset by decompressing the whole prefix and discarding it. This is the slide that says why the change is needed rather than nice. An earlier version of this work presented it as an optimisation, which was wrong: an optimisation is optional. The range on the extrapolation is honest — the HTTP path measures 0.05 ms per skipped block and the JNI cursor 0.11, and the two have not been reconciled; the conclusion holds on either.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measurements placed the cost before the cache was written, two of them negative: not the index size (0.853 ms over a million triples, 0.861 over eleven million), not the prefetch depth (0.856 to 0.860 as blocks-in-flight goes 20 to 1), not the JNI boundary (0.0004 ms to construct a cursor in C++, 0.933 for its first read). It is the first block being decompressed,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methodological notes, each of which cost a wrong conclusion first. "Warm" is two things — the JVM compiling the pipeline and the store's working set in memory — and conflating them hid a bad protocol; measured properly, the join comparison reversed. And a published Blazegraph scan-open figure turned out to have been measured on 187 triples out of eleven million, because its three-argument scan passes a null graph; it was withdrawn rather than corrected.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of the four limitations are constants, and this is the one that is a difference in kind. If the random-walk estimators matter on this backend, the thing to build is a per-block distinct count or a cheap rank — not a bigger cache.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the obvious question from the audience: why read the source rather than the documentation. The honest answer is that for the storage layer there is none, and the one paper that describes a block structure describes one that no longer exists and that was explicitly uncompressed.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list is the one the upstream README asks for, not the one on Wikipedia, which misses the TGDK, GRASP and Sparqloscope papers and dates the autocompletion work to an arXiv preprint rather than CIKM 2022.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155700"/>
          </a:xfrm>
          <a:prstGeom prst="rect">
            <a:avLst/>
          </a:prstGeom>
          <a:solidFill>
            <a:srgbClr val="0084D1"/>
          </a:solidFill>
          <a:ln/>
        </p:spPr>
      </p:sp>
      <p:sp>
        <p:nvSpPr>
          <p:cNvPr id="3" name="Text 1"/>
          <p:cNvSpPr txBox="1"/>
          <p:nvPr/>
        </p:nvSpPr>
        <p:spPr>
          <a:xfrm>
            <a:off x="0" y="228600"/>
            <a:ext cx="12192000" cy="934720"/>
          </a:xfrm>
          <a:prstGeom prst="rect">
            <a:avLst/>
          </a:prstGeom>
          <a:noFill/>
          <a:ln/>
        </p:spPr>
        <p:txBody>
          <a:bodyPr wrap="square" lIns="0" tIns="0" rIns="0" bIns="0" rtlCol="0" anchor="t"/>
          <a:lstStyle/>
          <a:p>
            <a:pPr algn="ctr" indent="0" marL="0">
              <a:lnSpc>
                <a:spcPct val="110000"/>
              </a:lnSpc>
              <a:buNone/>
            </a:pPr>
            <a:r>
              <a:rPr lang="en-US" sz="4600" b="1" dirty="0">
                <a:solidFill>
                  <a:srgbClr val="FFFFFF"/>
                </a:solidFill>
                <a:latin typeface="Roboto Slab" pitchFamily="34" charset="0"/>
                <a:ea typeface="Roboto Slab" pitchFamily="34" charset="-122"/>
                <a:cs typeface="Roboto Slab" pitchFamily="34" charset="-120"/>
              </a:rPr>
              <a:t>Why change the backend?</a:t>
            </a:r>
            <a:endParaRPr lang="en-US" sz="4600" dirty="0"/>
          </a:p>
        </p:txBody>
      </p:sp>
      <p:sp>
        <p:nvSpPr>
          <p:cNvPr id="4" name="Text 2"/>
          <p:cNvSpPr txBox="1"/>
          <p:nvPr/>
        </p:nvSpPr>
        <p:spPr>
          <a:xfrm>
            <a:off x="10795000" y="6322060"/>
            <a:ext cx="889000" cy="264160"/>
          </a:xfrm>
          <a:prstGeom prst="rect">
            <a:avLst/>
          </a:prstGeom>
          <a:noFill/>
          <a:ln/>
        </p:spPr>
        <p:txBody>
          <a:bodyPr wrap="square" lIns="0" tIns="0" rIns="0" bIns="0" rtlCol="0" anchor="t"/>
          <a:lstStyle/>
          <a:p>
            <a:pPr algn="r" indent="0" marL="0">
              <a:lnSpc>
                <a:spcPct val="120000"/>
              </a:lnSpc>
              <a:buNone/>
            </a:pPr>
            <a:r>
              <a:rPr lang="en-US" sz="1300" dirty="0">
                <a:solidFill>
                  <a:srgbClr val="595959"/>
                </a:solidFill>
                <a:latin typeface="Roboto" pitchFamily="34" charset="0"/>
                <a:ea typeface="Roboto" pitchFamily="34" charset="-122"/>
                <a:cs typeface="Roboto" pitchFamily="34" charset="-120"/>
              </a:rPr>
              <a:t>1</a:t>
            </a:r>
            <a:endParaRPr lang="en-US" sz="1300" dirty="0"/>
          </a:p>
        </p:txBody>
      </p:sp>
      <p:sp>
        <p:nvSpPr>
          <p:cNvPr id="6" name="Text 3"/>
          <p:cNvSpPr txBox="1"/>
          <p:nvPr/>
        </p:nvSpPr>
        <p:spPr>
          <a:xfrm>
            <a:off x="660400" y="1447800"/>
            <a:ext cx="10871200" cy="520243"/>
          </a:xfrm>
          <a:prstGeom prst="rect">
            <a:avLst/>
          </a:prstGeom>
          <a:noFill/>
          <a:ln/>
        </p:spPr>
        <p:txBody>
          <a:bodyPr wrap="square" lIns="0" tIns="0" rIns="0" bIns="0" rtlCol="0" anchor="t"/>
          <a:lstStyle/>
          <a:p>
            <a:pPr indent="0" marL="0">
              <a:lnSpc>
                <a:spcPct val="140000"/>
              </a:lnSpc>
              <a:buNone/>
            </a:pPr>
            <a:r>
              <a:rPr lang="en-US" sz="2200" dirty="0">
                <a:solidFill>
                  <a:srgbClr val="FF0000"/>
                </a:solidFill>
                <a:latin typeface="Roboto" pitchFamily="34" charset="0"/>
                <a:ea typeface="Roboto" pitchFamily="34" charset="-122"/>
                <a:cs typeface="Roboto" pitchFamily="34" charset="-120"/>
              </a:rPr>
              <a:t>• </a:t>
            </a:r>
            <a:pPr indent="0" marL="0">
              <a:lnSpc>
                <a:spcPct val="140000"/>
              </a:lnSpc>
              <a:buNone/>
            </a:pPr>
            <a:r>
              <a:rPr lang="en-US" sz="2200" b="1" dirty="0">
                <a:solidFill>
                  <a:srgbClr val="FF0000"/>
                </a:solidFill>
                <a:latin typeface="Roboto" pitchFamily="34" charset="0"/>
                <a:ea typeface="Roboto" pitchFamily="34" charset="-122"/>
                <a:cs typeface="Roboto" pitchFamily="34" charset="-120"/>
              </a:rPr>
              <a:t>Blazegraph is no longer maintained</a:t>
            </a:r>
            <a:endParaRPr lang="en-US" sz="2200" dirty="0"/>
          </a:p>
        </p:txBody>
      </p:sp>
      <p:sp>
        <p:nvSpPr>
          <p:cNvPr id="7" name="Text 4"/>
          <p:cNvSpPr txBox="1"/>
          <p:nvPr/>
        </p:nvSpPr>
        <p:spPr>
          <a:xfrm>
            <a:off x="660400" y="2133143"/>
            <a:ext cx="10871200" cy="520243"/>
          </a:xfrm>
          <a:prstGeom prst="rect">
            <a:avLst/>
          </a:prstGeom>
          <a:noFill/>
          <a:ln/>
        </p:spPr>
        <p:txBody>
          <a:bodyPr wrap="square" lIns="0" tIns="0" rIns="0" bIns="0" rtlCol="0" anchor="t"/>
          <a:lstStyle/>
          <a:p>
            <a:pPr indent="0" marL="0">
              <a:lnSpc>
                <a:spcPct val="140000"/>
              </a:lnSpc>
              <a:buNone/>
            </a:pPr>
            <a:r>
              <a:rPr lang="en-US" sz="2200" dirty="0">
                <a:solidFill>
                  <a:srgbClr val="000000"/>
                </a:solidFill>
                <a:latin typeface="Roboto" pitchFamily="34" charset="0"/>
                <a:ea typeface="Roboto" pitchFamily="34" charset="-122"/>
                <a:cs typeface="Roboto" pitchFamily="34" charset="-120"/>
              </a:rPr>
              <a:t>• </a:t>
            </a:r>
            <a:pPr indent="0" marL="0">
              <a:lnSpc>
                <a:spcPct val="140000"/>
              </a:lnSpc>
              <a:buNone/>
            </a:pPr>
            <a:r>
              <a:rPr lang="en-US" sz="2200" b="1" dirty="0">
                <a:solidFill>
                  <a:srgbClr val="000000"/>
                </a:solidFill>
                <a:latin typeface="Roboto" pitchFamily="34" charset="0"/>
                <a:ea typeface="Roboto" pitchFamily="34" charset="-122"/>
                <a:cs typeface="Roboto" pitchFamily="34" charset="-120"/>
              </a:rPr>
              <a:t>QLever is maintained, and six times smaller</a:t>
            </a:r>
            <a:endParaRPr lang="en-US" sz="2200" dirty="0"/>
          </a:p>
        </p:txBody>
      </p:sp>
      <p:sp>
        <p:nvSpPr>
          <p:cNvPr id="8" name="Text 5"/>
          <p:cNvSpPr txBox="1"/>
          <p:nvPr/>
        </p:nvSpPr>
        <p:spPr>
          <a:xfrm>
            <a:off x="1219200" y="2818486"/>
            <a:ext cx="10312400" cy="449301"/>
          </a:xfrm>
          <a:prstGeom prst="rect">
            <a:avLst/>
          </a:prstGeom>
          <a:noFill/>
          <a:ln/>
        </p:spPr>
        <p:txBody>
          <a:bodyPr wrap="square" lIns="0" tIns="0" rIns="0" bIns="0" rtlCol="0" anchor="t"/>
          <a:lstStyle/>
          <a:p>
            <a:pPr indent="0" marL="0">
              <a:lnSpc>
                <a:spcPct val="140000"/>
              </a:lnSpc>
              <a:buNone/>
            </a:pPr>
            <a:r>
              <a:rPr lang="en-US" sz="1900" dirty="0">
                <a:solidFill>
                  <a:srgbClr val="000000"/>
                </a:solidFill>
                <a:latin typeface="Roboto" pitchFamily="34" charset="0"/>
                <a:ea typeface="Roboto" pitchFamily="34" charset="-122"/>
                <a:cs typeface="Roboto" pitchFamily="34" charset="-120"/>
              </a:rPr>
              <a:t>• </a:t>
            </a:r>
            <a:pPr indent="0" marL="0">
              <a:lnSpc>
                <a:spcPct val="140000"/>
              </a:lnSpc>
              <a:buNone/>
            </a:pPr>
            <a:r>
              <a:rPr lang="en-US" sz="1900" b="1" dirty="0">
                <a:solidFill>
                  <a:srgbClr val="38761D"/>
                </a:solidFill>
                <a:latin typeface="Roboto" pitchFamily="34" charset="0"/>
                <a:ea typeface="Roboto" pitchFamily="34" charset="-122"/>
                <a:cs typeface="Roboto" pitchFamily="34" charset="-120"/>
              </a:rPr>
              <a:t>283 MB</a:t>
            </a:r>
            <a:pPr indent="0" marL="0">
              <a:lnSpc>
                <a:spcPct val="140000"/>
              </a:lnSpc>
              <a:buNone/>
            </a:pPr>
            <a:r>
              <a:rPr lang="en-US" sz="1900" dirty="0">
                <a:solidFill>
                  <a:srgbClr val="000000"/>
                </a:solidFill>
                <a:latin typeface="Roboto" pitchFamily="34" charset="0"/>
                <a:ea typeface="Roboto" pitchFamily="34" charset="-122"/>
                <a:cs typeface="Roboto" pitchFamily="34" charset="-120"/>
              </a:rPr>
              <a:t> against </a:t>
            </a:r>
            <a:pPr indent="0" marL="0">
              <a:lnSpc>
                <a:spcPct val="140000"/>
              </a:lnSpc>
              <a:buNone/>
            </a:pPr>
            <a:r>
              <a:rPr lang="en-US" sz="1900" b="1" dirty="0">
                <a:solidFill>
                  <a:srgbClr val="000000"/>
                </a:solidFill>
                <a:latin typeface="Roboto" pitchFamily="34" charset="0"/>
                <a:ea typeface="Roboto" pitchFamily="34" charset="-122"/>
                <a:cs typeface="Roboto" pitchFamily="34" charset="-120"/>
              </a:rPr>
              <a:t>1.7 GB</a:t>
            </a:r>
            <a:pPr indent="0" marL="0">
              <a:lnSpc>
                <a:spcPct val="140000"/>
              </a:lnSpc>
              <a:buNone/>
            </a:pPr>
            <a:r>
              <a:rPr lang="en-US" sz="1900" dirty="0">
                <a:solidFill>
                  <a:srgbClr val="000000"/>
                </a:solidFill>
                <a:latin typeface="Roboto" pitchFamily="34" charset="0"/>
                <a:ea typeface="Roboto" pitchFamily="34" charset="-122"/>
                <a:cs typeface="Roboto" pitchFamily="34" charset="-120"/>
              </a:rPr>
              <a:t>, for the same 10,916,457 triples</a:t>
            </a:r>
            <a:endParaRPr lang="en-US" sz="1900" dirty="0"/>
          </a:p>
        </p:txBody>
      </p:sp>
      <p:sp>
        <p:nvSpPr>
          <p:cNvPr id="9" name="Text 6"/>
          <p:cNvSpPr txBox="1"/>
          <p:nvPr/>
        </p:nvSpPr>
        <p:spPr>
          <a:xfrm>
            <a:off x="660400" y="3432886"/>
            <a:ext cx="10871200" cy="520243"/>
          </a:xfrm>
          <a:prstGeom prst="rect">
            <a:avLst/>
          </a:prstGeom>
          <a:noFill/>
          <a:ln/>
        </p:spPr>
        <p:txBody>
          <a:bodyPr wrap="square" lIns="0" tIns="0" rIns="0" bIns="0" rtlCol="0" anchor="t"/>
          <a:lstStyle/>
          <a:p>
            <a:pPr indent="0" marL="0">
              <a:lnSpc>
                <a:spcPct val="140000"/>
              </a:lnSpc>
              <a:buNone/>
            </a:pPr>
            <a:r>
              <a:rPr lang="en-US" sz="2200" dirty="0">
                <a:solidFill>
                  <a:srgbClr val="FF0000"/>
                </a:solidFill>
                <a:latin typeface="Roboto" pitchFamily="34" charset="0"/>
                <a:ea typeface="Roboto" pitchFamily="34" charset="-122"/>
                <a:cs typeface="Roboto" pitchFamily="34" charset="-120"/>
              </a:rPr>
              <a:t>• </a:t>
            </a:r>
            <a:pPr indent="0" marL="0">
              <a:lnSpc>
                <a:spcPct val="140000"/>
              </a:lnSpc>
              <a:buNone/>
            </a:pPr>
            <a:r>
              <a:rPr lang="en-US" sz="2200" b="1" dirty="0">
                <a:solidFill>
                  <a:srgbClr val="FF0000"/>
                </a:solidFill>
                <a:latin typeface="Roboto" pitchFamily="34" charset="0"/>
                <a:ea typeface="Roboto" pitchFamily="34" charset="-122"/>
                <a:cs typeface="Roboto" pitchFamily="34" charset="-120"/>
              </a:rPr>
              <a:t>But it has no augmented B+tree</a:t>
            </a:r>
            <a:endParaRPr lang="en-US" sz="2200" dirty="0"/>
          </a:p>
        </p:txBody>
      </p:sp>
      <p:sp>
        <p:nvSpPr>
          <p:cNvPr id="10" name="Text 7"/>
          <p:cNvSpPr txBox="1"/>
          <p:nvPr/>
        </p:nvSpPr>
        <p:spPr>
          <a:xfrm>
            <a:off x="1219200" y="4118229"/>
            <a:ext cx="10312400" cy="898601"/>
          </a:xfrm>
          <a:prstGeom prst="rect">
            <a:avLst/>
          </a:prstGeom>
          <a:noFill/>
          <a:ln/>
        </p:spPr>
        <p:txBody>
          <a:bodyPr wrap="square" lIns="0" tIns="0" rIns="0" bIns="0" rtlCol="0" anchor="t"/>
          <a:lstStyle/>
          <a:p>
            <a:pPr indent="0" marL="0">
              <a:lnSpc>
                <a:spcPct val="140000"/>
              </a:lnSpc>
              <a:buNone/>
            </a:pPr>
            <a:r>
              <a:rPr lang="en-US" sz="1900" dirty="0">
                <a:solidFill>
                  <a:srgbClr val="000000"/>
                </a:solidFill>
                <a:latin typeface="Roboto" pitchFamily="34" charset="0"/>
                <a:ea typeface="Roboto" pitchFamily="34" charset="-122"/>
                <a:cs typeface="Roboto" pitchFamily="34" charset="-120"/>
              </a:rPr>
              <a:t>• </a:t>
            </a:r>
            <a:pPr indent="0" marL="0">
              <a:lnSpc>
                <a:spcPct val="140000"/>
              </a:lnSpc>
              <a:buNone/>
            </a:pPr>
            <a:r>
              <a:rPr lang="en-US" sz="1900" dirty="0">
                <a:solidFill>
                  <a:srgbClr val="000000"/>
                </a:solidFill>
                <a:latin typeface="Roboto" pitchFamily="34" charset="0"/>
                <a:ea typeface="Roboto" pitchFamily="34" charset="-122"/>
                <a:cs typeface="Roboto" pitchFamily="34" charset="-120"/>
              </a:rPr>
              <a:t>no </a:t>
            </a:r>
            <a:pPr indent="0" marL="0">
              <a:lnSpc>
                <a:spcPct val="140000"/>
              </a:lnSpc>
              <a:buNone/>
            </a:pPr>
            <a:r>
              <a:rPr lang="en-US" sz="1900" b="1" dirty="0">
                <a:solidFill>
                  <a:srgbClr val="000000"/>
                </a:solidFill>
                <a:latin typeface="Roboto" pitchFamily="34" charset="0"/>
                <a:ea typeface="Roboto" pitchFamily="34" charset="-122"/>
                <a:cs typeface="Roboto" pitchFamily="34" charset="-120"/>
              </a:rPr>
              <a:t>rangeCount</a:t>
            </a:r>
            <a:pPr indent="0" marL="0">
              <a:lnSpc>
                <a:spcPct val="140000"/>
              </a:lnSpc>
              <a:buNone/>
            </a:pPr>
            <a:r>
              <a:rPr lang="en-US" sz="1900" dirty="0">
                <a:solidFill>
                  <a:srgbClr val="000000"/>
                </a:solidFill>
                <a:latin typeface="Roboto" pitchFamily="34" charset="0"/>
                <a:ea typeface="Roboto" pitchFamily="34" charset="-122"/>
                <a:cs typeface="Roboto" pitchFamily="34" charset="-120"/>
              </a:rPr>
              <a:t>, no </a:t>
            </a:r>
            <a:pPr indent="0" marL="0">
              <a:lnSpc>
                <a:spcPct val="140000"/>
              </a:lnSpc>
              <a:spcAft>
                <a:spcPts val="665"/>
              </a:spcAft>
              <a:buNone/>
            </a:pPr>
            <a:r>
              <a:rPr lang="en-US" sz="1900" b="1" dirty="0">
                <a:solidFill>
                  <a:srgbClr val="000000"/>
                </a:solidFill>
                <a:latin typeface="Roboto" pitchFamily="34" charset="0"/>
                <a:ea typeface="Roboto" pitchFamily="34" charset="-122"/>
                <a:cs typeface="Roboto" pitchFamily="34" charset="-120"/>
              </a:rPr>
              <a:t>keyAt(rank)</a:t>
            </a:r>
            <a:endParaRPr lang="en-US" sz="1900" dirty="0"/>
          </a:p>
          <a:p>
            <a:pPr indent="0" marL="0">
              <a:lnSpc>
                <a:spcPct val="140000"/>
              </a:lnSpc>
              <a:buNone/>
            </a:pPr>
            <a:r>
              <a:rPr lang="en-US" sz="1900" dirty="0">
                <a:solidFill>
                  <a:srgbClr val="000000"/>
                </a:solidFill>
                <a:latin typeface="Roboto" pitchFamily="34" charset="0"/>
                <a:ea typeface="Roboto" pitchFamily="34" charset="-122"/>
                <a:cs typeface="Roboto" pitchFamily="34" charset="-120"/>
              </a:rPr>
              <a:t>• </a:t>
            </a:r>
            <a:pPr indent="0" marL="0">
              <a:lnSpc>
                <a:spcPct val="140000"/>
              </a:lnSpc>
              <a:buNone/>
            </a:pPr>
            <a:r>
              <a:rPr lang="en-US" sz="1900" dirty="0">
                <a:solidFill>
                  <a:srgbClr val="000000"/>
                </a:solidFill>
                <a:latin typeface="Roboto" pitchFamily="34" charset="0"/>
                <a:ea typeface="Roboto" pitchFamily="34" charset="-122"/>
                <a:cs typeface="Roboto" pitchFamily="34" charset="-120"/>
              </a:rPr>
              <a:t>which are exactly the two questions a continuation asks</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155700"/>
          </a:xfrm>
          <a:prstGeom prst="rect">
            <a:avLst/>
          </a:prstGeom>
          <a:solidFill>
            <a:srgbClr val="0084D1"/>
          </a:solidFill>
          <a:ln/>
        </p:spPr>
      </p:sp>
      <p:sp>
        <p:nvSpPr>
          <p:cNvPr id="3" name="Text 1"/>
          <p:cNvSpPr txBox="1"/>
          <p:nvPr/>
        </p:nvSpPr>
        <p:spPr>
          <a:xfrm>
            <a:off x="0" y="228600"/>
            <a:ext cx="12192000" cy="934720"/>
          </a:xfrm>
          <a:prstGeom prst="rect">
            <a:avLst/>
          </a:prstGeom>
          <a:noFill/>
          <a:ln/>
        </p:spPr>
        <p:txBody>
          <a:bodyPr wrap="square" lIns="0" tIns="0" rIns="0" bIns="0" rtlCol="0" anchor="t"/>
          <a:lstStyle/>
          <a:p>
            <a:pPr algn="ctr" indent="0" marL="0">
              <a:lnSpc>
                <a:spcPct val="110000"/>
              </a:lnSpc>
              <a:buNone/>
            </a:pPr>
            <a:r>
              <a:rPr lang="en-US" sz="4600" b="1" dirty="0">
                <a:solidFill>
                  <a:srgbClr val="FFFFFF"/>
                </a:solidFill>
                <a:latin typeface="Roboto Slab" pitchFamily="34" charset="0"/>
                <a:ea typeface="Roboto Slab" pitchFamily="34" charset="-122"/>
                <a:cs typeface="Roboto Slab" pitchFamily="34" charset="-120"/>
              </a:rPr>
              <a:t>Wikidata reached the same conclusion</a:t>
            </a:r>
            <a:endParaRPr lang="en-US" sz="4600" dirty="0"/>
          </a:p>
        </p:txBody>
      </p:sp>
      <p:sp>
        <p:nvSpPr>
          <p:cNvPr id="4" name="Text 2"/>
          <p:cNvSpPr txBox="1"/>
          <p:nvPr/>
        </p:nvSpPr>
        <p:spPr>
          <a:xfrm>
            <a:off x="10795000" y="6347460"/>
            <a:ext cx="889000" cy="264160"/>
          </a:xfrm>
          <a:prstGeom prst="rect">
            <a:avLst/>
          </a:prstGeom>
          <a:noFill/>
          <a:ln/>
        </p:spPr>
        <p:txBody>
          <a:bodyPr wrap="square" lIns="0" tIns="0" rIns="0" bIns="0" rtlCol="0" anchor="t"/>
          <a:lstStyle/>
          <a:p>
            <a:pPr algn="r" indent="0" marL="0">
              <a:lnSpc>
                <a:spcPct val="120000"/>
              </a:lnSpc>
              <a:buNone/>
            </a:pPr>
            <a:r>
              <a:rPr lang="en-US" sz="1300" dirty="0">
                <a:solidFill>
                  <a:srgbClr val="595959"/>
                </a:solidFill>
                <a:latin typeface="Roboto" pitchFamily="34" charset="0"/>
                <a:ea typeface="Roboto" pitchFamily="34" charset="-122"/>
                <a:cs typeface="Roboto" pitchFamily="34" charset="-120"/>
              </a:rPr>
              <a:t>2</a:t>
            </a:r>
            <a:endParaRPr lang="en-US" sz="1300" dirty="0"/>
          </a:p>
        </p:txBody>
      </p:sp>
      <p:sp>
        <p:nvSpPr>
          <p:cNvPr id="6" name="Text 3"/>
          <p:cNvSpPr txBox="1"/>
          <p:nvPr/>
        </p:nvSpPr>
        <p:spPr>
          <a:xfrm>
            <a:off x="660400" y="1358900"/>
            <a:ext cx="10871200" cy="611275"/>
          </a:xfrm>
          <a:prstGeom prst="rect">
            <a:avLst/>
          </a:prstGeom>
          <a:noFill/>
          <a:ln/>
        </p:spPr>
        <p:txBody>
          <a:bodyPr wrap="square" lIns="0" tIns="0" rIns="0" bIns="0" rtlCol="0" anchor="t"/>
          <a:lstStyle/>
          <a:p>
            <a:pPr algn="l" indent="0" marL="0">
              <a:lnSpc>
                <a:spcPct val="140000"/>
              </a:lnSpc>
              <a:buNone/>
            </a:pPr>
            <a:r>
              <a:rPr lang="en-US" sz="1592" dirty="0">
                <a:solidFill>
                  <a:srgbClr val="000000"/>
                </a:solidFill>
                <a:latin typeface="Roboto" pitchFamily="34" charset="0"/>
                <a:ea typeface="Roboto" pitchFamily="34" charset="-122"/>
                <a:cs typeface="Roboto" pitchFamily="34" charset="-120"/>
              </a:rPr>
              <a:t>The Wikidata Platform Team proposes </a:t>
            </a:r>
            <a:pPr algn="l" indent="0" marL="0">
              <a:lnSpc>
                <a:spcPct val="140000"/>
              </a:lnSpc>
              <a:buNone/>
            </a:pPr>
            <a:r>
              <a:rPr lang="en-US" sz="1592" b="1" dirty="0">
                <a:solidFill>
                  <a:srgbClr val="000000"/>
                </a:solidFill>
                <a:latin typeface="Roboto" pitchFamily="34" charset="0"/>
                <a:ea typeface="Roboto" pitchFamily="34" charset="-122"/>
                <a:cs typeface="Roboto" pitchFamily="34" charset="-120"/>
              </a:rPr>
              <a:t>QLever</a:t>
            </a:r>
            <a:pPr algn="l" indent="0" marL="0">
              <a:lnSpc>
                <a:spcPct val="140000"/>
              </a:lnSpc>
              <a:buNone/>
            </a:pPr>
            <a:r>
              <a:rPr lang="en-US" sz="1592" dirty="0">
                <a:solidFill>
                  <a:srgbClr val="000000"/>
                </a:solidFill>
                <a:latin typeface="Roboto" pitchFamily="34" charset="0"/>
                <a:ea typeface="Roboto" pitchFamily="34" charset="-122"/>
                <a:cs typeface="Roboto" pitchFamily="34" charset="-120"/>
              </a:rPr>
              <a:t> as the replacement for Blazegraph in the Wikidata Query Service. Their reasons, quoted:</a:t>
            </a:r>
            <a:endParaRPr lang="en-US" sz="1592" dirty="0"/>
          </a:p>
        </p:txBody>
      </p:sp>
      <p:sp>
        <p:nvSpPr>
          <p:cNvPr id="7" name="Text 4"/>
          <p:cNvSpPr txBox="1"/>
          <p:nvPr/>
        </p:nvSpPr>
        <p:spPr>
          <a:xfrm>
            <a:off x="660400" y="2112863"/>
            <a:ext cx="10871200" cy="847296"/>
          </a:xfrm>
          <a:prstGeom prst="rect">
            <a:avLst/>
          </a:prstGeom>
          <a:solidFill>
            <a:srgbClr val="F2F8FD"/>
          </a:solidFill>
          <a:ln/>
        </p:spPr>
        <p:txBody>
          <a:bodyPr wrap="square" lIns="127000" tIns="127000" rIns="127000" bIns="127000" rtlCol="0" anchor="t"/>
          <a:lstStyle/>
          <a:p>
            <a:pPr algn="l" indent="0" marL="0">
              <a:lnSpc>
                <a:spcPct val="140000"/>
              </a:lnSpc>
              <a:buNone/>
            </a:pPr>
            <a:r>
              <a:rPr lang="en-US" sz="1545" dirty="0">
                <a:solidFill>
                  <a:srgbClr val="000000"/>
                </a:solidFill>
                <a:latin typeface="Roboto" pitchFamily="34" charset="0"/>
                <a:ea typeface="Roboto" pitchFamily="34" charset="-122"/>
                <a:cs typeface="Roboto" pitchFamily="34" charset="-120"/>
              </a:rPr>
              <a:t>“an open source project that has gone </a:t>
            </a:r>
            <a:pPr algn="l" indent="0" marL="0">
              <a:lnSpc>
                <a:spcPct val="140000"/>
              </a:lnSpc>
              <a:buNone/>
            </a:pPr>
            <a:r>
              <a:rPr lang="en-US" sz="1545" b="1" dirty="0">
                <a:solidFill>
                  <a:srgbClr val="000000"/>
                </a:solidFill>
                <a:latin typeface="Roboto" pitchFamily="34" charset="0"/>
                <a:ea typeface="Roboto" pitchFamily="34" charset="-122"/>
                <a:cs typeface="Roboto" pitchFamily="34" charset="-120"/>
              </a:rPr>
              <a:t>unmaintained</a:t>
            </a:r>
            <a:pPr algn="l" indent="0" marL="0">
              <a:lnSpc>
                <a:spcPct val="140000"/>
              </a:lnSpc>
              <a:buNone/>
            </a:pPr>
            <a:r>
              <a:rPr lang="en-US" sz="1545" dirty="0">
                <a:solidFill>
                  <a:srgbClr val="000000"/>
                </a:solidFill>
                <a:latin typeface="Roboto" pitchFamily="34" charset="0"/>
                <a:ea typeface="Roboto" pitchFamily="34" charset="-122"/>
                <a:cs typeface="Roboto" pitchFamily="34" charset="-120"/>
              </a:rPr>
              <a:t> since being acquired by Amazon in 2018”</a:t>
            </a:r>
            <a:pPr algn="l" indent="0" marL="0">
              <a:lnSpc>
                <a:spcPct val="140000"/>
              </a:lnSpc>
              <a:buNone/>
            </a:pPr>
            <a:endParaRPr lang="en-US" sz="1545" dirty="0"/>
          </a:p>
          <a:p>
            <a:pPr algn="l" indent="0" marL="0">
              <a:lnSpc>
                <a:spcPct val="140000"/>
              </a:lnSpc>
              <a:buNone/>
            </a:pPr>
            <a:r>
              <a:rPr lang="en-US" sz="1545" dirty="0">
                <a:solidFill>
                  <a:srgbClr val="000000"/>
                </a:solidFill>
                <a:latin typeface="Roboto" pitchFamily="34" charset="0"/>
                <a:ea typeface="Roboto" pitchFamily="34" charset="-122"/>
                <a:cs typeface="Roboto" pitchFamily="34" charset="-120"/>
              </a:rPr>
              <a:t>“</a:t>
            </a:r>
            <a:pPr algn="l" indent="0" marL="0">
              <a:lnSpc>
                <a:spcPct val="140000"/>
              </a:lnSpc>
              <a:buNone/>
            </a:pPr>
            <a:r>
              <a:rPr lang="en-US" sz="1545" b="1" dirty="0">
                <a:solidFill>
                  <a:srgbClr val="000000"/>
                </a:solidFill>
                <a:latin typeface="Roboto" pitchFamily="34" charset="0"/>
                <a:ea typeface="Roboto" pitchFamily="34" charset="-122"/>
                <a:cs typeface="Roboto" pitchFamily="34" charset="-120"/>
              </a:rPr>
              <a:t>unable to scale</a:t>
            </a:r>
            <a:pPr algn="l" indent="0" marL="0">
              <a:lnSpc>
                <a:spcPct val="140000"/>
              </a:lnSpc>
              <a:buNone/>
            </a:pPr>
            <a:r>
              <a:rPr lang="en-US" sz="1545" dirty="0">
                <a:solidFill>
                  <a:srgbClr val="000000"/>
                </a:solidFill>
                <a:latin typeface="Roboto" pitchFamily="34" charset="0"/>
                <a:ea typeface="Roboto" pitchFamily="34" charset="-122"/>
                <a:cs typeface="Roboto" pitchFamily="34" charset="-120"/>
              </a:rPr>
              <a:t> to meet the growth targets of Wikidata”</a:t>
            </a:r>
            <a:pPr algn="l" indent="0" marL="0">
              <a:lnSpc>
                <a:spcPct val="140000"/>
              </a:lnSpc>
              <a:buNone/>
            </a:pPr>
            <a:endParaRPr lang="en-US" sz="1545" dirty="0"/>
          </a:p>
          <a:p>
            <a:pPr algn="l" indent="0" marL="0">
              <a:lnSpc>
                <a:spcPct val="140000"/>
              </a:lnSpc>
              <a:buNone/>
            </a:pPr>
            <a:r>
              <a:rPr lang="en-US" sz="1545" dirty="0">
                <a:solidFill>
                  <a:srgbClr val="000000"/>
                </a:solidFill>
                <a:latin typeface="Roboto" pitchFamily="34" charset="0"/>
                <a:ea typeface="Roboto" pitchFamily="34" charset="-122"/>
                <a:cs typeface="Roboto" pitchFamily="34" charset="-120"/>
              </a:rPr>
              <a:t>“the cause of much of the </a:t>
            </a:r>
            <a:pPr algn="l" indent="0" marL="0">
              <a:lnSpc>
                <a:spcPct val="140000"/>
              </a:lnSpc>
              <a:buNone/>
            </a:pPr>
            <a:r>
              <a:rPr lang="en-US" sz="1545" b="1" dirty="0">
                <a:solidFill>
                  <a:srgbClr val="000000"/>
                </a:solidFill>
                <a:latin typeface="Roboto" pitchFamily="34" charset="0"/>
                <a:ea typeface="Roboto" pitchFamily="34" charset="-122"/>
                <a:cs typeface="Roboto" pitchFamily="34" charset="-120"/>
              </a:rPr>
              <a:t>volatility</a:t>
            </a:r>
            <a:pPr algn="l" indent="0" marL="0">
              <a:lnSpc>
                <a:spcPct val="140000"/>
              </a:lnSpc>
              <a:buNone/>
            </a:pPr>
            <a:r>
              <a:rPr lang="en-US" sz="1545" dirty="0">
                <a:solidFill>
                  <a:srgbClr val="000000"/>
                </a:solidFill>
                <a:latin typeface="Roboto" pitchFamily="34" charset="0"/>
                <a:ea typeface="Roboto" pitchFamily="34" charset="-122"/>
                <a:cs typeface="Roboto" pitchFamily="34" charset="-120"/>
              </a:rPr>
              <a:t> of the Wikidata Query Service”</a:t>
            </a:r>
            <a:endParaRPr lang="en-US" sz="1545"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60400" y="3102846"/>
          <a:ext cx="10871200" cy="914400"/>
        </p:xfrm>
        <a:graphic>
          <a:graphicData uri="http://schemas.openxmlformats.org/drawingml/2006/table">
            <a:tbl>
              <a:tblPr/>
              <a:tblGrid>
                <a:gridCol w="3261360"/>
                <a:gridCol w="7609840"/>
              </a:tblGrid>
              <a:tr h="0">
                <a:tc>
                  <a:txBody>
                    <a:bodyPr/>
                    <a:lstStyle/>
                    <a:p>
                      <a:pPr algn="l" indent="0" marL="0">
                        <a:buNone/>
                      </a:pPr>
                      <a:r>
                        <a:rPr lang="en-US" sz="1451" b="1" dirty="0">
                          <a:solidFill>
                            <a:srgbClr val="FFFFFF"/>
                          </a:solidFill>
                          <a:latin typeface="Roboto" pitchFamily="34" charset="0"/>
                          <a:ea typeface="Roboto" pitchFamily="34" charset="-122"/>
                          <a:cs typeface="Roboto" pitchFamily="34" charset="-120"/>
                        </a:rPr>
                        <a:t>when</a:t>
                      </a:r>
                      <a:endParaRPr lang="en-US" sz="1451" dirty="0">
                        <a:latin typeface="Roboto" charset="0"/>
                        <a:ea typeface="Roboto" charset="0"/>
                        <a:cs typeface="Roboto" charset="0"/>
                      </a:endParaRPr>
                    </a:p>
                  </a:txBody>
                  <a:tcPr marL="89180" marR="89180" marT="89180" marB="8918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84D1"/>
                    </a:solidFill>
                  </a:tcPr>
                </a:tc>
                <a:tc>
                  <a:txBody>
                    <a:bodyPr/>
                    <a:lstStyle/>
                    <a:p>
                      <a:pPr algn="l" indent="0" marL="0">
                        <a:buNone/>
                      </a:pPr>
                      <a:r>
                        <a:rPr lang="en-US" sz="1451" b="1" dirty="0">
                          <a:solidFill>
                            <a:srgbClr val="FFFFFF"/>
                          </a:solidFill>
                          <a:latin typeface="Roboto" pitchFamily="34" charset="0"/>
                          <a:ea typeface="Roboto" pitchFamily="34" charset="-122"/>
                          <a:cs typeface="Roboto" pitchFamily="34" charset="-120"/>
                        </a:rPr>
                        <a:t>what</a:t>
                      </a:r>
                      <a:endParaRPr lang="en-US" sz="1451" dirty="0">
                        <a:latin typeface="Roboto" charset="0"/>
                        <a:ea typeface="Roboto" charset="0"/>
                        <a:cs typeface="Roboto" charset="0"/>
                      </a:endParaRPr>
                    </a:p>
                  </a:txBody>
                  <a:tcPr marL="89180" marR="89180" marT="89180" marB="8918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84D1"/>
                    </a:solidFill>
                  </a:tcPr>
                </a:tc>
              </a:tr>
              <a:tr h="0">
                <a:tc>
                  <a:txBody>
                    <a:bodyPr/>
                    <a:lstStyle/>
                    <a:p>
                      <a:pPr algn="l" indent="0" marL="0">
                        <a:buNone/>
                      </a:pPr>
                      <a:r>
                        <a:rPr lang="en-US" sz="1451" dirty="0">
                          <a:solidFill>
                            <a:srgbClr val="000000"/>
                          </a:solidFill>
                          <a:latin typeface="Roboto" pitchFamily="34" charset="0"/>
                          <a:ea typeface="Roboto" pitchFamily="34" charset="-122"/>
                          <a:cs typeface="Roboto" pitchFamily="34" charset="-120"/>
                        </a:rPr>
                        <a:t>Oct 2025 – Mar 2026</a:t>
                      </a:r>
                      <a:endParaRPr lang="en-US" sz="1451" dirty="0">
                        <a:latin typeface="Roboto" charset="0"/>
                        <a:ea typeface="Roboto" charset="0"/>
                        <a:cs typeface="Roboto" charset="0"/>
                      </a:endParaRPr>
                    </a:p>
                  </a:txBody>
                  <a:tcPr marL="89180" marR="89180" marT="89180" marB="8918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451" dirty="0">
                          <a:solidFill>
                            <a:srgbClr val="000000"/>
                          </a:solidFill>
                          <a:latin typeface="Roboto" pitchFamily="34" charset="0"/>
                          <a:ea typeface="Roboto" pitchFamily="34" charset="-122"/>
                          <a:cs typeface="Roboto" pitchFamily="34" charset="-120"/>
                        </a:rPr>
                        <a:t>benchmarking and production-replay testing of the candidates</a:t>
                      </a:r>
                      <a:endParaRPr lang="en-US" sz="1451" dirty="0">
                        <a:latin typeface="Roboto" charset="0"/>
                        <a:ea typeface="Roboto" charset="0"/>
                        <a:cs typeface="Roboto" charset="0"/>
                      </a:endParaRPr>
                    </a:p>
                  </a:txBody>
                  <a:tcPr marL="89180" marR="89180" marT="89180" marB="8918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0">
                <a:tc>
                  <a:txBody>
                    <a:bodyPr/>
                    <a:lstStyle/>
                    <a:p>
                      <a:pPr algn="l" indent="0" marL="0">
                        <a:buNone/>
                      </a:pPr>
                      <a:r>
                        <a:rPr lang="en-US" sz="1451" dirty="0">
                          <a:solidFill>
                            <a:srgbClr val="000000"/>
                          </a:solidFill>
                          <a:latin typeface="Roboto" pitchFamily="34" charset="0"/>
                          <a:ea typeface="Roboto" pitchFamily="34" charset="-122"/>
                          <a:cs typeface="Roboto" pitchFamily="34" charset="-120"/>
                        </a:rPr>
                        <a:t>November 2025</a:t>
                      </a:r>
                      <a:endParaRPr lang="en-US" sz="1451" dirty="0">
                        <a:latin typeface="Roboto" charset="0"/>
                        <a:ea typeface="Roboto" charset="0"/>
                        <a:cs typeface="Roboto" charset="0"/>
                      </a:endParaRPr>
                    </a:p>
                  </a:txBody>
                  <a:tcPr marL="89180" marR="89180" marT="89180" marB="8918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451" dirty="0">
                          <a:solidFill>
                            <a:srgbClr val="000000"/>
                          </a:solidFill>
                          <a:latin typeface="Roboto" pitchFamily="34" charset="0"/>
                          <a:ea typeface="Roboto" pitchFamily="34" charset="-122"/>
                          <a:cs typeface="Roboto" pitchFamily="34" charset="-120"/>
                        </a:rPr>
                        <a:t>triple store evaluation report published</a:t>
                      </a:r>
                      <a:endParaRPr lang="en-US" sz="1451" dirty="0">
                        <a:latin typeface="Roboto" charset="0"/>
                        <a:ea typeface="Roboto" charset="0"/>
                        <a:cs typeface="Roboto" charset="0"/>
                      </a:endParaRPr>
                    </a:p>
                  </a:txBody>
                  <a:tcPr marL="89180" marR="89180" marT="89180" marB="8918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0">
                <a:tc>
                  <a:txBody>
                    <a:bodyPr/>
                    <a:lstStyle/>
                    <a:p>
                      <a:pPr algn="l" indent="0" marL="0">
                        <a:buNone/>
                      </a:pPr>
                      <a:r>
                        <a:rPr lang="en-US" sz="1451" dirty="0">
                          <a:solidFill>
                            <a:srgbClr val="000000"/>
                          </a:solidFill>
                          <a:latin typeface="Roboto" pitchFamily="34" charset="0"/>
                          <a:ea typeface="Roboto" pitchFamily="34" charset="-122"/>
                          <a:cs typeface="Roboto" pitchFamily="34" charset="-120"/>
                        </a:rPr>
                        <a:t>April 2026</a:t>
                      </a:r>
                      <a:endParaRPr lang="en-US" sz="1451" dirty="0">
                        <a:latin typeface="Roboto" charset="0"/>
                        <a:ea typeface="Roboto" charset="0"/>
                        <a:cs typeface="Roboto" charset="0"/>
                      </a:endParaRPr>
                    </a:p>
                  </a:txBody>
                  <a:tcPr marL="89180" marR="89180" marT="89180" marB="8918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451" dirty="0">
                          <a:solidFill>
                            <a:srgbClr val="000000"/>
                          </a:solidFill>
                          <a:latin typeface="Roboto" pitchFamily="34" charset="0"/>
                          <a:ea typeface="Roboto" pitchFamily="34" charset="-122"/>
                          <a:cs typeface="Roboto" pitchFamily="34" charset="-120"/>
                        </a:rPr>
                        <a:t>contractor engaged for documentation and query rewriting</a:t>
                      </a:r>
                      <a:endParaRPr lang="en-US" sz="1451" dirty="0">
                        <a:latin typeface="Roboto" charset="0"/>
                        <a:ea typeface="Roboto" charset="0"/>
                        <a:cs typeface="Roboto" charset="0"/>
                      </a:endParaRPr>
                    </a:p>
                  </a:txBody>
                  <a:tcPr marL="89180" marR="89180" marT="89180" marB="8918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0">
                <a:tc>
                  <a:txBody>
                    <a:bodyPr/>
                    <a:lstStyle/>
                    <a:p>
                      <a:pPr algn="l" indent="0" marL="0">
                        <a:buNone/>
                      </a:pPr>
                      <a:r>
                        <a:rPr lang="en-US" sz="1451" b="1" dirty="0">
                          <a:solidFill>
                            <a:srgbClr val="000000"/>
                          </a:solidFill>
                          <a:latin typeface="Roboto" pitchFamily="34" charset="0"/>
                          <a:ea typeface="Roboto" pitchFamily="34" charset="-122"/>
                          <a:cs typeface="Roboto" pitchFamily="34" charset="-120"/>
                        </a:rPr>
                        <a:t>17–23 Oct 2026</a:t>
                      </a:r>
                      <a:endParaRPr lang="en-US" sz="1451" dirty="0">
                        <a:latin typeface="Roboto" charset="0"/>
                        <a:ea typeface="Roboto" charset="0"/>
                        <a:cs typeface="Roboto" charset="0"/>
                      </a:endParaRPr>
                    </a:p>
                  </a:txBody>
                  <a:tcPr marL="89180" marR="89180" marT="89180" marB="8918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2CC"/>
                    </a:solidFill>
                  </a:tcPr>
                </a:tc>
                <a:tc>
                  <a:txBody>
                    <a:bodyPr/>
                    <a:lstStyle/>
                    <a:p>
                      <a:pPr algn="l" indent="0" marL="0">
                        <a:buNone/>
                      </a:pPr>
                      <a:r>
                        <a:rPr lang="en-US" sz="1451" b="1" dirty="0">
                          <a:solidFill>
                            <a:srgbClr val="000000"/>
                          </a:solidFill>
                          <a:latin typeface="Roboto" pitchFamily="34" charset="0"/>
                          <a:ea typeface="Roboto" pitchFamily="34" charset="-122"/>
                          <a:cs typeface="Roboto" pitchFamily="34" charset="-120"/>
                        </a:rPr>
                        <a:t>Query Service Days: the migration from Blazegraph to QLever</a:t>
                      </a:r>
                      <a:endParaRPr lang="en-US" sz="1451" dirty="0">
                        <a:latin typeface="Roboto" charset="0"/>
                        <a:ea typeface="Roboto" charset="0"/>
                        <a:cs typeface="Roboto" charset="0"/>
                      </a:endParaRPr>
                    </a:p>
                  </a:txBody>
                  <a:tcPr marL="89180" marR="89180" marT="89180" marB="8918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2CC"/>
                    </a:solidFill>
                  </a:tcPr>
                </a:tc>
              </a:tr>
            </a:tbl>
          </a:graphicData>
        </a:graphic>
      </p:graphicFrame>
      <p:sp>
        <p:nvSpPr>
          <p:cNvPr id="9" name="Text 5"/>
          <p:cNvSpPr txBox="1"/>
          <p:nvPr/>
        </p:nvSpPr>
        <p:spPr>
          <a:xfrm>
            <a:off x="660400" y="5519622"/>
            <a:ext cx="10871200" cy="575317"/>
          </a:xfrm>
          <a:prstGeom prst="rect">
            <a:avLst/>
          </a:prstGeom>
          <a:noFill/>
          <a:ln/>
        </p:spPr>
        <p:txBody>
          <a:bodyPr wrap="square" lIns="0" tIns="0" rIns="0" bIns="0" rtlCol="0" anchor="t"/>
          <a:lstStyle/>
          <a:p>
            <a:pPr algn="l" indent="0" marL="0">
              <a:lnSpc>
                <a:spcPct val="140000"/>
              </a:lnSpc>
              <a:buNone/>
            </a:pPr>
            <a:r>
              <a:rPr lang="en-US" sz="1498" b="1" dirty="0">
                <a:solidFill>
                  <a:srgbClr val="000000"/>
                </a:solidFill>
                <a:latin typeface="Roboto" pitchFamily="34" charset="0"/>
                <a:ea typeface="Roboto" pitchFamily="34" charset="-122"/>
                <a:cs typeface="Roboto" pitchFamily="34" charset="-120"/>
              </a:rPr>
              <a:t>Our backend problem is </a:t>
            </a:r>
            <a:pPr algn="l" indent="0" marL="0">
              <a:lnSpc>
                <a:spcPct val="140000"/>
              </a:lnSpc>
              <a:buNone/>
            </a:pPr>
            <a:r>
              <a:rPr lang="en-US" sz="1498" b="1" dirty="0">
                <a:solidFill>
                  <a:srgbClr val="38761D"/>
                </a:solidFill>
                <a:latin typeface="Roboto" pitchFamily="34" charset="0"/>
                <a:ea typeface="Roboto" pitchFamily="34" charset="-122"/>
                <a:cs typeface="Roboto" pitchFamily="34" charset="-120"/>
              </a:rPr>
              <a:t>the same problem the largest public SPARQL endpoint is solving</a:t>
            </a:r>
            <a:pPr algn="l" indent="0" marL="0">
              <a:lnSpc>
                <a:spcPct val="140000"/>
              </a:lnSpc>
              <a:buNone/>
            </a:pPr>
            <a:r>
              <a:rPr lang="en-US" sz="1498" b="1" dirty="0">
                <a:solidFill>
                  <a:srgbClr val="000000"/>
                </a:solidFill>
                <a:latin typeface="Roboto" pitchFamily="34" charset="0"/>
                <a:ea typeface="Roboto" pitchFamily="34" charset="-122"/>
                <a:cs typeface="Roboto" pitchFamily="34" charset="-120"/>
              </a:rPr>
              <a:t> — which is why porting Passage to QLever is worth doing now.</a:t>
            </a:r>
            <a:endParaRPr lang="en-US" sz="1498"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155700"/>
          </a:xfrm>
          <a:prstGeom prst="rect">
            <a:avLst/>
          </a:prstGeom>
          <a:solidFill>
            <a:srgbClr val="0084D1"/>
          </a:solidFill>
          <a:ln/>
        </p:spPr>
      </p:sp>
      <p:sp>
        <p:nvSpPr>
          <p:cNvPr id="3" name="Text 1"/>
          <p:cNvSpPr txBox="1"/>
          <p:nvPr/>
        </p:nvSpPr>
        <p:spPr>
          <a:xfrm>
            <a:off x="0" y="228600"/>
            <a:ext cx="12192000" cy="934720"/>
          </a:xfrm>
          <a:prstGeom prst="rect">
            <a:avLst/>
          </a:prstGeom>
          <a:noFill/>
          <a:ln/>
        </p:spPr>
        <p:txBody>
          <a:bodyPr wrap="square" lIns="0" tIns="0" rIns="0" bIns="0" rtlCol="0" anchor="t"/>
          <a:lstStyle/>
          <a:p>
            <a:pPr algn="ctr" indent="0" marL="0">
              <a:lnSpc>
                <a:spcPct val="110000"/>
              </a:lnSpc>
              <a:buNone/>
            </a:pPr>
            <a:r>
              <a:rPr lang="en-US" sz="4600" b="1" dirty="0">
                <a:solidFill>
                  <a:srgbClr val="FFFFFF"/>
                </a:solidFill>
                <a:latin typeface="Roboto Slab" pitchFamily="34" charset="0"/>
                <a:ea typeface="Roboto Slab" pitchFamily="34" charset="-122"/>
                <a:cs typeface="Roboto Slab" pitchFamily="34" charset="-120"/>
              </a:rPr>
              <a:t>A third-party evaluation</a:t>
            </a:r>
            <a:endParaRPr lang="en-US" sz="4600" dirty="0"/>
          </a:p>
        </p:txBody>
      </p:sp>
      <p:sp>
        <p:nvSpPr>
          <p:cNvPr id="4" name="Text 2"/>
          <p:cNvSpPr txBox="1"/>
          <p:nvPr/>
        </p:nvSpPr>
        <p:spPr>
          <a:xfrm>
            <a:off x="10795000" y="6372860"/>
            <a:ext cx="889000" cy="264160"/>
          </a:xfrm>
          <a:prstGeom prst="rect">
            <a:avLst/>
          </a:prstGeom>
          <a:noFill/>
          <a:ln/>
        </p:spPr>
        <p:txBody>
          <a:bodyPr wrap="square" lIns="0" tIns="0" rIns="0" bIns="0" rtlCol="0" anchor="t"/>
          <a:lstStyle/>
          <a:p>
            <a:pPr algn="r" indent="0" marL="0">
              <a:lnSpc>
                <a:spcPct val="120000"/>
              </a:lnSpc>
              <a:buNone/>
            </a:pPr>
            <a:r>
              <a:rPr lang="en-US" sz="1300" dirty="0">
                <a:solidFill>
                  <a:srgbClr val="595959"/>
                </a:solidFill>
                <a:latin typeface="Roboto" pitchFamily="34" charset="0"/>
                <a:ea typeface="Roboto" pitchFamily="34" charset="-122"/>
                <a:cs typeface="Roboto" pitchFamily="34" charset="-120"/>
              </a:rPr>
              <a:t>3</a:t>
            </a:r>
            <a:endParaRPr lang="en-US" sz="1300" dirty="0"/>
          </a:p>
        </p:txBody>
      </p:sp>
      <p:sp>
        <p:nvSpPr>
          <p:cNvPr id="6" name="Text 3"/>
          <p:cNvSpPr txBox="1"/>
          <p:nvPr/>
        </p:nvSpPr>
        <p:spPr>
          <a:xfrm>
            <a:off x="660400" y="1346200"/>
            <a:ext cx="10871200" cy="467169"/>
          </a:xfrm>
          <a:prstGeom prst="rect">
            <a:avLst/>
          </a:prstGeom>
          <a:noFill/>
          <a:ln/>
        </p:spPr>
        <p:txBody>
          <a:bodyPr wrap="square" lIns="0" tIns="0" rIns="0" bIns="0" rtlCol="0" anchor="t"/>
          <a:lstStyle/>
          <a:p>
            <a:pPr algn="l" indent="0" marL="0">
              <a:lnSpc>
                <a:spcPct val="135000"/>
              </a:lnSpc>
              <a:buNone/>
            </a:pPr>
            <a:r>
              <a:rPr lang="en-US" sz="1261" dirty="0">
                <a:solidFill>
                  <a:srgbClr val="000000"/>
                </a:solidFill>
                <a:latin typeface="Roboto" pitchFamily="34" charset="0"/>
                <a:ea typeface="Roboto" pitchFamily="34" charset="-122"/>
                <a:cs typeface="Roboto" pitchFamily="34" charset="-120"/>
              </a:rPr>
              <a:t>Patel-Schneider, </a:t>
            </a:r>
            <a:pPr algn="l" indent="0" marL="0">
              <a:lnSpc>
                <a:spcPct val="135000"/>
              </a:lnSpc>
              <a:buNone/>
            </a:pPr>
            <a:r>
              <a:rPr lang="en-US" sz="1261" i="1" dirty="0">
                <a:solidFill>
                  <a:srgbClr val="000000"/>
                </a:solidFill>
                <a:latin typeface="Roboto" pitchFamily="34" charset="0"/>
                <a:ea typeface="Roboto" pitchFamily="34" charset="-122"/>
                <a:cs typeface="Roboto" pitchFamily="34" charset="-120"/>
              </a:rPr>
              <a:t>Benchmarking SPARQL Engines on Wikidata Queries</a:t>
            </a:r>
            <a:pPr algn="l" indent="0" marL="0">
              <a:lnSpc>
                <a:spcPct val="135000"/>
              </a:lnSpc>
              <a:buNone/>
            </a:pPr>
            <a:r>
              <a:rPr lang="en-US" sz="1261" dirty="0">
                <a:solidFill>
                  <a:srgbClr val="000000"/>
                </a:solidFill>
                <a:latin typeface="Roboto" pitchFamily="34" charset="0"/>
                <a:ea typeface="Roboto" pitchFamily="34" charset="-122"/>
                <a:cs typeface="Roboto" pitchFamily="34" charset="-120"/>
              </a:rPr>
              <a:t>, Wikidata Workshop at ISWC 2025. Wikidata of October 2024 — </a:t>
            </a:r>
            <a:pPr algn="l" indent="0" marL="0">
              <a:lnSpc>
                <a:spcPct val="135000"/>
              </a:lnSpc>
              <a:buNone/>
            </a:pPr>
            <a:r>
              <a:rPr lang="en-US" sz="1261" b="1" dirty="0">
                <a:solidFill>
                  <a:srgbClr val="000000"/>
                </a:solidFill>
                <a:latin typeface="Roboto" pitchFamily="34" charset="0"/>
                <a:ea typeface="Roboto" pitchFamily="34" charset="-122"/>
                <a:cs typeface="Roboto" pitchFamily="34" charset="-120"/>
              </a:rPr>
              <a:t>~20 billion triples</a:t>
            </a:r>
            <a:pPr algn="l" indent="0" marL="0">
              <a:lnSpc>
                <a:spcPct val="135000"/>
              </a:lnSpc>
              <a:buNone/>
            </a:pPr>
            <a:r>
              <a:rPr lang="en-US" sz="1261" dirty="0">
                <a:solidFill>
                  <a:srgbClr val="000000"/>
                </a:solidFill>
                <a:latin typeface="Roboto" pitchFamily="34" charset="0"/>
                <a:ea typeface="Roboto" pitchFamily="34" charset="-122"/>
                <a:cs typeface="Roboto" pitchFamily="34" charset="-120"/>
              </a:rPr>
              <a:t>, 192 GB of RAM, 10-minute timeout. </a:t>
            </a:r>
            <a:pPr algn="l" indent="0" marL="0">
              <a:lnSpc>
                <a:spcPct val="135000"/>
              </a:lnSpc>
              <a:buNone/>
            </a:pPr>
            <a:r>
              <a:rPr lang="en-US" sz="1261" b="1" dirty="0">
                <a:solidFill>
                  <a:srgbClr val="000000"/>
                </a:solidFill>
                <a:latin typeface="Roboto" pitchFamily="34" charset="0"/>
                <a:ea typeface="Roboto" pitchFamily="34" charset="-122"/>
                <a:cs typeface="Roboto" pitchFamily="34" charset="-120"/>
              </a:rPr>
              <a:t>Four benchmarks</a:t>
            </a:r>
            <a:pPr algn="l" indent="0" marL="0">
              <a:lnSpc>
                <a:spcPct val="135000"/>
              </a:lnSpc>
              <a:buNone/>
            </a:pPr>
            <a:r>
              <a:rPr lang="en-US" sz="1261" dirty="0">
                <a:solidFill>
                  <a:srgbClr val="000000"/>
                </a:solidFill>
                <a:latin typeface="Roboto" pitchFamily="34" charset="0"/>
                <a:ea typeface="Roboto" pitchFamily="34" charset="-122"/>
                <a:cs typeface="Roboto" pitchFamily="34" charset="-120"/>
              </a:rPr>
              <a:t>, not one:</a:t>
            </a:r>
            <a:endParaRPr lang="en-US" sz="1261"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60400" y="1920175"/>
          <a:ext cx="10871200" cy="914400"/>
        </p:xfrm>
        <a:graphic>
          <a:graphicData uri="http://schemas.openxmlformats.org/drawingml/2006/table">
            <a:tbl>
              <a:tblPr/>
              <a:tblGrid>
                <a:gridCol w="2174240"/>
                <a:gridCol w="5000752"/>
                <a:gridCol w="3696208"/>
              </a:tblGrid>
              <a:tr h="0">
                <a:tc>
                  <a:txBody>
                    <a:bodyPr/>
                    <a:lstStyle/>
                    <a:p>
                      <a:pPr algn="l" indent="0" marL="0">
                        <a:buNone/>
                      </a:pPr>
                      <a:r>
                        <a:rPr lang="en-US" sz="1135" b="1" dirty="0">
                          <a:solidFill>
                            <a:srgbClr val="FFFFFF"/>
                          </a:solidFill>
                          <a:latin typeface="Roboto" pitchFamily="34" charset="0"/>
                          <a:ea typeface="Roboto" pitchFamily="34" charset="-122"/>
                          <a:cs typeface="Roboto" pitchFamily="34" charset="-120"/>
                        </a:rPr>
                        <a:t>benchmark</a:t>
                      </a:r>
                      <a:endParaRPr lang="en-US" sz="1135" dirty="0">
                        <a:latin typeface="Roboto" charset="0"/>
                        <a:ea typeface="Roboto" charset="0"/>
                        <a:cs typeface="Roboto" charset="0"/>
                      </a:endParaRPr>
                    </a:p>
                  </a:txBody>
                  <a:tcPr marL="64084" marR="64084" marT="64084" marB="6408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84D1"/>
                    </a:solidFill>
                  </a:tcPr>
                </a:tc>
                <a:tc>
                  <a:txBody>
                    <a:bodyPr/>
                    <a:lstStyle/>
                    <a:p>
                      <a:pPr algn="l" indent="0" marL="0">
                        <a:buNone/>
                      </a:pPr>
                      <a:r>
                        <a:rPr lang="en-US" sz="1135" b="1" dirty="0">
                          <a:solidFill>
                            <a:srgbClr val="FFFFFF"/>
                          </a:solidFill>
                          <a:latin typeface="Roboto" pitchFamily="34" charset="0"/>
                          <a:ea typeface="Roboto" pitchFamily="34" charset="-122"/>
                          <a:cs typeface="Roboto" pitchFamily="34" charset="-120"/>
                        </a:rPr>
                        <a:t>what it is</a:t>
                      </a:r>
                      <a:endParaRPr lang="en-US" sz="1135" dirty="0">
                        <a:latin typeface="Roboto" charset="0"/>
                        <a:ea typeface="Roboto" charset="0"/>
                        <a:cs typeface="Roboto" charset="0"/>
                      </a:endParaRPr>
                    </a:p>
                  </a:txBody>
                  <a:tcPr marL="64084" marR="64084" marT="64084" marB="6408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84D1"/>
                    </a:solidFill>
                  </a:tcPr>
                </a:tc>
                <a:tc>
                  <a:txBody>
                    <a:bodyPr/>
                    <a:lstStyle/>
                    <a:p>
                      <a:pPr algn="l" indent="0" marL="0">
                        <a:buNone/>
                      </a:pPr>
                      <a:r>
                        <a:rPr lang="en-US" sz="1135" b="1" dirty="0">
                          <a:solidFill>
                            <a:srgbClr val="FFFFFF"/>
                          </a:solidFill>
                          <a:latin typeface="Roboto" pitchFamily="34" charset="0"/>
                          <a:ea typeface="Roboto" pitchFamily="34" charset="-122"/>
                          <a:cs typeface="Roboto" pitchFamily="34" charset="-120"/>
                        </a:rPr>
                        <a:t>whose queries</a:t>
                      </a:r>
                      <a:endParaRPr lang="en-US" sz="1135" dirty="0">
                        <a:latin typeface="Roboto" charset="0"/>
                        <a:ea typeface="Roboto" charset="0"/>
                        <a:cs typeface="Roboto" charset="0"/>
                      </a:endParaRPr>
                    </a:p>
                  </a:txBody>
                  <a:tcPr marL="64084" marR="64084" marT="64084" marB="6408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84D1"/>
                    </a:solidFill>
                  </a:tcPr>
                </a:tc>
              </a:tr>
              <a:tr h="0">
                <a:tc>
                  <a:txBody>
                    <a:bodyPr/>
                    <a:lstStyle/>
                    <a:p>
                      <a:pPr algn="l" indent="0" marL="0">
                        <a:buNone/>
                      </a:pPr>
                      <a:r>
                        <a:rPr lang="en-US" sz="1135" b="1" dirty="0">
                          <a:solidFill>
                            <a:srgbClr val="000000"/>
                          </a:solidFill>
                          <a:latin typeface="Roboto" pitchFamily="34" charset="0"/>
                          <a:ea typeface="Roboto" pitchFamily="34" charset="-122"/>
                          <a:cs typeface="Roboto" pitchFamily="34" charset="-120"/>
                        </a:rPr>
                        <a:t>WDBench</a:t>
                      </a:r>
                      <a:endParaRPr lang="en-US" sz="1135" dirty="0">
                        <a:latin typeface="Roboto" charset="0"/>
                        <a:ea typeface="Roboto" charset="0"/>
                        <a:cs typeface="Roboto" charset="0"/>
                      </a:endParaRPr>
                    </a:p>
                  </a:txBody>
                  <a:tcPr marL="64084" marR="64084" marT="64084" marB="6408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35" dirty="0">
                          <a:solidFill>
                            <a:srgbClr val="000000"/>
                          </a:solidFill>
                          <a:latin typeface="Roboto" pitchFamily="34" charset="0"/>
                          <a:ea typeface="Roboto" pitchFamily="34" charset="-122"/>
                          <a:cs typeface="Roboto" pitchFamily="34" charset="-120"/>
                        </a:rPr>
                        <a:t>fragments of WDQS log queries that </a:t>
                      </a:r>
                      <a:pPr algn="l" indent="0" marL="0">
                        <a:buNone/>
                      </a:pPr>
                      <a:r>
                        <a:rPr lang="en-US" sz="1135" b="1" dirty="0">
                          <a:solidFill>
                            <a:srgbClr val="000000"/>
                          </a:solidFill>
                          <a:latin typeface="Roboto" pitchFamily="34" charset="0"/>
                          <a:ea typeface="Roboto" pitchFamily="34" charset="-122"/>
                          <a:cs typeface="Roboto" pitchFamily="34" charset="-120"/>
                        </a:rPr>
                        <a:t>timed out</a:t>
                      </a:r>
                      <a:pPr algn="l" indent="0" marL="0">
                        <a:buNone/>
                      </a:pPr>
                      <a:r>
                        <a:rPr lang="en-US" sz="1135" dirty="0">
                          <a:solidFill>
                            <a:srgbClr val="000000"/>
                          </a:solidFill>
                          <a:latin typeface="Roboto" pitchFamily="34" charset="0"/>
                          <a:ea typeface="Roboto" pitchFamily="34" charset="-122"/>
                          <a:cs typeface="Roboto" pitchFamily="34" charset="-120"/>
                        </a:rPr>
                        <a:t>, in 5 classes — 2,658 queries</a:t>
                      </a:r>
                      <a:endParaRPr lang="en-US" sz="1135" dirty="0">
                        <a:latin typeface="Roboto" charset="0"/>
                        <a:ea typeface="Roboto" charset="0"/>
                        <a:cs typeface="Roboto" charset="0"/>
                      </a:endParaRPr>
                    </a:p>
                  </a:txBody>
                  <a:tcPr marL="64084" marR="64084" marT="64084" marB="6408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35" dirty="0">
                          <a:solidFill>
                            <a:srgbClr val="000000"/>
                          </a:solidFill>
                          <a:latin typeface="Roboto" pitchFamily="34" charset="0"/>
                          <a:ea typeface="Roboto" pitchFamily="34" charset="-122"/>
                          <a:cs typeface="Roboto" pitchFamily="34" charset="-120"/>
                        </a:rPr>
                        <a:t>Angles et al., ISWC 2022</a:t>
                      </a:r>
                      <a:endParaRPr lang="en-US" sz="1135" dirty="0">
                        <a:latin typeface="Roboto" charset="0"/>
                        <a:ea typeface="Roboto" charset="0"/>
                        <a:cs typeface="Roboto" charset="0"/>
                      </a:endParaRPr>
                    </a:p>
                  </a:txBody>
                  <a:tcPr marL="64084" marR="64084" marT="64084" marB="6408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0">
                <a:tc>
                  <a:txBody>
                    <a:bodyPr/>
                    <a:lstStyle/>
                    <a:p>
                      <a:pPr algn="l" indent="0" marL="0">
                        <a:buNone/>
                      </a:pPr>
                      <a:r>
                        <a:rPr lang="en-US" sz="1135" b="1" dirty="0">
                          <a:solidFill>
                            <a:srgbClr val="000000"/>
                          </a:solidFill>
                          <a:latin typeface="Roboto" pitchFamily="34" charset="0"/>
                          <a:ea typeface="Roboto" pitchFamily="34" charset="-122"/>
                          <a:cs typeface="Roboto" pitchFamily="34" charset="-120"/>
                        </a:rPr>
                        <a:t>WGPB</a:t>
                      </a:r>
                      <a:endParaRPr lang="en-US" sz="1135" dirty="0">
                        <a:latin typeface="Roboto" charset="0"/>
                        <a:ea typeface="Roboto" charset="0"/>
                        <a:cs typeface="Roboto" charset="0"/>
                      </a:endParaRPr>
                    </a:p>
                  </a:txBody>
                  <a:tcPr marL="64084" marR="64084" marT="64084" marB="6408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35" dirty="0">
                          <a:solidFill>
                            <a:srgbClr val="000000"/>
                          </a:solidFill>
                          <a:latin typeface="Roboto" pitchFamily="34" charset="0"/>
                          <a:ea typeface="Roboto" pitchFamily="34" charset="-122"/>
                          <a:cs typeface="Roboto" pitchFamily="34" charset="-120"/>
                        </a:rPr>
                        <a:t>850 queries, 17 graph patterns instantiated 50 times</a:t>
                      </a:r>
                      <a:endParaRPr lang="en-US" sz="1135" dirty="0">
                        <a:latin typeface="Roboto" charset="0"/>
                        <a:ea typeface="Roboto" charset="0"/>
                        <a:cs typeface="Roboto" charset="0"/>
                      </a:endParaRPr>
                    </a:p>
                  </a:txBody>
                  <a:tcPr marL="64084" marR="64084" marT="64084" marB="6408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35" dirty="0">
                          <a:solidFill>
                            <a:srgbClr val="000000"/>
                          </a:solidFill>
                          <a:latin typeface="Roboto" pitchFamily="34" charset="0"/>
                          <a:ea typeface="Roboto" pitchFamily="34" charset="-122"/>
                          <a:cs typeface="Roboto" pitchFamily="34" charset="-120"/>
                        </a:rPr>
                        <a:t>Hogan et al., ISWC 2019</a:t>
                      </a:r>
                      <a:endParaRPr lang="en-US" sz="1135" dirty="0">
                        <a:latin typeface="Roboto" charset="0"/>
                        <a:ea typeface="Roboto" charset="0"/>
                        <a:cs typeface="Roboto" charset="0"/>
                      </a:endParaRPr>
                    </a:p>
                  </a:txBody>
                  <a:tcPr marL="64084" marR="64084" marT="64084" marB="6408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0">
                <a:tc>
                  <a:txBody>
                    <a:bodyPr/>
                    <a:lstStyle/>
                    <a:p>
                      <a:pPr algn="l" indent="0" marL="0">
                        <a:buNone/>
                      </a:pPr>
                      <a:r>
                        <a:rPr lang="en-US" sz="1135" b="1" dirty="0">
                          <a:solidFill>
                            <a:srgbClr val="000000"/>
                          </a:solidFill>
                          <a:latin typeface="Roboto" pitchFamily="34" charset="0"/>
                          <a:ea typeface="Roboto" pitchFamily="34" charset="-122"/>
                          <a:cs typeface="Roboto" pitchFamily="34" charset="-120"/>
                        </a:rPr>
                        <a:t>WDQS</a:t>
                      </a:r>
                      <a:endParaRPr lang="en-US" sz="1135" dirty="0">
                        <a:latin typeface="Roboto" charset="0"/>
                        <a:ea typeface="Roboto" charset="0"/>
                        <a:cs typeface="Roboto" charset="0"/>
                      </a:endParaRPr>
                    </a:p>
                  </a:txBody>
                  <a:tcPr marL="64084" marR="64084" marT="64084" marB="6408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2CC"/>
                    </a:solidFill>
                  </a:tcPr>
                </a:tc>
                <a:tc>
                  <a:txBody>
                    <a:bodyPr/>
                    <a:lstStyle/>
                    <a:p>
                      <a:pPr algn="l" indent="0" marL="0">
                        <a:buNone/>
                      </a:pPr>
                      <a:r>
                        <a:rPr lang="en-US" sz="1135" dirty="0">
                          <a:solidFill>
                            <a:srgbClr val="000000"/>
                          </a:solidFill>
                          <a:latin typeface="Roboto" pitchFamily="34" charset="0"/>
                          <a:ea typeface="Roboto" pitchFamily="34" charset="-122"/>
                          <a:cs typeface="Roboto" pitchFamily="34" charset="-120"/>
                        </a:rPr>
                        <a:t>298 queries from Wikidata Query Service logs</a:t>
                      </a:r>
                      <a:endParaRPr lang="en-US" sz="1135" dirty="0">
                        <a:latin typeface="Roboto" charset="0"/>
                        <a:ea typeface="Roboto" charset="0"/>
                        <a:cs typeface="Roboto" charset="0"/>
                      </a:endParaRPr>
                    </a:p>
                  </a:txBody>
                  <a:tcPr marL="64084" marR="64084" marT="64084" marB="6408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2CC"/>
                    </a:solidFill>
                  </a:tcPr>
                </a:tc>
                <a:tc>
                  <a:txBody>
                    <a:bodyPr/>
                    <a:lstStyle/>
                    <a:p>
                      <a:pPr algn="l" indent="0" marL="0">
                        <a:buNone/>
                      </a:pPr>
                      <a:r>
                        <a:rPr lang="en-US" sz="1135" b="1" dirty="0">
                          <a:solidFill>
                            <a:srgbClr val="FF0000"/>
                          </a:solidFill>
                          <a:latin typeface="Roboto" pitchFamily="34" charset="0"/>
                          <a:ea typeface="Roboto" pitchFamily="34" charset="-122"/>
                          <a:cs typeface="Roboto" pitchFamily="34" charset="-120"/>
                        </a:rPr>
                        <a:t>QLever’s own evaluation page</a:t>
                      </a:r>
                      <a:endParaRPr lang="en-US" sz="1135" dirty="0">
                        <a:latin typeface="Roboto" charset="0"/>
                        <a:ea typeface="Roboto" charset="0"/>
                        <a:cs typeface="Roboto" charset="0"/>
                      </a:endParaRPr>
                    </a:p>
                  </a:txBody>
                  <a:tcPr marL="64084" marR="64084" marT="64084" marB="6408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2CC"/>
                    </a:solidFill>
                  </a:tcPr>
                </a:tc>
              </a:tr>
              <a:tr h="0">
                <a:tc>
                  <a:txBody>
                    <a:bodyPr/>
                    <a:lstStyle/>
                    <a:p>
                      <a:pPr algn="l" indent="0" marL="0">
                        <a:buNone/>
                      </a:pPr>
                      <a:r>
                        <a:rPr lang="en-US" sz="1135" b="1" dirty="0">
                          <a:solidFill>
                            <a:srgbClr val="000000"/>
                          </a:solidFill>
                          <a:latin typeface="Roboto" pitchFamily="34" charset="0"/>
                          <a:ea typeface="Roboto" pitchFamily="34" charset="-122"/>
                          <a:cs typeface="Roboto" pitchFamily="34" charset="-120"/>
                        </a:rPr>
                        <a:t>Scholia</a:t>
                      </a:r>
                      <a:endParaRPr lang="en-US" sz="1135" dirty="0">
                        <a:latin typeface="Roboto" charset="0"/>
                        <a:ea typeface="Roboto" charset="0"/>
                        <a:cs typeface="Roboto" charset="0"/>
                      </a:endParaRPr>
                    </a:p>
                  </a:txBody>
                  <a:tcPr marL="64084" marR="64084" marT="64084" marB="6408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35" dirty="0">
                          <a:solidFill>
                            <a:srgbClr val="000000"/>
                          </a:solidFill>
                          <a:latin typeface="Roboto" pitchFamily="34" charset="0"/>
                          <a:ea typeface="Roboto" pitchFamily="34" charset="-122"/>
                          <a:cs typeface="Roboto" pitchFamily="34" charset="-120"/>
                        </a:rPr>
                        <a:t>new, built from the Scholia interface’s query templates</a:t>
                      </a:r>
                      <a:endParaRPr lang="en-US" sz="1135" dirty="0">
                        <a:latin typeface="Roboto" charset="0"/>
                        <a:ea typeface="Roboto" charset="0"/>
                        <a:cs typeface="Roboto" charset="0"/>
                      </a:endParaRPr>
                    </a:p>
                  </a:txBody>
                  <a:tcPr marL="64084" marR="64084" marT="64084" marB="6408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35" dirty="0">
                          <a:solidFill>
                            <a:srgbClr val="000000"/>
                          </a:solidFill>
                          <a:latin typeface="Roboto" pitchFamily="34" charset="0"/>
                          <a:ea typeface="Roboto" pitchFamily="34" charset="-122"/>
                          <a:cs typeface="Roboto" pitchFamily="34" charset="-120"/>
                        </a:rPr>
                        <a:t>the author</a:t>
                      </a:r>
                      <a:endParaRPr lang="en-US" sz="1135" dirty="0">
                        <a:latin typeface="Roboto" charset="0"/>
                        <a:ea typeface="Roboto" charset="0"/>
                        <a:cs typeface="Roboto" charset="0"/>
                      </a:endParaRPr>
                    </a:p>
                  </a:txBody>
                  <a:tcPr marL="64084" marR="64084" marT="64084" marB="6408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bl>
          </a:graphicData>
        </a:graphic>
      </p:graphicFrame>
      <p:sp>
        <p:nvSpPr>
          <p:cNvPr id="8" name="Text 4"/>
          <p:cNvSpPr txBox="1"/>
          <p:nvPr/>
        </p:nvSpPr>
        <p:spPr>
          <a:xfrm>
            <a:off x="660400" y="3965508"/>
            <a:ext cx="10871200" cy="225798"/>
          </a:xfrm>
          <a:prstGeom prst="rect">
            <a:avLst/>
          </a:prstGeom>
          <a:noFill/>
          <a:ln/>
        </p:spPr>
        <p:txBody>
          <a:bodyPr wrap="square" lIns="0" tIns="0" rIns="0" bIns="0" rtlCol="0" anchor="t"/>
          <a:lstStyle/>
          <a:p>
            <a:pPr algn="l" indent="0" marL="0">
              <a:lnSpc>
                <a:spcPct val="135000"/>
              </a:lnSpc>
              <a:buNone/>
            </a:pPr>
            <a:r>
              <a:rPr lang="en-US" sz="1219" b="1" dirty="0">
                <a:solidFill>
                  <a:srgbClr val="000000"/>
                </a:solidFill>
                <a:latin typeface="Roboto" pitchFamily="34" charset="0"/>
                <a:ea typeface="Roboto" pitchFamily="34" charset="-122"/>
                <a:cs typeface="Roboto" pitchFamily="34" charset="-120"/>
              </a:rPr>
              <a:t>The WDQS benchmark, median and mean per query, in milliseconds:</a:t>
            </a:r>
            <a:endParaRPr lang="en-US" sz="1219" dirty="0"/>
          </a:p>
        </p:txBody>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660400" y="4298112"/>
          <a:ext cx="10871200" cy="914400"/>
        </p:xfrm>
        <a:graphic>
          <a:graphicData uri="http://schemas.openxmlformats.org/drawingml/2006/table">
            <a:tbl>
              <a:tblPr/>
              <a:tblGrid>
                <a:gridCol w="3696208"/>
                <a:gridCol w="2391664"/>
                <a:gridCol w="2391664"/>
                <a:gridCol w="2391664"/>
              </a:tblGrid>
              <a:tr h="0">
                <a:tc>
                  <a:txBody>
                    <a:bodyPr/>
                    <a:lstStyle/>
                    <a:p>
                      <a:pPr algn="l" indent="0" marL="0">
                        <a:buNone/>
                      </a:pPr>
                      <a:r>
                        <a:rPr lang="en-US" sz="1177" b="1" dirty="0">
                          <a:solidFill>
                            <a:srgbClr val="FFFFFF"/>
                          </a:solidFill>
                          <a:latin typeface="Roboto" pitchFamily="34" charset="0"/>
                          <a:ea typeface="Roboto" pitchFamily="34" charset="-122"/>
                          <a:cs typeface="Roboto" pitchFamily="34" charset="-120"/>
                        </a:rPr>
                        <a:t>engine</a:t>
                      </a:r>
                      <a:endParaRPr lang="en-US" sz="1177" dirty="0">
                        <a:latin typeface="Roboto" charset="0"/>
                        <a:ea typeface="Roboto" charset="0"/>
                        <a:cs typeface="Roboto" charset="0"/>
                      </a:endParaRPr>
                    </a:p>
                  </a:txBody>
                  <a:tcPr marL="64084" marR="64084" marT="64084" marB="6408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84D1"/>
                    </a:solidFill>
                  </a:tcPr>
                </a:tc>
                <a:tc>
                  <a:txBody>
                    <a:bodyPr/>
                    <a:lstStyle/>
                    <a:p>
                      <a:pPr algn="r" indent="0" marL="0">
                        <a:buNone/>
                      </a:pPr>
                      <a:r>
                        <a:rPr lang="en-US" sz="1177" b="1" dirty="0">
                          <a:solidFill>
                            <a:srgbClr val="FFFFFF"/>
                          </a:solidFill>
                          <a:latin typeface="Roboto" pitchFamily="34" charset="0"/>
                          <a:ea typeface="Roboto" pitchFamily="34" charset="-122"/>
                          <a:cs typeface="Roboto" pitchFamily="34" charset="-120"/>
                        </a:rPr>
                        <a:t>median</a:t>
                      </a:r>
                      <a:endParaRPr lang="en-US" sz="1177" dirty="0">
                        <a:latin typeface="Roboto" charset="0"/>
                        <a:ea typeface="Roboto" charset="0"/>
                        <a:cs typeface="Roboto" charset="0"/>
                      </a:endParaRPr>
                    </a:p>
                  </a:txBody>
                  <a:tcPr marL="64084" marR="64084" marT="64084" marB="6408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84D1"/>
                    </a:solidFill>
                  </a:tcPr>
                </a:tc>
                <a:tc>
                  <a:txBody>
                    <a:bodyPr/>
                    <a:lstStyle/>
                    <a:p>
                      <a:pPr algn="r" indent="0" marL="0">
                        <a:buNone/>
                      </a:pPr>
                      <a:r>
                        <a:rPr lang="en-US" sz="1177" b="1" dirty="0">
                          <a:solidFill>
                            <a:srgbClr val="FFFFFF"/>
                          </a:solidFill>
                          <a:latin typeface="Roboto" pitchFamily="34" charset="0"/>
                          <a:ea typeface="Roboto" pitchFamily="34" charset="-122"/>
                          <a:cs typeface="Roboto" pitchFamily="34" charset="-120"/>
                        </a:rPr>
                        <a:t>mean</a:t>
                      </a:r>
                      <a:endParaRPr lang="en-US" sz="1177" dirty="0">
                        <a:latin typeface="Roboto" charset="0"/>
                        <a:ea typeface="Roboto" charset="0"/>
                        <a:cs typeface="Roboto" charset="0"/>
                      </a:endParaRPr>
                    </a:p>
                  </a:txBody>
                  <a:tcPr marL="64084" marR="64084" marT="64084" marB="6408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84D1"/>
                    </a:solidFill>
                  </a:tcPr>
                </a:tc>
                <a:tc>
                  <a:txBody>
                    <a:bodyPr/>
                    <a:lstStyle/>
                    <a:p>
                      <a:pPr algn="r" indent="0" marL="0">
                        <a:buNone/>
                      </a:pPr>
                      <a:r>
                        <a:rPr lang="en-US" sz="1177" b="1" dirty="0">
                          <a:solidFill>
                            <a:srgbClr val="FFFFFF"/>
                          </a:solidFill>
                          <a:latin typeface="Roboto" pitchFamily="34" charset="0"/>
                          <a:ea typeface="Roboto" pitchFamily="34" charset="-122"/>
                          <a:cs typeface="Roboto" pitchFamily="34" charset="-120"/>
                        </a:rPr>
                        <a:t>timeouts</a:t>
                      </a:r>
                      <a:endParaRPr lang="en-US" sz="1177" dirty="0">
                        <a:latin typeface="Roboto" charset="0"/>
                        <a:ea typeface="Roboto" charset="0"/>
                        <a:cs typeface="Roboto" charset="0"/>
                      </a:endParaRPr>
                    </a:p>
                  </a:txBody>
                  <a:tcPr marL="64084" marR="64084" marT="64084" marB="6408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84D1"/>
                    </a:solidFill>
                  </a:tcPr>
                </a:tc>
              </a:tr>
              <a:tr h="0">
                <a:tc>
                  <a:txBody>
                    <a:bodyPr/>
                    <a:lstStyle/>
                    <a:p>
                      <a:pPr algn="l" indent="0" marL="0">
                        <a:buNone/>
                      </a:pPr>
                      <a:r>
                        <a:rPr lang="en-US" sz="1177" b="1" dirty="0">
                          <a:solidFill>
                            <a:srgbClr val="000000"/>
                          </a:solidFill>
                          <a:latin typeface="Roboto" pitchFamily="34" charset="0"/>
                          <a:ea typeface="Roboto" pitchFamily="34" charset="-122"/>
                          <a:cs typeface="Roboto" pitchFamily="34" charset="-120"/>
                        </a:rPr>
                        <a:t>QLever</a:t>
                      </a:r>
                      <a:endParaRPr lang="en-US" sz="1177" dirty="0">
                        <a:latin typeface="Roboto" charset="0"/>
                        <a:ea typeface="Roboto" charset="0"/>
                        <a:cs typeface="Roboto" charset="0"/>
                      </a:endParaRPr>
                    </a:p>
                  </a:txBody>
                  <a:tcPr marL="64084" marR="64084" marT="64084" marB="6408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8FD"/>
                    </a:solidFill>
                  </a:tcPr>
                </a:tc>
                <a:tc>
                  <a:txBody>
                    <a:bodyPr/>
                    <a:lstStyle/>
                    <a:p>
                      <a:pPr algn="r" indent="0" marL="0">
                        <a:buNone/>
                      </a:pPr>
                      <a:r>
                        <a:rPr lang="en-US" sz="1177" b="1" dirty="0">
                          <a:solidFill>
                            <a:srgbClr val="38761D"/>
                          </a:solidFill>
                          <a:latin typeface="Roboto" pitchFamily="34" charset="0"/>
                          <a:ea typeface="Roboto" pitchFamily="34" charset="-122"/>
                          <a:cs typeface="Roboto" pitchFamily="34" charset="-120"/>
                        </a:rPr>
                        <a:t>103</a:t>
                      </a:r>
                      <a:endParaRPr lang="en-US" sz="1177" dirty="0">
                        <a:latin typeface="Roboto" charset="0"/>
                        <a:ea typeface="Roboto" charset="0"/>
                        <a:cs typeface="Roboto" charset="0"/>
                      </a:endParaRPr>
                    </a:p>
                  </a:txBody>
                  <a:tcPr marL="64084" marR="64084" marT="64084" marB="6408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8FD"/>
                    </a:solidFill>
                  </a:tcPr>
                </a:tc>
                <a:tc>
                  <a:txBody>
                    <a:bodyPr/>
                    <a:lstStyle/>
                    <a:p>
                      <a:pPr algn="r" indent="0" marL="0">
                        <a:buNone/>
                      </a:pPr>
                      <a:r>
                        <a:rPr lang="en-US" sz="1177" b="1" dirty="0">
                          <a:solidFill>
                            <a:srgbClr val="38761D"/>
                          </a:solidFill>
                          <a:latin typeface="Roboto" pitchFamily="34" charset="0"/>
                          <a:ea typeface="Roboto" pitchFamily="34" charset="-122"/>
                          <a:cs typeface="Roboto" pitchFamily="34" charset="-120"/>
                        </a:rPr>
                        <a:t>4,583</a:t>
                      </a:r>
                      <a:endParaRPr lang="en-US" sz="1177" dirty="0">
                        <a:latin typeface="Roboto" charset="0"/>
                        <a:ea typeface="Roboto" charset="0"/>
                        <a:cs typeface="Roboto" charset="0"/>
                      </a:endParaRPr>
                    </a:p>
                  </a:txBody>
                  <a:tcPr marL="64084" marR="64084" marT="64084" marB="6408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8FD"/>
                    </a:solidFill>
                  </a:tcPr>
                </a:tc>
                <a:tc>
                  <a:txBody>
                    <a:bodyPr/>
                    <a:lstStyle/>
                    <a:p>
                      <a:pPr algn="r" indent="0" marL="0">
                        <a:buNone/>
                      </a:pPr>
                      <a:r>
                        <a:rPr lang="en-US" sz="1177" b="1" dirty="0">
                          <a:solidFill>
                            <a:srgbClr val="38761D"/>
                          </a:solidFill>
                          <a:latin typeface="Roboto" pitchFamily="34" charset="0"/>
                          <a:ea typeface="Roboto" pitchFamily="34" charset="-122"/>
                          <a:cs typeface="Roboto" pitchFamily="34" charset="-120"/>
                        </a:rPr>
                        <a:t>0</a:t>
                      </a:r>
                      <a:endParaRPr lang="en-US" sz="1177" dirty="0">
                        <a:latin typeface="Roboto" charset="0"/>
                        <a:ea typeface="Roboto" charset="0"/>
                        <a:cs typeface="Roboto" charset="0"/>
                      </a:endParaRPr>
                    </a:p>
                  </a:txBody>
                  <a:tcPr marL="64084" marR="64084" marT="64084" marB="6408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8FD"/>
                    </a:solidFill>
                  </a:tcPr>
                </a:tc>
              </a:tr>
              <a:tr h="0">
                <a:tc>
                  <a:txBody>
                    <a:bodyPr/>
                    <a:lstStyle/>
                    <a:p>
                      <a:pPr algn="l" indent="0" marL="0">
                        <a:buNone/>
                      </a:pPr>
                      <a:r>
                        <a:rPr lang="en-US" sz="1177" dirty="0">
                          <a:solidFill>
                            <a:srgbClr val="000000"/>
                          </a:solidFill>
                          <a:latin typeface="Roboto" pitchFamily="34" charset="0"/>
                          <a:ea typeface="Roboto" pitchFamily="34" charset="-122"/>
                          <a:cs typeface="Roboto" pitchFamily="34" charset="-120"/>
                        </a:rPr>
                        <a:t>Virtuoso</a:t>
                      </a:r>
                      <a:endParaRPr lang="en-US" sz="1177" dirty="0">
                        <a:latin typeface="Roboto" charset="0"/>
                        <a:ea typeface="Roboto" charset="0"/>
                        <a:cs typeface="Roboto" charset="0"/>
                      </a:endParaRPr>
                    </a:p>
                  </a:txBody>
                  <a:tcPr marL="64084" marR="64084" marT="64084" marB="6408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1177" dirty="0">
                          <a:solidFill>
                            <a:srgbClr val="000000"/>
                          </a:solidFill>
                          <a:latin typeface="Roboto" pitchFamily="34" charset="0"/>
                          <a:ea typeface="Roboto" pitchFamily="34" charset="-122"/>
                          <a:cs typeface="Roboto" pitchFamily="34" charset="-120"/>
                        </a:rPr>
                        <a:t>461</a:t>
                      </a:r>
                      <a:endParaRPr lang="en-US" sz="1177" dirty="0">
                        <a:latin typeface="Roboto" charset="0"/>
                        <a:ea typeface="Roboto" charset="0"/>
                        <a:cs typeface="Roboto" charset="0"/>
                      </a:endParaRPr>
                    </a:p>
                  </a:txBody>
                  <a:tcPr marL="64084" marR="64084" marT="64084" marB="6408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1177" dirty="0">
                          <a:solidFill>
                            <a:srgbClr val="000000"/>
                          </a:solidFill>
                          <a:latin typeface="Roboto" pitchFamily="34" charset="0"/>
                          <a:ea typeface="Roboto" pitchFamily="34" charset="-122"/>
                          <a:cs typeface="Roboto" pitchFamily="34" charset="-120"/>
                        </a:rPr>
                        <a:t>14,645</a:t>
                      </a:r>
                      <a:endParaRPr lang="en-US" sz="1177" dirty="0">
                        <a:latin typeface="Roboto" charset="0"/>
                        <a:ea typeface="Roboto" charset="0"/>
                        <a:cs typeface="Roboto" charset="0"/>
                      </a:endParaRPr>
                    </a:p>
                  </a:txBody>
                  <a:tcPr marL="64084" marR="64084" marT="64084" marB="6408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1177" dirty="0">
                          <a:solidFill>
                            <a:srgbClr val="000000"/>
                          </a:solidFill>
                          <a:latin typeface="Roboto" pitchFamily="34" charset="0"/>
                          <a:ea typeface="Roboto" pitchFamily="34" charset="-122"/>
                          <a:cs typeface="Roboto" pitchFamily="34" charset="-120"/>
                        </a:rPr>
                        <a:t>2</a:t>
                      </a:r>
                      <a:endParaRPr lang="en-US" sz="1177" dirty="0">
                        <a:latin typeface="Roboto" charset="0"/>
                        <a:ea typeface="Roboto" charset="0"/>
                        <a:cs typeface="Roboto" charset="0"/>
                      </a:endParaRPr>
                    </a:p>
                  </a:txBody>
                  <a:tcPr marL="64084" marR="64084" marT="64084" marB="6408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0">
                <a:tc>
                  <a:txBody>
                    <a:bodyPr/>
                    <a:lstStyle/>
                    <a:p>
                      <a:pPr algn="l" indent="0" marL="0">
                        <a:buNone/>
                      </a:pPr>
                      <a:r>
                        <a:rPr lang="en-US" sz="1177" dirty="0">
                          <a:solidFill>
                            <a:srgbClr val="000000"/>
                          </a:solidFill>
                          <a:latin typeface="Roboto" pitchFamily="34" charset="0"/>
                          <a:ea typeface="Roboto" pitchFamily="34" charset="-122"/>
                          <a:cs typeface="Roboto" pitchFamily="34" charset="-120"/>
                        </a:rPr>
                        <a:t>Blazegraph</a:t>
                      </a:r>
                      <a:endParaRPr lang="en-US" sz="1177" dirty="0">
                        <a:latin typeface="Roboto" charset="0"/>
                        <a:ea typeface="Roboto" charset="0"/>
                        <a:cs typeface="Roboto" charset="0"/>
                      </a:endParaRPr>
                    </a:p>
                  </a:txBody>
                  <a:tcPr marL="64084" marR="64084" marT="64084" marB="6408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1177" dirty="0">
                          <a:solidFill>
                            <a:srgbClr val="000000"/>
                          </a:solidFill>
                          <a:latin typeface="Roboto" pitchFamily="34" charset="0"/>
                          <a:ea typeface="Roboto" pitchFamily="34" charset="-122"/>
                          <a:cs typeface="Roboto" pitchFamily="34" charset="-120"/>
                        </a:rPr>
                        <a:t>511</a:t>
                      </a:r>
                      <a:endParaRPr lang="en-US" sz="1177" dirty="0">
                        <a:latin typeface="Roboto" charset="0"/>
                        <a:ea typeface="Roboto" charset="0"/>
                        <a:cs typeface="Roboto" charset="0"/>
                      </a:endParaRPr>
                    </a:p>
                  </a:txBody>
                  <a:tcPr marL="64084" marR="64084" marT="64084" marB="6408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1177" dirty="0">
                          <a:solidFill>
                            <a:srgbClr val="000000"/>
                          </a:solidFill>
                          <a:latin typeface="Roboto" pitchFamily="34" charset="0"/>
                          <a:ea typeface="Roboto" pitchFamily="34" charset="-122"/>
                          <a:cs typeface="Roboto" pitchFamily="34" charset="-120"/>
                        </a:rPr>
                        <a:t>12,560</a:t>
                      </a:r>
                      <a:endParaRPr lang="en-US" sz="1177" dirty="0">
                        <a:latin typeface="Roboto" charset="0"/>
                        <a:ea typeface="Roboto" charset="0"/>
                        <a:cs typeface="Roboto" charset="0"/>
                      </a:endParaRPr>
                    </a:p>
                  </a:txBody>
                  <a:tcPr marL="64084" marR="64084" marT="64084" marB="6408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1177" dirty="0">
                          <a:solidFill>
                            <a:srgbClr val="000000"/>
                          </a:solidFill>
                          <a:latin typeface="Roboto" pitchFamily="34" charset="0"/>
                          <a:ea typeface="Roboto" pitchFamily="34" charset="-122"/>
                          <a:cs typeface="Roboto" pitchFamily="34" charset="-120"/>
                        </a:rPr>
                        <a:t>1</a:t>
                      </a:r>
                      <a:endParaRPr lang="en-US" sz="1177" dirty="0">
                        <a:latin typeface="Roboto" charset="0"/>
                        <a:ea typeface="Roboto" charset="0"/>
                        <a:cs typeface="Roboto" charset="0"/>
                      </a:endParaRPr>
                    </a:p>
                  </a:txBody>
                  <a:tcPr marL="64084" marR="64084" marT="64084" marB="6408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0">
                <a:tc>
                  <a:txBody>
                    <a:bodyPr/>
                    <a:lstStyle/>
                    <a:p>
                      <a:pPr algn="l" indent="0" marL="0">
                        <a:buNone/>
                      </a:pPr>
                      <a:r>
                        <a:rPr lang="en-US" sz="1177" dirty="0">
                          <a:solidFill>
                            <a:srgbClr val="000000"/>
                          </a:solidFill>
                          <a:latin typeface="Roboto" pitchFamily="34" charset="0"/>
                          <a:ea typeface="Roboto" pitchFamily="34" charset="-122"/>
                          <a:cs typeface="Roboto" pitchFamily="34" charset="-120"/>
                        </a:rPr>
                        <a:t>MillenniumDB</a:t>
                      </a:r>
                      <a:endParaRPr lang="en-US" sz="1177" dirty="0">
                        <a:latin typeface="Roboto" charset="0"/>
                        <a:ea typeface="Roboto" charset="0"/>
                        <a:cs typeface="Roboto" charset="0"/>
                      </a:endParaRPr>
                    </a:p>
                  </a:txBody>
                  <a:tcPr marL="64084" marR="64084" marT="64084" marB="6408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1177" dirty="0">
                          <a:solidFill>
                            <a:srgbClr val="000000"/>
                          </a:solidFill>
                          <a:latin typeface="Roboto" pitchFamily="34" charset="0"/>
                          <a:ea typeface="Roboto" pitchFamily="34" charset="-122"/>
                          <a:cs typeface="Roboto" pitchFamily="34" charset="-120"/>
                        </a:rPr>
                        <a:t>588</a:t>
                      </a:r>
                      <a:endParaRPr lang="en-US" sz="1177" dirty="0">
                        <a:latin typeface="Roboto" charset="0"/>
                        <a:ea typeface="Roboto" charset="0"/>
                        <a:cs typeface="Roboto" charset="0"/>
                      </a:endParaRPr>
                    </a:p>
                  </a:txBody>
                  <a:tcPr marL="64084" marR="64084" marT="64084" marB="6408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1177" dirty="0">
                          <a:solidFill>
                            <a:srgbClr val="000000"/>
                          </a:solidFill>
                          <a:latin typeface="Roboto" pitchFamily="34" charset="0"/>
                          <a:ea typeface="Roboto" pitchFamily="34" charset="-122"/>
                          <a:cs typeface="Roboto" pitchFamily="34" charset="-120"/>
                        </a:rPr>
                        <a:t>103,271</a:t>
                      </a:r>
                      <a:endParaRPr lang="en-US" sz="1177" dirty="0">
                        <a:latin typeface="Roboto" charset="0"/>
                        <a:ea typeface="Roboto" charset="0"/>
                        <a:cs typeface="Roboto" charset="0"/>
                      </a:endParaRPr>
                    </a:p>
                  </a:txBody>
                  <a:tcPr marL="64084" marR="64084" marT="64084" marB="6408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1177" dirty="0">
                          <a:solidFill>
                            <a:srgbClr val="FF0000"/>
                          </a:solidFill>
                          <a:latin typeface="Roboto" pitchFamily="34" charset="0"/>
                          <a:ea typeface="Roboto" pitchFamily="34" charset="-122"/>
                          <a:cs typeface="Roboto" pitchFamily="34" charset="-120"/>
                        </a:rPr>
                        <a:t>43</a:t>
                      </a:r>
                      <a:endParaRPr lang="en-US" sz="1177" dirty="0">
                        <a:latin typeface="Roboto" charset="0"/>
                        <a:ea typeface="Roboto" charset="0"/>
                        <a:cs typeface="Roboto" charset="0"/>
                      </a:endParaRPr>
                    </a:p>
                  </a:txBody>
                  <a:tcPr marL="64084" marR="64084" marT="64084" marB="6408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bl>
          </a:graphicData>
        </a:graphic>
      </p:graphicFrame>
      <p:sp>
        <p:nvSpPr>
          <p:cNvPr id="10" name="Text 5"/>
          <p:cNvSpPr txBox="1"/>
          <p:nvPr/>
        </p:nvSpPr>
        <p:spPr>
          <a:xfrm>
            <a:off x="660400" y="6167215"/>
            <a:ext cx="10871200" cy="233585"/>
          </a:xfrm>
          <a:prstGeom prst="rect">
            <a:avLst/>
          </a:prstGeom>
          <a:noFill/>
          <a:ln/>
        </p:spPr>
        <p:txBody>
          <a:bodyPr wrap="square" lIns="0" tIns="0" rIns="0" bIns="0" rtlCol="0" anchor="t"/>
          <a:lstStyle/>
          <a:p>
            <a:pPr algn="l" indent="0" marL="0">
              <a:lnSpc>
                <a:spcPct val="135000"/>
              </a:lnSpc>
              <a:buNone/>
            </a:pPr>
            <a:r>
              <a:rPr lang="en-US" sz="1261" b="1" dirty="0">
                <a:solidFill>
                  <a:srgbClr val="000000"/>
                </a:solidFill>
                <a:latin typeface="Roboto" pitchFamily="34" charset="0"/>
                <a:ea typeface="Roboto" pitchFamily="34" charset="-122"/>
                <a:cs typeface="Roboto" pitchFamily="34" charset="-120"/>
              </a:rPr>
              <a:t>Loading the same dump: QLever </a:t>
            </a:r>
            <a:pPr algn="l" indent="0" marL="0">
              <a:lnSpc>
                <a:spcPct val="135000"/>
              </a:lnSpc>
              <a:buNone/>
            </a:pPr>
            <a:r>
              <a:rPr lang="en-US" sz="1261" b="1" dirty="0">
                <a:solidFill>
                  <a:srgbClr val="38761D"/>
                </a:solidFill>
                <a:latin typeface="Roboto" pitchFamily="34" charset="0"/>
                <a:ea typeface="Roboto" pitchFamily="34" charset="-122"/>
                <a:cs typeface="Roboto" pitchFamily="34" charset="-120"/>
              </a:rPr>
              <a:t>about 4.5 hours</a:t>
            </a:r>
            <a:pPr algn="l" indent="0" marL="0">
              <a:lnSpc>
                <a:spcPct val="135000"/>
              </a:lnSpc>
              <a:buNone/>
            </a:pPr>
            <a:r>
              <a:rPr lang="en-US" sz="1261" b="1" dirty="0">
                <a:solidFill>
                  <a:srgbClr val="000000"/>
                </a:solidFill>
                <a:latin typeface="Roboto" pitchFamily="34" charset="0"/>
                <a:ea typeface="Roboto" pitchFamily="34" charset="-122"/>
                <a:cs typeface="Roboto" pitchFamily="34" charset="-120"/>
              </a:rPr>
              <a:t>, Blazegraph </a:t>
            </a:r>
            <a:pPr algn="l" indent="0" marL="0">
              <a:lnSpc>
                <a:spcPct val="135000"/>
              </a:lnSpc>
              <a:buNone/>
            </a:pPr>
            <a:r>
              <a:rPr lang="en-US" sz="1261" b="1" dirty="0">
                <a:solidFill>
                  <a:srgbClr val="FF0000"/>
                </a:solidFill>
                <a:latin typeface="Roboto" pitchFamily="34" charset="0"/>
                <a:ea typeface="Roboto" pitchFamily="34" charset="-122"/>
                <a:cs typeface="Roboto" pitchFamily="34" charset="-120"/>
              </a:rPr>
              <a:t>over 10 days — first attempt failed</a:t>
            </a:r>
            <a:pPr algn="l" indent="0" marL="0">
              <a:lnSpc>
                <a:spcPct val="135000"/>
              </a:lnSpc>
              <a:buNone/>
            </a:pPr>
            <a:r>
              <a:rPr lang="en-US" sz="1261" b="1" dirty="0">
                <a:solidFill>
                  <a:srgbClr val="000000"/>
                </a:solidFill>
                <a:latin typeface="Roboto" pitchFamily="34" charset="0"/>
                <a:ea typeface="Roboto" pitchFamily="34" charset="-122"/>
                <a:cs typeface="Roboto" pitchFamily="34" charset="-120"/>
              </a:rPr>
              <a:t>.</a:t>
            </a:r>
            <a:endParaRPr lang="en-US" sz="126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155700"/>
          </a:xfrm>
          <a:prstGeom prst="rect">
            <a:avLst/>
          </a:prstGeom>
          <a:solidFill>
            <a:srgbClr val="0084D1"/>
          </a:solidFill>
          <a:ln/>
        </p:spPr>
      </p:sp>
      <p:sp>
        <p:nvSpPr>
          <p:cNvPr id="3" name="Text 1"/>
          <p:cNvSpPr txBox="1"/>
          <p:nvPr/>
        </p:nvSpPr>
        <p:spPr>
          <a:xfrm>
            <a:off x="0" y="228600"/>
            <a:ext cx="12192000" cy="934720"/>
          </a:xfrm>
          <a:prstGeom prst="rect">
            <a:avLst/>
          </a:prstGeom>
          <a:noFill/>
          <a:ln/>
        </p:spPr>
        <p:txBody>
          <a:bodyPr wrap="square" lIns="0" tIns="0" rIns="0" bIns="0" rtlCol="0" anchor="t"/>
          <a:lstStyle/>
          <a:p>
            <a:pPr algn="ctr" indent="0" marL="0">
              <a:lnSpc>
                <a:spcPct val="110000"/>
              </a:lnSpc>
              <a:buNone/>
            </a:pPr>
            <a:r>
              <a:rPr lang="en-US" sz="4600" b="1" dirty="0">
                <a:solidFill>
                  <a:srgbClr val="FFFFFF"/>
                </a:solidFill>
                <a:latin typeface="Roboto Slab" pitchFamily="34" charset="0"/>
                <a:ea typeface="Roboto Slab" pitchFamily="34" charset="-122"/>
                <a:cs typeface="Roboto Slab" pitchFamily="34" charset="-120"/>
              </a:rPr>
              <a:t>An index on disk</a:t>
            </a:r>
            <a:endParaRPr lang="en-US" sz="4600" dirty="0"/>
          </a:p>
        </p:txBody>
      </p:sp>
      <p:sp>
        <p:nvSpPr>
          <p:cNvPr id="4" name="Text 2"/>
          <p:cNvSpPr txBox="1"/>
          <p:nvPr/>
        </p:nvSpPr>
        <p:spPr>
          <a:xfrm>
            <a:off x="10795000" y="6322060"/>
            <a:ext cx="889000" cy="264160"/>
          </a:xfrm>
          <a:prstGeom prst="rect">
            <a:avLst/>
          </a:prstGeom>
          <a:noFill/>
          <a:ln/>
        </p:spPr>
        <p:txBody>
          <a:bodyPr wrap="square" lIns="0" tIns="0" rIns="0" bIns="0" rtlCol="0" anchor="t"/>
          <a:lstStyle/>
          <a:p>
            <a:pPr algn="r" indent="0" marL="0">
              <a:lnSpc>
                <a:spcPct val="120000"/>
              </a:lnSpc>
              <a:buNone/>
            </a:pPr>
            <a:r>
              <a:rPr lang="en-US" sz="1300" dirty="0">
                <a:solidFill>
                  <a:srgbClr val="595959"/>
                </a:solidFill>
                <a:latin typeface="Roboto" pitchFamily="34" charset="0"/>
                <a:ea typeface="Roboto" pitchFamily="34" charset="-122"/>
                <a:cs typeface="Roboto" pitchFamily="34" charset="-120"/>
              </a:rPr>
              <a:t>4</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60400" y="1409700"/>
          <a:ext cx="10871200" cy="914400"/>
        </p:xfrm>
        <a:graphic>
          <a:graphicData uri="http://schemas.openxmlformats.org/drawingml/2006/table">
            <a:tbl>
              <a:tblPr/>
              <a:tblGrid>
                <a:gridCol w="4565904"/>
                <a:gridCol w="4674616"/>
                <a:gridCol w="1630680"/>
              </a:tblGrid>
              <a:tr h="0">
                <a:tc>
                  <a:txBody>
                    <a:bodyPr/>
                    <a:lstStyle/>
                    <a:p>
                      <a:pPr algn="l" indent="0" marL="0">
                        <a:buNone/>
                      </a:pPr>
                      <a:r>
                        <a:rPr lang="en-US" sz="1353" b="1" dirty="0">
                          <a:solidFill>
                            <a:srgbClr val="FFFFFF"/>
                          </a:solidFill>
                          <a:latin typeface="Roboto" pitchFamily="34" charset="0"/>
                          <a:ea typeface="Roboto" pitchFamily="34" charset="-122"/>
                          <a:cs typeface="Roboto" pitchFamily="34" charset="-120"/>
                        </a:rPr>
                        <a:t>file</a:t>
                      </a:r>
                      <a:endParaRPr lang="en-US" sz="1353" dirty="0">
                        <a:latin typeface="Roboto" charset="0"/>
                        <a:ea typeface="Roboto" charset="0"/>
                        <a:cs typeface="Roboto" charset="0"/>
                      </a:endParaRPr>
                    </a:p>
                  </a:txBody>
                  <a:tcPr marL="88658" marR="88658" marT="88658" marB="8865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84D1"/>
                    </a:solidFill>
                  </a:tcPr>
                </a:tc>
                <a:tc>
                  <a:txBody>
                    <a:bodyPr/>
                    <a:lstStyle/>
                    <a:p>
                      <a:pPr algn="l" indent="0" marL="0">
                        <a:buNone/>
                      </a:pPr>
                      <a:r>
                        <a:rPr lang="en-US" sz="1353" b="1" dirty="0">
                          <a:solidFill>
                            <a:srgbClr val="FFFFFF"/>
                          </a:solidFill>
                          <a:latin typeface="Roboto" pitchFamily="34" charset="0"/>
                          <a:ea typeface="Roboto" pitchFamily="34" charset="-122"/>
                          <a:cs typeface="Roboto" pitchFamily="34" charset="-120"/>
                        </a:rPr>
                        <a:t>what it holds</a:t>
                      </a:r>
                      <a:endParaRPr lang="en-US" sz="1353" dirty="0">
                        <a:latin typeface="Roboto" charset="0"/>
                        <a:ea typeface="Roboto" charset="0"/>
                        <a:cs typeface="Roboto" charset="0"/>
                      </a:endParaRPr>
                    </a:p>
                  </a:txBody>
                  <a:tcPr marL="88658" marR="88658" marT="88658" marB="8865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84D1"/>
                    </a:solidFill>
                  </a:tcPr>
                </a:tc>
                <a:tc>
                  <a:txBody>
                    <a:bodyPr/>
                    <a:lstStyle/>
                    <a:p>
                      <a:pPr algn="r" indent="0" marL="0">
                        <a:buNone/>
                      </a:pPr>
                      <a:r>
                        <a:rPr lang="en-US" sz="1353" b="1" dirty="0">
                          <a:solidFill>
                            <a:srgbClr val="FFFFFF"/>
                          </a:solidFill>
                          <a:latin typeface="Roboto" pitchFamily="34" charset="0"/>
                          <a:ea typeface="Roboto" pitchFamily="34" charset="-122"/>
                          <a:cs typeface="Roboto" pitchFamily="34" charset="-120"/>
                        </a:rPr>
                        <a:t>size</a:t>
                      </a:r>
                      <a:endParaRPr lang="en-US" sz="1353" dirty="0">
                        <a:latin typeface="Roboto" charset="0"/>
                        <a:ea typeface="Roboto" charset="0"/>
                        <a:cs typeface="Roboto" charset="0"/>
                      </a:endParaRPr>
                    </a:p>
                  </a:txBody>
                  <a:tcPr marL="88658" marR="88658" marT="88658" marB="8865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84D1"/>
                    </a:solidFill>
                  </a:tcPr>
                </a:tc>
              </a:tr>
              <a:tr h="0">
                <a:tc>
                  <a:txBody>
                    <a:bodyPr/>
                    <a:lstStyle/>
                    <a:p>
                      <a:pPr algn="l" indent="0" marL="0">
                        <a:buNone/>
                      </a:pPr>
                      <a:r>
                        <a:rPr lang="en-US" sz="1353" dirty="0">
                          <a:solidFill>
                            <a:srgbClr val="0084D1"/>
                          </a:solidFill>
                          <a:latin typeface="Roboto" pitchFamily="34" charset="0"/>
                          <a:ea typeface="Roboto" pitchFamily="34" charset="-122"/>
                          <a:cs typeface="Roboto" pitchFamily="34" charset="-120"/>
                        </a:rPr>
                        <a:t>watdiv10m</a:t>
                      </a:r>
                      <a:pPr algn="l" indent="0" marL="0">
                        <a:buNone/>
                      </a:pPr>
                      <a:r>
                        <a:rPr lang="en-US" sz="1353" dirty="0">
                          <a:solidFill>
                            <a:srgbClr val="000000"/>
                          </a:solidFill>
                          <a:latin typeface="Roboto" pitchFamily="34" charset="0"/>
                          <a:ea typeface="Roboto" pitchFamily="34" charset="-122"/>
                          <a:cs typeface="Roboto" pitchFamily="34" charset="-120"/>
                        </a:rPr>
                        <a:t>.index.pso</a:t>
                      </a:r>
                      <a:endParaRPr lang="en-US" sz="1353" dirty="0">
                        <a:latin typeface="Roboto" charset="0"/>
                        <a:ea typeface="Roboto" charset="0"/>
                        <a:cs typeface="Roboto" charset="0"/>
                      </a:endParaRPr>
                    </a:p>
                  </a:txBody>
                  <a:tcPr marL="88658" marR="88658" marT="88658" marB="8865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353" dirty="0">
                          <a:solidFill>
                            <a:srgbClr val="000000"/>
                          </a:solidFill>
                          <a:latin typeface="Roboto" pitchFamily="34" charset="0"/>
                          <a:ea typeface="Roboto" pitchFamily="34" charset="-122"/>
                          <a:cs typeface="Roboto" pitchFamily="34" charset="-120"/>
                        </a:rPr>
                        <a:t>compressed blocks, </a:t>
                      </a:r>
                      <a:pPr algn="l" indent="0" marL="0">
                        <a:buNone/>
                      </a:pPr>
                      <a:r>
                        <a:rPr lang="en-US" sz="1353" b="1" dirty="0">
                          <a:solidFill>
                            <a:srgbClr val="000000"/>
                          </a:solidFill>
                          <a:latin typeface="Roboto" pitchFamily="34" charset="0"/>
                          <a:ea typeface="Roboto" pitchFamily="34" charset="-122"/>
                          <a:cs typeface="Roboto" pitchFamily="34" charset="-120"/>
                        </a:rPr>
                        <a:t>then the per-block metadata at the end of the same file</a:t>
                      </a:r>
                      <a:endParaRPr lang="en-US" sz="1353" dirty="0">
                        <a:latin typeface="Roboto" charset="0"/>
                        <a:ea typeface="Roboto" charset="0"/>
                        <a:cs typeface="Roboto" charset="0"/>
                      </a:endParaRPr>
                    </a:p>
                  </a:txBody>
                  <a:tcPr marL="88658" marR="88658" marT="88658" marB="8865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1353" dirty="0">
                          <a:solidFill>
                            <a:srgbClr val="000000"/>
                          </a:solidFill>
                          <a:latin typeface="Roboto" pitchFamily="34" charset="0"/>
                          <a:ea typeface="Roboto" pitchFamily="34" charset="-122"/>
                          <a:cs typeface="Roboto" pitchFamily="34" charset="-120"/>
                        </a:rPr>
                        <a:t>47.5 MB</a:t>
                      </a:r>
                      <a:endParaRPr lang="en-US" sz="1353" dirty="0">
                        <a:latin typeface="Roboto" charset="0"/>
                        <a:ea typeface="Roboto" charset="0"/>
                        <a:cs typeface="Roboto" charset="0"/>
                      </a:endParaRPr>
                    </a:p>
                  </a:txBody>
                  <a:tcPr marL="88658" marR="88658" marT="88658" marB="8865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0">
                <a:tc>
                  <a:txBody>
                    <a:bodyPr/>
                    <a:lstStyle/>
                    <a:p>
                      <a:pPr algn="l" indent="0" marL="0">
                        <a:buNone/>
                      </a:pPr>
                      <a:r>
                        <a:rPr lang="en-US" sz="1353" dirty="0">
                          <a:solidFill>
                            <a:srgbClr val="000000"/>
                          </a:solidFill>
                          <a:latin typeface="Roboto" pitchFamily="34" charset="0"/>
                          <a:ea typeface="Roboto" pitchFamily="34" charset="-122"/>
                          <a:cs typeface="Roboto" pitchFamily="34" charset="-120"/>
                        </a:rPr>
                        <a:t>watdiv10m.index.pso</a:t>
                      </a:r>
                      <a:pPr algn="l" indent="0" marL="0">
                        <a:buNone/>
                      </a:pPr>
                      <a:r>
                        <a:rPr lang="en-US" sz="1353" b="1" dirty="0">
                          <a:solidFill>
                            <a:srgbClr val="000000"/>
                          </a:solidFill>
                          <a:latin typeface="Roboto" pitchFamily="34" charset="0"/>
                          <a:ea typeface="Roboto" pitchFamily="34" charset="-122"/>
                          <a:cs typeface="Roboto" pitchFamily="34" charset="-120"/>
                        </a:rPr>
                        <a:t>.meta</a:t>
                      </a:r>
                      <a:endParaRPr lang="en-US" sz="1353" dirty="0">
                        <a:latin typeface="Roboto" charset="0"/>
                        <a:ea typeface="Roboto" charset="0"/>
                        <a:cs typeface="Roboto" charset="0"/>
                      </a:endParaRPr>
                    </a:p>
                  </a:txBody>
                  <a:tcPr marL="88658" marR="88658" marT="88658" marB="8865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353" dirty="0">
                          <a:solidFill>
                            <a:srgbClr val="000000"/>
                          </a:solidFill>
                          <a:latin typeface="Roboto" pitchFamily="34" charset="0"/>
                          <a:ea typeface="Roboto" pitchFamily="34" charset="-122"/>
                          <a:cs typeface="Roboto" pitchFamily="34" charset="-120"/>
                        </a:rPr>
                        <a:t>per-relation metadata</a:t>
                      </a:r>
                      <a:endParaRPr lang="en-US" sz="1353" dirty="0">
                        <a:latin typeface="Roboto" charset="0"/>
                        <a:ea typeface="Roboto" charset="0"/>
                        <a:cs typeface="Roboto" charset="0"/>
                      </a:endParaRPr>
                    </a:p>
                  </a:txBody>
                  <a:tcPr marL="88658" marR="88658" marT="88658" marB="8865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1353" dirty="0">
                          <a:solidFill>
                            <a:srgbClr val="000000"/>
                          </a:solidFill>
                          <a:latin typeface="Roboto" pitchFamily="34" charset="0"/>
                          <a:ea typeface="Roboto" pitchFamily="34" charset="-122"/>
                          <a:cs typeface="Roboto" pitchFamily="34" charset="-120"/>
                        </a:rPr>
                        <a:t>992 B</a:t>
                      </a:r>
                      <a:endParaRPr lang="en-US" sz="1353" dirty="0">
                        <a:latin typeface="Roboto" charset="0"/>
                        <a:ea typeface="Roboto" charset="0"/>
                        <a:cs typeface="Roboto" charset="0"/>
                      </a:endParaRPr>
                    </a:p>
                  </a:txBody>
                  <a:tcPr marL="88658" marR="88658" marT="88658" marB="8865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0">
                <a:tc>
                  <a:txBody>
                    <a:bodyPr/>
                    <a:lstStyle/>
                    <a:p>
                      <a:pPr algn="l" indent="0" marL="0">
                        <a:buNone/>
                      </a:pPr>
                      <a:r>
                        <a:rPr lang="en-US" sz="1353" dirty="0">
                          <a:solidFill>
                            <a:srgbClr val="000000"/>
                          </a:solidFill>
                          <a:latin typeface="Roboto" pitchFamily="34" charset="0"/>
                          <a:ea typeface="Roboto" pitchFamily="34" charset="-122"/>
                          <a:cs typeface="Roboto" pitchFamily="34" charset="-120"/>
                        </a:rPr>
                        <a:t>… and the same for </a:t>
                      </a:r>
                      <a:pPr algn="l" indent="0" marL="0">
                        <a:buNone/>
                      </a:pPr>
                      <a:r>
                        <a:rPr lang="en-US" sz="1353" b="1" dirty="0">
                          <a:solidFill>
                            <a:srgbClr val="000000"/>
                          </a:solidFill>
                          <a:latin typeface="Roboto" pitchFamily="34" charset="0"/>
                          <a:ea typeface="Roboto" pitchFamily="34" charset="-122"/>
                          <a:cs typeface="Roboto" pitchFamily="34" charset="-120"/>
                        </a:rPr>
                        <a:t>5 other permutations</a:t>
                      </a:r>
                      <a:endParaRPr lang="en-US" sz="1353" dirty="0">
                        <a:latin typeface="Roboto" charset="0"/>
                        <a:ea typeface="Roboto" charset="0"/>
                        <a:cs typeface="Roboto" charset="0"/>
                      </a:endParaRPr>
                    </a:p>
                  </a:txBody>
                  <a:tcPr marL="88658" marR="88658" marT="88658" marB="8865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353" dirty="0">
                          <a:solidFill>
                            <a:srgbClr val="000000"/>
                          </a:solidFill>
                          <a:latin typeface="Roboto" pitchFamily="34" charset="0"/>
                          <a:ea typeface="Roboto" pitchFamily="34" charset="-122"/>
                          <a:cs typeface="Roboto" pitchFamily="34" charset="-120"/>
                        </a:rPr>
                        <a:t>POS, SPO, SOP, OPS, OSP</a:t>
                      </a:r>
                      <a:endParaRPr lang="en-US" sz="1353" dirty="0">
                        <a:latin typeface="Roboto" charset="0"/>
                        <a:ea typeface="Roboto" charset="0"/>
                        <a:cs typeface="Roboto" charset="0"/>
                      </a:endParaRPr>
                    </a:p>
                  </a:txBody>
                  <a:tcPr marL="88658" marR="88658" marT="88658" marB="8865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1353" dirty="0">
                          <a:solidFill>
                            <a:srgbClr val="000000"/>
                          </a:solidFill>
                          <a:latin typeface="Roboto" pitchFamily="34" charset="0"/>
                          <a:ea typeface="Roboto" pitchFamily="34" charset="-122"/>
                          <a:cs typeface="Roboto" pitchFamily="34" charset="-120"/>
                        </a:rPr>
                        <a:t>258 MB</a:t>
                      </a:r>
                      <a:endParaRPr lang="en-US" sz="1353" dirty="0">
                        <a:latin typeface="Roboto" charset="0"/>
                        <a:ea typeface="Roboto" charset="0"/>
                        <a:cs typeface="Roboto" charset="0"/>
                      </a:endParaRPr>
                    </a:p>
                  </a:txBody>
                  <a:tcPr marL="88658" marR="88658" marT="88658" marB="8865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0">
                <a:tc>
                  <a:txBody>
                    <a:bodyPr/>
                    <a:lstStyle/>
                    <a:p>
                      <a:pPr algn="l" indent="0" marL="0">
                        <a:buNone/>
                      </a:pPr>
                      <a:r>
                        <a:rPr lang="en-US" sz="1353" dirty="0">
                          <a:solidFill>
                            <a:srgbClr val="000000"/>
                          </a:solidFill>
                          <a:latin typeface="Roboto" pitchFamily="34" charset="0"/>
                          <a:ea typeface="Roboto" pitchFamily="34" charset="-122"/>
                          <a:cs typeface="Roboto" pitchFamily="34" charset="-120"/>
                        </a:rPr>
                        <a:t>watdiv10m.vocabulary.words.</a:t>
                      </a:r>
                      <a:pPr algn="l" indent="0" marL="0">
                        <a:buNone/>
                      </a:pPr>
                      <a:r>
                        <a:rPr lang="en-US" sz="1353" b="1" dirty="0">
                          <a:solidFill>
                            <a:srgbClr val="000000"/>
                          </a:solidFill>
                          <a:latin typeface="Roboto" pitchFamily="34" charset="0"/>
                          <a:ea typeface="Roboto" pitchFamily="34" charset="-122"/>
                          <a:cs typeface="Roboto" pitchFamily="34" charset="-120"/>
                        </a:rPr>
                        <a:t>external</a:t>
                      </a:r>
                      <a:endParaRPr lang="en-US" sz="1353" dirty="0">
                        <a:latin typeface="Roboto" charset="0"/>
                        <a:ea typeface="Roboto" charset="0"/>
                        <a:cs typeface="Roboto" charset="0"/>
                      </a:endParaRPr>
                    </a:p>
                  </a:txBody>
                  <a:tcPr marL="88658" marR="88658" marT="88658" marB="8865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353" dirty="0">
                          <a:solidFill>
                            <a:srgbClr val="000000"/>
                          </a:solidFill>
                          <a:latin typeface="Roboto" pitchFamily="34" charset="0"/>
                          <a:ea typeface="Roboto" pitchFamily="34" charset="-122"/>
                          <a:cs typeface="Roboto" pitchFamily="34" charset="-120"/>
                        </a:rPr>
                        <a:t>the strings themselves, plus a file of offsets into them</a:t>
                      </a:r>
                      <a:endParaRPr lang="en-US" sz="1353" dirty="0">
                        <a:latin typeface="Roboto" charset="0"/>
                        <a:ea typeface="Roboto" charset="0"/>
                        <a:cs typeface="Roboto" charset="0"/>
                      </a:endParaRPr>
                    </a:p>
                  </a:txBody>
                  <a:tcPr marL="88658" marR="88658" marT="88658" marB="8865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1353" dirty="0">
                          <a:solidFill>
                            <a:srgbClr val="000000"/>
                          </a:solidFill>
                          <a:latin typeface="Roboto" pitchFamily="34" charset="0"/>
                          <a:ea typeface="Roboto" pitchFamily="34" charset="-122"/>
                          <a:cs typeface="Roboto" pitchFamily="34" charset="-120"/>
                        </a:rPr>
                        <a:t>36 MB</a:t>
                      </a:r>
                      <a:endParaRPr lang="en-US" sz="1353" dirty="0">
                        <a:latin typeface="Roboto" charset="0"/>
                        <a:ea typeface="Roboto" charset="0"/>
                        <a:cs typeface="Roboto" charset="0"/>
                      </a:endParaRPr>
                    </a:p>
                  </a:txBody>
                  <a:tcPr marL="88658" marR="88658" marT="88658" marB="8865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0">
                <a:tc>
                  <a:txBody>
                    <a:bodyPr/>
                    <a:lstStyle/>
                    <a:p>
                      <a:pPr algn="l" indent="0" marL="0">
                        <a:buNone/>
                      </a:pPr>
                      <a:r>
                        <a:rPr lang="en-US" sz="1353" dirty="0">
                          <a:solidFill>
                            <a:srgbClr val="000000"/>
                          </a:solidFill>
                          <a:latin typeface="Roboto" pitchFamily="34" charset="0"/>
                          <a:ea typeface="Roboto" pitchFamily="34" charset="-122"/>
                          <a:cs typeface="Roboto" pitchFamily="34" charset="-120"/>
                        </a:rPr>
                        <a:t>watdiv10m.vocabulary.words.</a:t>
                      </a:r>
                      <a:pPr algn="l" indent="0" marL="0">
                        <a:buNone/>
                      </a:pPr>
                      <a:r>
                        <a:rPr lang="en-US" sz="1353" b="1" dirty="0">
                          <a:solidFill>
                            <a:srgbClr val="000000"/>
                          </a:solidFill>
                          <a:latin typeface="Roboto" pitchFamily="34" charset="0"/>
                          <a:ea typeface="Roboto" pitchFamily="34" charset="-122"/>
                          <a:cs typeface="Roboto" pitchFamily="34" charset="-120"/>
                        </a:rPr>
                        <a:t>internal</a:t>
                      </a:r>
                      <a:endParaRPr lang="en-US" sz="1353" dirty="0">
                        <a:latin typeface="Roboto" charset="0"/>
                        <a:ea typeface="Roboto" charset="0"/>
                        <a:cs typeface="Roboto" charset="0"/>
                      </a:endParaRPr>
                    </a:p>
                  </a:txBody>
                  <a:tcPr marL="88658" marR="88658" marT="88658" marB="8865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353" dirty="0">
                          <a:solidFill>
                            <a:srgbClr val="000000"/>
                          </a:solidFill>
                          <a:latin typeface="Roboto" pitchFamily="34" charset="0"/>
                          <a:ea typeface="Roboto" pitchFamily="34" charset="-122"/>
                          <a:cs typeface="Roboto" pitchFamily="34" charset="-120"/>
                        </a:rPr>
                        <a:t>the words kept in RAM, plus their ids and codebooks</a:t>
                      </a:r>
                      <a:endParaRPr lang="en-US" sz="1353" dirty="0">
                        <a:latin typeface="Roboto" charset="0"/>
                        <a:ea typeface="Roboto" charset="0"/>
                        <a:cs typeface="Roboto" charset="0"/>
                      </a:endParaRPr>
                    </a:p>
                  </a:txBody>
                  <a:tcPr marL="88658" marR="88658" marT="88658" marB="8865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1353" dirty="0">
                          <a:solidFill>
                            <a:srgbClr val="000000"/>
                          </a:solidFill>
                          <a:latin typeface="Roboto" pitchFamily="34" charset="0"/>
                          <a:ea typeface="Roboto" pitchFamily="34" charset="-122"/>
                          <a:cs typeface="Roboto" pitchFamily="34" charset="-120"/>
                        </a:rPr>
                        <a:t>53 kB</a:t>
                      </a:r>
                      <a:endParaRPr lang="en-US" sz="1353" dirty="0">
                        <a:latin typeface="Roboto" charset="0"/>
                        <a:ea typeface="Roboto" charset="0"/>
                        <a:cs typeface="Roboto" charset="0"/>
                      </a:endParaRPr>
                    </a:p>
                  </a:txBody>
                  <a:tcPr marL="88658" marR="88658" marT="88658" marB="8865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0">
                <a:tc>
                  <a:txBody>
                    <a:bodyPr/>
                    <a:lstStyle/>
                    <a:p>
                      <a:pPr algn="l" indent="0" marL="0">
                        <a:buNone/>
                      </a:pPr>
                      <a:r>
                        <a:rPr lang="en-US" sz="1353" dirty="0">
                          <a:solidFill>
                            <a:srgbClr val="000000"/>
                          </a:solidFill>
                          <a:latin typeface="Roboto" pitchFamily="34" charset="0"/>
                          <a:ea typeface="Roboto" pitchFamily="34" charset="-122"/>
                          <a:cs typeface="Roboto" pitchFamily="34" charset="-120"/>
                        </a:rPr>
                        <a:t>watdiv10m.</a:t>
                      </a:r>
                      <a:pPr algn="l" indent="0" marL="0">
                        <a:buNone/>
                      </a:pPr>
                      <a:r>
                        <a:rPr lang="en-US" sz="1353" b="1" dirty="0">
                          <a:solidFill>
                            <a:srgbClr val="000000"/>
                          </a:solidFill>
                          <a:latin typeface="Roboto" pitchFamily="34" charset="0"/>
                          <a:ea typeface="Roboto" pitchFamily="34" charset="-122"/>
                          <a:cs typeface="Roboto" pitchFamily="34" charset="-120"/>
                        </a:rPr>
                        <a:t>internal</a:t>
                      </a:r>
                      <a:pPr algn="l" indent="0" marL="0">
                        <a:buNone/>
                      </a:pPr>
                      <a:r>
                        <a:rPr lang="en-US" sz="1353" dirty="0">
                          <a:solidFill>
                            <a:srgbClr val="000000"/>
                          </a:solidFill>
                          <a:latin typeface="Roboto" pitchFamily="34" charset="0"/>
                          <a:ea typeface="Roboto" pitchFamily="34" charset="-122"/>
                          <a:cs typeface="Roboto" pitchFamily="34" charset="-120"/>
                        </a:rPr>
                        <a:t>.index.pso / .pos</a:t>
                      </a:r>
                      <a:endParaRPr lang="en-US" sz="1353" dirty="0">
                        <a:latin typeface="Roboto" charset="0"/>
                        <a:ea typeface="Roboto" charset="0"/>
                        <a:cs typeface="Roboto" charset="0"/>
                      </a:endParaRPr>
                    </a:p>
                  </a:txBody>
                  <a:tcPr marL="88658" marR="88658" marT="88658" marB="8865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353" dirty="0">
                          <a:solidFill>
                            <a:srgbClr val="000000"/>
                          </a:solidFill>
                          <a:latin typeface="Roboto" pitchFamily="34" charset="0"/>
                          <a:ea typeface="Roboto" pitchFamily="34" charset="-122"/>
                          <a:cs typeface="Roboto" pitchFamily="34" charset="-120"/>
                        </a:rPr>
                        <a:t>QLever’s own triples (patterns, graph names)</a:t>
                      </a:r>
                      <a:endParaRPr lang="en-US" sz="1353" dirty="0">
                        <a:latin typeface="Roboto" charset="0"/>
                        <a:ea typeface="Roboto" charset="0"/>
                        <a:cs typeface="Roboto" charset="0"/>
                      </a:endParaRPr>
                    </a:p>
                  </a:txBody>
                  <a:tcPr marL="88658" marR="88658" marT="88658" marB="8865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1353" dirty="0">
                          <a:solidFill>
                            <a:srgbClr val="000000"/>
                          </a:solidFill>
                          <a:latin typeface="Roboto" pitchFamily="34" charset="0"/>
                          <a:ea typeface="Roboto" pitchFamily="34" charset="-122"/>
                          <a:cs typeface="Roboto" pitchFamily="34" charset="-120"/>
                        </a:rPr>
                        <a:t>1.7 MB</a:t>
                      </a:r>
                      <a:endParaRPr lang="en-US" sz="1353" dirty="0">
                        <a:latin typeface="Roboto" charset="0"/>
                        <a:ea typeface="Roboto" charset="0"/>
                        <a:cs typeface="Roboto" charset="0"/>
                      </a:endParaRPr>
                    </a:p>
                  </a:txBody>
                  <a:tcPr marL="88658" marR="88658" marT="88658" marB="8865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0">
                <a:tc>
                  <a:txBody>
                    <a:bodyPr/>
                    <a:lstStyle/>
                    <a:p>
                      <a:pPr algn="l" indent="0" marL="0">
                        <a:buNone/>
                      </a:pPr>
                      <a:r>
                        <a:rPr lang="en-US" sz="1353" dirty="0">
                          <a:solidFill>
                            <a:srgbClr val="000000"/>
                          </a:solidFill>
                          <a:latin typeface="Roboto" pitchFamily="34" charset="0"/>
                          <a:ea typeface="Roboto" pitchFamily="34" charset="-122"/>
                          <a:cs typeface="Roboto" pitchFamily="34" charset="-120"/>
                        </a:rPr>
                        <a:t>watdiv10m.</a:t>
                      </a:r>
                      <a:pPr algn="l" indent="0" marL="0">
                        <a:buNone/>
                      </a:pPr>
                      <a:r>
                        <a:rPr lang="en-US" sz="1353" b="1" dirty="0">
                          <a:solidFill>
                            <a:srgbClr val="000000"/>
                          </a:solidFill>
                          <a:latin typeface="Roboto" pitchFamily="34" charset="0"/>
                          <a:ea typeface="Roboto" pitchFamily="34" charset="-122"/>
                          <a:cs typeface="Roboto" pitchFamily="34" charset="-120"/>
                        </a:rPr>
                        <a:t>meta-data.json</a:t>
                      </a:r>
                      <a:endParaRPr lang="en-US" sz="1353" dirty="0">
                        <a:latin typeface="Roboto" charset="0"/>
                        <a:ea typeface="Roboto" charset="0"/>
                        <a:cs typeface="Roboto" charset="0"/>
                      </a:endParaRPr>
                    </a:p>
                  </a:txBody>
                  <a:tcPr marL="88658" marR="88658" marT="88658" marB="8865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353" dirty="0">
                          <a:solidFill>
                            <a:srgbClr val="000000"/>
                          </a:solidFill>
                          <a:latin typeface="Roboto" pitchFamily="34" charset="0"/>
                          <a:ea typeface="Roboto" pitchFamily="34" charset="-122"/>
                          <a:cs typeface="Roboto" pitchFamily="34" charset="-120"/>
                        </a:rPr>
                        <a:t>build settings: locale, prefixes, </a:t>
                      </a:r>
                      <a:pPr algn="l" indent="0" marL="0">
                        <a:buNone/>
                      </a:pPr>
                      <a:r>
                        <a:rPr lang="en-US" sz="1353" b="1" dirty="0">
                          <a:solidFill>
                            <a:srgbClr val="000000"/>
                          </a:solidFill>
                          <a:latin typeface="Roboto" pitchFamily="34" charset="0"/>
                          <a:ea typeface="Roboto" pitchFamily="34" charset="-122"/>
                          <a:cs typeface="Roboto" pitchFamily="34" charset="-120"/>
                        </a:rPr>
                        <a:t>index-rows-per-block</a:t>
                      </a:r>
                      <a:pPr algn="l" indent="0" marL="0">
                        <a:buNone/>
                      </a:pPr>
                      <a:r>
                        <a:rPr lang="en-US" sz="1353" dirty="0">
                          <a:solidFill>
                            <a:srgbClr val="000000"/>
                          </a:solidFill>
                          <a:latin typeface="Roboto" pitchFamily="34" charset="0"/>
                          <a:ea typeface="Roboto" pitchFamily="34" charset="-122"/>
                          <a:cs typeface="Roboto" pitchFamily="34" charset="-120"/>
                        </a:rPr>
                        <a:t>, format version</a:t>
                      </a:r>
                      <a:endParaRPr lang="en-US" sz="1353" dirty="0">
                        <a:latin typeface="Roboto" charset="0"/>
                        <a:ea typeface="Roboto" charset="0"/>
                        <a:cs typeface="Roboto" charset="0"/>
                      </a:endParaRPr>
                    </a:p>
                  </a:txBody>
                  <a:tcPr marL="88658" marR="88658" marT="88658" marB="8865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1353" dirty="0">
                          <a:solidFill>
                            <a:srgbClr val="000000"/>
                          </a:solidFill>
                          <a:latin typeface="Roboto" pitchFamily="34" charset="0"/>
                          <a:ea typeface="Roboto" pitchFamily="34" charset="-122"/>
                          <a:cs typeface="Roboto" pitchFamily="34" charset="-120"/>
                        </a:rPr>
                        <a:t>809 B</a:t>
                      </a:r>
                      <a:endParaRPr lang="en-US" sz="1353" dirty="0">
                        <a:latin typeface="Roboto" charset="0"/>
                        <a:ea typeface="Roboto" charset="0"/>
                        <a:cs typeface="Roboto" charset="0"/>
                      </a:endParaRPr>
                    </a:p>
                  </a:txBody>
                  <a:tcPr marL="88658" marR="88658" marT="88658" marB="8865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660400" y="5817654"/>
            <a:ext cx="10871200" cy="274684"/>
          </a:xfrm>
          <a:prstGeom prst="rect">
            <a:avLst/>
          </a:prstGeom>
          <a:noFill/>
          <a:ln/>
        </p:spPr>
        <p:txBody>
          <a:bodyPr wrap="square" lIns="0" tIns="0" rIns="0" bIns="0" rtlCol="0" anchor="t"/>
          <a:lstStyle/>
          <a:p>
            <a:pPr algn="l" indent="0" marL="0">
              <a:lnSpc>
                <a:spcPct val="135000"/>
              </a:lnSpc>
              <a:buNone/>
            </a:pPr>
            <a:r>
              <a:rPr lang="en-US" sz="1483" b="1" dirty="0">
                <a:solidFill>
                  <a:srgbClr val="000000"/>
                </a:solidFill>
                <a:latin typeface="Roboto" pitchFamily="34" charset="0"/>
                <a:ea typeface="Roboto" pitchFamily="34" charset="-122"/>
                <a:cs typeface="Roboto" pitchFamily="34" charset="-120"/>
              </a:rPr>
              <a:t>10,916,457 triples — </a:t>
            </a:r>
            <a:pPr algn="l" indent="0" marL="0">
              <a:lnSpc>
                <a:spcPct val="135000"/>
              </a:lnSpc>
              <a:buNone/>
            </a:pPr>
            <a:r>
              <a:rPr lang="en-US" sz="1483" b="1" dirty="0">
                <a:solidFill>
                  <a:srgbClr val="38761D"/>
                </a:solidFill>
                <a:latin typeface="Roboto" pitchFamily="34" charset="0"/>
                <a:ea typeface="Roboto" pitchFamily="34" charset="-122"/>
                <a:cs typeface="Roboto" pitchFamily="34" charset="-120"/>
              </a:rPr>
              <a:t>285 MB in total</a:t>
            </a:r>
            <a:pPr algn="l" indent="0" marL="0">
              <a:lnSpc>
                <a:spcPct val="135000"/>
              </a:lnSpc>
              <a:buNone/>
            </a:pPr>
            <a:r>
              <a:rPr lang="en-US" sz="1483" b="1" dirty="0">
                <a:solidFill>
                  <a:srgbClr val="000000"/>
                </a:solidFill>
                <a:latin typeface="Roboto" pitchFamily="34" charset="0"/>
                <a:ea typeface="Roboto" pitchFamily="34" charset="-122"/>
                <a:cs typeface="Roboto" pitchFamily="34" charset="-120"/>
              </a:rPr>
              <a:t>, against 1.7 GB for the same data in Blazegraph.</a:t>
            </a:r>
            <a:endParaRPr lang="en-US" sz="1483"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155700"/>
          </a:xfrm>
          <a:prstGeom prst="rect">
            <a:avLst/>
          </a:prstGeom>
          <a:solidFill>
            <a:srgbClr val="0084D1"/>
          </a:solidFill>
          <a:ln/>
        </p:spPr>
      </p:sp>
      <p:sp>
        <p:nvSpPr>
          <p:cNvPr id="3" name="Text 1"/>
          <p:cNvSpPr txBox="1"/>
          <p:nvPr/>
        </p:nvSpPr>
        <p:spPr>
          <a:xfrm>
            <a:off x="0" y="228600"/>
            <a:ext cx="12192000" cy="934720"/>
          </a:xfrm>
          <a:prstGeom prst="rect">
            <a:avLst/>
          </a:prstGeom>
          <a:noFill/>
          <a:ln/>
        </p:spPr>
        <p:txBody>
          <a:bodyPr wrap="square" lIns="0" tIns="0" rIns="0" bIns="0" rtlCol="0" anchor="t"/>
          <a:lstStyle/>
          <a:p>
            <a:pPr algn="ctr" indent="0" marL="0">
              <a:lnSpc>
                <a:spcPct val="110000"/>
              </a:lnSpc>
              <a:buNone/>
            </a:pPr>
            <a:r>
              <a:rPr lang="en-US" sz="4600" b="1" dirty="0">
                <a:solidFill>
                  <a:srgbClr val="FFFFFF"/>
                </a:solidFill>
                <a:latin typeface="Roboto Slab" pitchFamily="34" charset="0"/>
                <a:ea typeface="Roboto Slab" pitchFamily="34" charset="-122"/>
                <a:cs typeface="Roboto Slab" pitchFamily="34" charset="-120"/>
              </a:rPr>
              <a:t>Before the triples: the Id</a:t>
            </a:r>
            <a:endParaRPr lang="en-US" sz="4600" dirty="0"/>
          </a:p>
        </p:txBody>
      </p:sp>
      <p:sp>
        <p:nvSpPr>
          <p:cNvPr id="4" name="Text 2"/>
          <p:cNvSpPr txBox="1"/>
          <p:nvPr/>
        </p:nvSpPr>
        <p:spPr>
          <a:xfrm>
            <a:off x="10795000" y="6347460"/>
            <a:ext cx="889000" cy="264160"/>
          </a:xfrm>
          <a:prstGeom prst="rect">
            <a:avLst/>
          </a:prstGeom>
          <a:noFill/>
          <a:ln/>
        </p:spPr>
        <p:txBody>
          <a:bodyPr wrap="square" lIns="0" tIns="0" rIns="0" bIns="0" rtlCol="0" anchor="t"/>
          <a:lstStyle/>
          <a:p>
            <a:pPr algn="r" indent="0" marL="0">
              <a:lnSpc>
                <a:spcPct val="120000"/>
              </a:lnSpc>
              <a:buNone/>
            </a:pPr>
            <a:r>
              <a:rPr lang="en-US" sz="1300" dirty="0">
                <a:solidFill>
                  <a:srgbClr val="595959"/>
                </a:solidFill>
                <a:latin typeface="Roboto" pitchFamily="34" charset="0"/>
                <a:ea typeface="Roboto" pitchFamily="34" charset="-122"/>
                <a:cs typeface="Roboto" pitchFamily="34" charset="-120"/>
              </a:rPr>
              <a:t>5</a:t>
            </a:r>
            <a:endParaRPr lang="en-US" sz="1300" dirty="0"/>
          </a:p>
        </p:txBody>
      </p:sp>
      <p:sp>
        <p:nvSpPr>
          <p:cNvPr id="6" name="Text 3"/>
          <p:cNvSpPr txBox="1"/>
          <p:nvPr/>
        </p:nvSpPr>
        <p:spPr>
          <a:xfrm>
            <a:off x="660400" y="1358900"/>
            <a:ext cx="10871200" cy="633679"/>
          </a:xfrm>
          <a:prstGeom prst="rect">
            <a:avLst/>
          </a:prstGeom>
          <a:noFill/>
          <a:ln/>
        </p:spPr>
        <p:txBody>
          <a:bodyPr wrap="square" lIns="0" tIns="0" rIns="0" bIns="0" rtlCol="0" anchor="t"/>
          <a:lstStyle/>
          <a:p>
            <a:pPr algn="l" indent="0" marL="0">
              <a:lnSpc>
                <a:spcPct val="140000"/>
              </a:lnSpc>
              <a:buNone/>
            </a:pPr>
            <a:r>
              <a:rPr lang="en-US" sz="1650" dirty="0">
                <a:solidFill>
                  <a:srgbClr val="000000"/>
                </a:solidFill>
                <a:latin typeface="Roboto" pitchFamily="34" charset="0"/>
                <a:ea typeface="Roboto" pitchFamily="34" charset="-122"/>
                <a:cs typeface="Roboto" pitchFamily="34" charset="-120"/>
              </a:rPr>
              <a:t>A permutation stores no strings, only </a:t>
            </a:r>
            <a:pPr algn="l" indent="0" marL="0">
              <a:lnSpc>
                <a:spcPct val="140000"/>
              </a:lnSpc>
              <a:buNone/>
            </a:pPr>
            <a:r>
              <a:rPr lang="en-US" sz="1650" b="1" dirty="0">
                <a:solidFill>
                  <a:srgbClr val="000000"/>
                </a:solidFill>
                <a:latin typeface="Roboto" pitchFamily="34" charset="0"/>
                <a:ea typeface="Roboto" pitchFamily="34" charset="-122"/>
                <a:cs typeface="Roboto" pitchFamily="34" charset="-120"/>
              </a:rPr>
              <a:t>64-bit Ids</a:t>
            </a:r>
            <a:pPr algn="l" indent="0" marL="0">
              <a:lnSpc>
                <a:spcPct val="140000"/>
              </a:lnSpc>
              <a:buNone/>
            </a:pPr>
            <a:r>
              <a:rPr lang="en-US" sz="1650" dirty="0">
                <a:solidFill>
                  <a:srgbClr val="000000"/>
                </a:solidFill>
                <a:latin typeface="Roboto" pitchFamily="34" charset="0"/>
                <a:ea typeface="Roboto" pitchFamily="34" charset="-122"/>
                <a:cs typeface="Roboto" pitchFamily="34" charset="-120"/>
              </a:rPr>
              <a:t>: </a:t>
            </a:r>
            <a:pPr algn="l" indent="0" marL="0">
              <a:lnSpc>
                <a:spcPct val="140000"/>
              </a:lnSpc>
              <a:buNone/>
            </a:pPr>
            <a:r>
              <a:rPr lang="en-US" sz="1650" b="1" dirty="0">
                <a:solidFill>
                  <a:srgbClr val="0084D1"/>
                </a:solidFill>
                <a:latin typeface="Roboto" pitchFamily="34" charset="0"/>
                <a:ea typeface="Roboto" pitchFamily="34" charset="-122"/>
                <a:cs typeface="Roboto" pitchFamily="34" charset="-120"/>
              </a:rPr>
              <a:t>4 bits of datatype</a:t>
            </a:r>
            <a:pPr algn="l" indent="0" marL="0">
              <a:lnSpc>
                <a:spcPct val="140000"/>
              </a:lnSpc>
              <a:buNone/>
            </a:pPr>
            <a:r>
              <a:rPr lang="en-US" sz="1650" dirty="0">
                <a:solidFill>
                  <a:srgbClr val="000000"/>
                </a:solidFill>
                <a:latin typeface="Roboto" pitchFamily="34" charset="0"/>
                <a:ea typeface="Roboto" pitchFamily="34" charset="-122"/>
                <a:cs typeface="Roboto" pitchFamily="34" charset="-120"/>
              </a:rPr>
              <a:t> and </a:t>
            </a:r>
            <a:pPr algn="l" indent="0" marL="0">
              <a:lnSpc>
                <a:spcPct val="140000"/>
              </a:lnSpc>
              <a:buNone/>
            </a:pPr>
            <a:r>
              <a:rPr lang="en-US" sz="1650" b="1" dirty="0">
                <a:solidFill>
                  <a:srgbClr val="38761D"/>
                </a:solidFill>
                <a:latin typeface="Roboto" pitchFamily="34" charset="0"/>
                <a:ea typeface="Roboto" pitchFamily="34" charset="-122"/>
                <a:cs typeface="Roboto" pitchFamily="34" charset="-120"/>
              </a:rPr>
              <a:t>60 bits of value</a:t>
            </a:r>
            <a:pPr algn="l" indent="0" marL="0">
              <a:lnSpc>
                <a:spcPct val="140000"/>
              </a:lnSpc>
              <a:buNone/>
            </a:pPr>
            <a:r>
              <a:rPr lang="en-US" sz="1650" dirty="0">
                <a:solidFill>
                  <a:srgbClr val="000000"/>
                </a:solidFill>
                <a:latin typeface="Roboto" pitchFamily="34" charset="0"/>
                <a:ea typeface="Roboto" pitchFamily="34" charset="-122"/>
                <a:cs typeface="Roboto" pitchFamily="34" charset="-120"/>
              </a:rPr>
              <a:t> — 13 datatypes defined of the 16 the tag allows.</a:t>
            </a:r>
            <a:endParaRPr lang="en-US" sz="1650" dirty="0"/>
          </a:p>
        </p:txBody>
      </p:sp>
      <p:sp>
        <p:nvSpPr>
          <p:cNvPr id="7" name="Shape 4"/>
          <p:cNvSpPr/>
          <p:nvPr/>
        </p:nvSpPr>
        <p:spPr>
          <a:xfrm>
            <a:off x="660400" y="2132279"/>
            <a:ext cx="1905000" cy="318262"/>
          </a:xfrm>
          <a:prstGeom prst="rect">
            <a:avLst/>
          </a:prstGeom>
          <a:solidFill>
            <a:srgbClr val="0084D1"/>
          </a:solidFill>
          <a:ln w="25400">
            <a:solidFill>
              <a:srgbClr val="000000"/>
            </a:solidFill>
            <a:prstDash val="solid"/>
          </a:ln>
        </p:spPr>
      </p:sp>
      <p:sp>
        <p:nvSpPr>
          <p:cNvPr id="8" name="Text 5"/>
          <p:cNvSpPr txBox="1"/>
          <p:nvPr/>
        </p:nvSpPr>
        <p:spPr>
          <a:xfrm>
            <a:off x="660400" y="2132279"/>
            <a:ext cx="1905000" cy="267462"/>
          </a:xfrm>
          <a:prstGeom prst="rect">
            <a:avLst/>
          </a:prstGeom>
          <a:noFill/>
          <a:ln/>
        </p:spPr>
        <p:txBody>
          <a:bodyPr wrap="square" lIns="0" tIns="0" rIns="0" bIns="0" rtlCol="0" anchor="t"/>
          <a:lstStyle/>
          <a:p>
            <a:pPr algn="ctr" indent="0" marL="0">
              <a:lnSpc>
                <a:spcPct val="130000"/>
              </a:lnSpc>
              <a:buNone/>
            </a:pPr>
            <a:r>
              <a:rPr lang="en-US" sz="1500" b="1" dirty="0">
                <a:solidFill>
                  <a:srgbClr val="FFFFFF"/>
                </a:solidFill>
                <a:latin typeface="Roboto" pitchFamily="34" charset="0"/>
                <a:ea typeface="Roboto" pitchFamily="34" charset="-122"/>
                <a:cs typeface="Roboto" pitchFamily="34" charset="-120"/>
              </a:rPr>
              <a:t>4 bits</a:t>
            </a:r>
            <a:pPr algn="ctr" indent="0" marL="0">
              <a:lnSpc>
                <a:spcPct val="130000"/>
              </a:lnSpc>
              <a:buNone/>
            </a:pPr>
            <a:endParaRPr lang="en-US" sz="1500" dirty="0"/>
          </a:p>
          <a:p>
            <a:pPr algn="ctr" indent="0" marL="0">
              <a:lnSpc>
                <a:spcPct val="130000"/>
              </a:lnSpc>
              <a:buNone/>
            </a:pPr>
            <a:r>
              <a:rPr lang="en-US" sz="1500" b="1" dirty="0">
                <a:solidFill>
                  <a:srgbClr val="FFFFFF"/>
                </a:solidFill>
                <a:latin typeface="Roboto" pitchFamily="34" charset="0"/>
                <a:ea typeface="Roboto" pitchFamily="34" charset="-122"/>
                <a:cs typeface="Roboto" pitchFamily="34" charset="-120"/>
              </a:rPr>
              <a:t>datatype</a:t>
            </a:r>
            <a:endParaRPr lang="en-US" sz="1500" dirty="0"/>
          </a:p>
        </p:txBody>
      </p:sp>
      <p:sp>
        <p:nvSpPr>
          <p:cNvPr id="9" name="Shape 6"/>
          <p:cNvSpPr/>
          <p:nvPr/>
        </p:nvSpPr>
        <p:spPr>
          <a:xfrm>
            <a:off x="2667000" y="2132279"/>
            <a:ext cx="8864600" cy="318262"/>
          </a:xfrm>
          <a:prstGeom prst="rect">
            <a:avLst/>
          </a:prstGeom>
          <a:solidFill>
            <a:srgbClr val="D9EAD3"/>
          </a:solidFill>
          <a:ln w="25400">
            <a:solidFill>
              <a:srgbClr val="000000"/>
            </a:solidFill>
            <a:prstDash val="solid"/>
          </a:ln>
        </p:spPr>
      </p:sp>
      <p:sp>
        <p:nvSpPr>
          <p:cNvPr id="10" name="Text 7"/>
          <p:cNvSpPr txBox="1"/>
          <p:nvPr/>
        </p:nvSpPr>
        <p:spPr>
          <a:xfrm>
            <a:off x="2667000" y="2132279"/>
            <a:ext cx="8864600" cy="267462"/>
          </a:xfrm>
          <a:prstGeom prst="rect">
            <a:avLst/>
          </a:prstGeom>
          <a:noFill/>
          <a:ln/>
        </p:spPr>
        <p:txBody>
          <a:bodyPr wrap="square" lIns="0" tIns="0" rIns="0" bIns="0" rtlCol="0" anchor="t"/>
          <a:lstStyle/>
          <a:p>
            <a:pPr algn="ctr" indent="0" marL="0">
              <a:lnSpc>
                <a:spcPct val="130000"/>
              </a:lnSpc>
              <a:buNone/>
            </a:pPr>
            <a:r>
              <a:rPr lang="en-US" sz="1500" b="1" dirty="0">
                <a:solidFill>
                  <a:srgbClr val="000000"/>
                </a:solidFill>
                <a:latin typeface="Roboto" pitchFamily="34" charset="0"/>
                <a:ea typeface="Roboto" pitchFamily="34" charset="-122"/>
                <a:cs typeface="Roboto" pitchFamily="34" charset="-120"/>
              </a:rPr>
              <a:t>60 bits — a value, or an index into the vocabulary (max 2</a:t>
            </a:r>
            <a:pPr algn="ctr" indent="0" marL="0">
              <a:lnSpc>
                <a:spcPct val="130000"/>
              </a:lnSpc>
              <a:buNone/>
            </a:pPr>
            <a:r>
              <a:rPr lang="en-US" sz="1500" b="1" dirty="0">
                <a:solidFill>
                  <a:srgbClr val="000000"/>
                </a:solidFill>
                <a:latin typeface="Roboto" pitchFamily="34" charset="0"/>
                <a:ea typeface="Roboto" pitchFamily="34" charset="-122"/>
                <a:cs typeface="Roboto" pitchFamily="34" charset="-120"/>
              </a:rPr>
              <a:t>⁶⁰</a:t>
            </a:r>
            <a:pPr algn="ctr" indent="0" marL="0">
              <a:lnSpc>
                <a:spcPct val="130000"/>
              </a:lnSpc>
              <a:buNone/>
            </a:pPr>
            <a:r>
              <a:rPr lang="en-US" sz="1500" b="1" dirty="0">
                <a:solidFill>
                  <a:srgbClr val="000000"/>
                </a:solidFill>
                <a:latin typeface="Roboto" pitchFamily="34" charset="0"/>
                <a:ea typeface="Roboto" pitchFamily="34" charset="-122"/>
                <a:cs typeface="Roboto" pitchFamily="34" charset="-120"/>
              </a:rPr>
              <a:t>−1)</a:t>
            </a:r>
            <a:endParaRPr lang="en-US" sz="15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60400" y="2590241"/>
          <a:ext cx="10871200" cy="914400"/>
        </p:xfrm>
        <a:graphic>
          <a:graphicData uri="http://schemas.openxmlformats.org/drawingml/2006/table">
            <a:tbl>
              <a:tblPr/>
              <a:tblGrid>
                <a:gridCol w="4348480"/>
                <a:gridCol w="6522720"/>
              </a:tblGrid>
              <a:tr h="0">
                <a:tc>
                  <a:txBody>
                    <a:bodyPr/>
                    <a:lstStyle/>
                    <a:p>
                      <a:pPr algn="l" indent="0" marL="0">
                        <a:buNone/>
                      </a:pPr>
                      <a:r>
                        <a:rPr lang="en-US" sz="1450" b="1" dirty="0">
                          <a:solidFill>
                            <a:srgbClr val="FFFFFF"/>
                          </a:solidFill>
                          <a:latin typeface="Roboto" pitchFamily="34" charset="0"/>
                          <a:ea typeface="Roboto" pitchFamily="34" charset="-122"/>
                          <a:cs typeface="Roboto" pitchFamily="34" charset="-120"/>
                        </a:rPr>
                        <a:t>datatype</a:t>
                      </a:r>
                      <a:endParaRPr lang="en-US" sz="1450" dirty="0">
                        <a:latin typeface="Roboto" charset="0"/>
                        <a:ea typeface="Roboto" charset="0"/>
                        <a:cs typeface="Roboto" charset="0"/>
                      </a:endParaRPr>
                    </a:p>
                  </a:txBody>
                  <a:tcPr marL="88900" marR="88900" marT="88900" marB="889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84D1"/>
                    </a:solidFill>
                  </a:tcPr>
                </a:tc>
                <a:tc>
                  <a:txBody>
                    <a:bodyPr/>
                    <a:lstStyle/>
                    <a:p>
                      <a:pPr algn="l" indent="0" marL="0">
                        <a:buNone/>
                      </a:pPr>
                      <a:r>
                        <a:rPr lang="en-US" sz="1450" b="1" dirty="0">
                          <a:solidFill>
                            <a:srgbClr val="FFFFFF"/>
                          </a:solidFill>
                          <a:latin typeface="Roboto" pitchFamily="34" charset="0"/>
                          <a:ea typeface="Roboto" pitchFamily="34" charset="-122"/>
                          <a:cs typeface="Roboto" pitchFamily="34" charset="-120"/>
                        </a:rPr>
                        <a:t>where the value lives</a:t>
                      </a:r>
                      <a:endParaRPr lang="en-US" sz="1450" dirty="0">
                        <a:latin typeface="Roboto" charset="0"/>
                        <a:ea typeface="Roboto" charset="0"/>
                        <a:cs typeface="Roboto" charset="0"/>
                      </a:endParaRPr>
                    </a:p>
                  </a:txBody>
                  <a:tcPr marL="88900" marR="88900" marT="88900" marB="889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84D1"/>
                    </a:solidFill>
                  </a:tcPr>
                </a:tc>
              </a:tr>
              <a:tr h="0">
                <a:tc>
                  <a:txBody>
                    <a:bodyPr/>
                    <a:lstStyle/>
                    <a:p>
                      <a:pPr algn="l" indent="0" marL="0">
                        <a:buNone/>
                      </a:pPr>
                      <a:r>
                        <a:rPr lang="en-US" sz="1450" dirty="0">
                          <a:solidFill>
                            <a:srgbClr val="000000"/>
                          </a:solidFill>
                          <a:latin typeface="Roboto" pitchFamily="34" charset="0"/>
                          <a:ea typeface="Roboto" pitchFamily="34" charset="-122"/>
                          <a:cs typeface="Roboto" pitchFamily="34" charset="-120"/>
                        </a:rPr>
                        <a:t>Int · Double · Bool · Date · GeoPoint</a:t>
                      </a:r>
                      <a:endParaRPr lang="en-US" sz="1450" dirty="0">
                        <a:latin typeface="Roboto" charset="0"/>
                        <a:ea typeface="Roboto" charset="0"/>
                        <a:cs typeface="Roboto" charset="0"/>
                      </a:endParaRPr>
                    </a:p>
                  </a:txBody>
                  <a:tcPr marL="88900" marR="88900" marT="88900" marB="889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450" b="1" dirty="0">
                          <a:solidFill>
                            <a:srgbClr val="38761D"/>
                          </a:solidFill>
                          <a:latin typeface="Roboto" pitchFamily="34" charset="0"/>
                          <a:ea typeface="Roboto" pitchFamily="34" charset="-122"/>
                          <a:cs typeface="Roboto" pitchFamily="34" charset="-120"/>
                        </a:rPr>
                        <a:t>inside the Id</a:t>
                      </a:r>
                      <a:pPr algn="l" indent="0" marL="0">
                        <a:buNone/>
                      </a:pPr>
                      <a:r>
                        <a:rPr lang="en-US" sz="1450" dirty="0">
                          <a:solidFill>
                            <a:srgbClr val="000000"/>
                          </a:solidFill>
                          <a:latin typeface="Roboto" pitchFamily="34" charset="0"/>
                          <a:ea typeface="Roboto" pitchFamily="34" charset="-122"/>
                          <a:cs typeface="Roboto" pitchFamily="34" charset="-120"/>
                        </a:rPr>
                        <a:t> — no lookup, and they compare and sort directly</a:t>
                      </a:r>
                      <a:endParaRPr lang="en-US" sz="1450" dirty="0">
                        <a:latin typeface="Roboto" charset="0"/>
                        <a:ea typeface="Roboto" charset="0"/>
                        <a:cs typeface="Roboto" charset="0"/>
                      </a:endParaRPr>
                    </a:p>
                  </a:txBody>
                  <a:tcPr marL="88900" marR="88900" marT="88900" marB="889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0">
                <a:tc>
                  <a:txBody>
                    <a:bodyPr/>
                    <a:lstStyle/>
                    <a:p>
                      <a:pPr algn="l" indent="0" marL="0">
                        <a:buNone/>
                      </a:pPr>
                      <a:r>
                        <a:rPr lang="en-US" sz="1450" dirty="0">
                          <a:solidFill>
                            <a:srgbClr val="000000"/>
                          </a:solidFill>
                          <a:latin typeface="Roboto" pitchFamily="34" charset="0"/>
                          <a:ea typeface="Roboto" pitchFamily="34" charset="-122"/>
                          <a:cs typeface="Roboto" pitchFamily="34" charset="-120"/>
                        </a:rPr>
                        <a:t>EncodedVal</a:t>
                      </a:r>
                      <a:endParaRPr lang="en-US" sz="1450" dirty="0">
                        <a:latin typeface="Roboto" charset="0"/>
                        <a:ea typeface="Roboto" charset="0"/>
                        <a:cs typeface="Roboto" charset="0"/>
                      </a:endParaRPr>
                    </a:p>
                  </a:txBody>
                  <a:tcPr marL="88900" marR="88900" marT="88900" marB="889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450" dirty="0">
                          <a:solidFill>
                            <a:srgbClr val="000000"/>
                          </a:solidFill>
                          <a:latin typeface="Roboto" pitchFamily="34" charset="0"/>
                          <a:ea typeface="Roboto" pitchFamily="34" charset="-122"/>
                          <a:cs typeface="Roboto" pitchFamily="34" charset="-120"/>
                        </a:rPr>
                        <a:t>IRIs under a </a:t>
                      </a:r>
                      <a:pPr algn="l" indent="0" marL="0">
                        <a:buNone/>
                      </a:pPr>
                      <a:r>
                        <a:rPr lang="en-US" sz="1450" b="1" dirty="0">
                          <a:solidFill>
                            <a:srgbClr val="000000"/>
                          </a:solidFill>
                          <a:latin typeface="Roboto" pitchFamily="34" charset="0"/>
                          <a:ea typeface="Roboto" pitchFamily="34" charset="-122"/>
                          <a:cs typeface="Roboto" pitchFamily="34" charset="-120"/>
                        </a:rPr>
                        <a:t>configured prefix</a:t>
                      </a:r>
                      <a:pPr algn="l" indent="0" marL="0">
                        <a:buNone/>
                      </a:pPr>
                      <a:r>
                        <a:rPr lang="en-US" sz="1450" dirty="0">
                          <a:solidFill>
                            <a:srgbClr val="000000"/>
                          </a:solidFill>
                          <a:latin typeface="Roboto" pitchFamily="34" charset="0"/>
                          <a:ea typeface="Roboto" pitchFamily="34" charset="-122"/>
                          <a:cs typeface="Roboto" pitchFamily="34" charset="-120"/>
                        </a:rPr>
                        <a:t>, encoded in the Id itself</a:t>
                      </a:r>
                      <a:endParaRPr lang="en-US" sz="1450" dirty="0">
                        <a:latin typeface="Roboto" charset="0"/>
                        <a:ea typeface="Roboto" charset="0"/>
                        <a:cs typeface="Roboto" charset="0"/>
                      </a:endParaRPr>
                    </a:p>
                  </a:txBody>
                  <a:tcPr marL="88900" marR="88900" marT="88900" marB="889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0">
                <a:tc>
                  <a:txBody>
                    <a:bodyPr/>
                    <a:lstStyle/>
                    <a:p>
                      <a:pPr algn="l" indent="0" marL="0">
                        <a:buNone/>
                      </a:pPr>
                      <a:r>
                        <a:rPr lang="en-US" sz="1450" dirty="0">
                          <a:solidFill>
                            <a:srgbClr val="000000"/>
                          </a:solidFill>
                          <a:latin typeface="Roboto" pitchFamily="34" charset="0"/>
                          <a:ea typeface="Roboto" pitchFamily="34" charset="-122"/>
                          <a:cs typeface="Roboto" pitchFamily="34" charset="-120"/>
                        </a:rPr>
                        <a:t>VocabIndex · LocalVocabIndex · BlankNodeIndex</a:t>
                      </a:r>
                      <a:endParaRPr lang="en-US" sz="1450" dirty="0">
                        <a:latin typeface="Roboto" charset="0"/>
                        <a:ea typeface="Roboto" charset="0"/>
                        <a:cs typeface="Roboto" charset="0"/>
                      </a:endParaRPr>
                    </a:p>
                  </a:txBody>
                  <a:tcPr marL="88900" marR="88900" marT="88900" marB="889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450" dirty="0">
                          <a:solidFill>
                            <a:srgbClr val="000000"/>
                          </a:solidFill>
                          <a:latin typeface="Roboto" pitchFamily="34" charset="0"/>
                          <a:ea typeface="Roboto" pitchFamily="34" charset="-122"/>
                          <a:cs typeface="Roboto" pitchFamily="34" charset="-120"/>
                        </a:rPr>
                        <a:t>an index into the vocabulary — </a:t>
                      </a:r>
                      <a:pPr algn="l" indent="0" marL="0">
                        <a:buNone/>
                      </a:pPr>
                      <a:r>
                        <a:rPr lang="en-US" sz="1450" dirty="0">
                          <a:solidFill>
                            <a:srgbClr val="FF0000"/>
                          </a:solidFill>
                          <a:latin typeface="Roboto" pitchFamily="34" charset="0"/>
                          <a:ea typeface="Roboto" pitchFamily="34" charset="-122"/>
                          <a:cs typeface="Roboto" pitchFamily="34" charset="-120"/>
                        </a:rPr>
                        <a:t>a lookup</a:t>
                      </a:r>
                      <a:endParaRPr lang="en-US" sz="1450" dirty="0">
                        <a:latin typeface="Roboto" charset="0"/>
                        <a:ea typeface="Roboto" charset="0"/>
                        <a:cs typeface="Roboto" charset="0"/>
                      </a:endParaRPr>
                    </a:p>
                  </a:txBody>
                  <a:tcPr marL="88900" marR="88900" marT="88900" marB="889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bl>
          </a:graphicData>
        </a:graphic>
      </p:graphicFrame>
      <p:sp>
        <p:nvSpPr>
          <p:cNvPr id="12" name="Text 8"/>
          <p:cNvSpPr txBox="1"/>
          <p:nvPr/>
        </p:nvSpPr>
        <p:spPr>
          <a:xfrm>
            <a:off x="660400" y="4546041"/>
            <a:ext cx="10871200" cy="864108"/>
          </a:xfrm>
          <a:prstGeom prst="rect">
            <a:avLst/>
          </a:prstGeom>
          <a:noFill/>
          <a:ln/>
        </p:spPr>
        <p:txBody>
          <a:bodyPr wrap="square" lIns="0" tIns="0" rIns="0" bIns="0" rtlCol="0" anchor="t"/>
          <a:lstStyle/>
          <a:p>
            <a:pPr algn="l" indent="0" marL="0">
              <a:lnSpc>
                <a:spcPct val="140000"/>
              </a:lnSpc>
              <a:buNone/>
            </a:pPr>
            <a:r>
              <a:rPr lang="en-US" sz="1500" dirty="0">
                <a:solidFill>
                  <a:srgbClr val="000000"/>
                </a:solidFill>
                <a:latin typeface="Roboto" pitchFamily="34" charset="0"/>
                <a:ea typeface="Roboto" pitchFamily="34" charset="-122"/>
                <a:cs typeface="Roboto" pitchFamily="34" charset="-120"/>
              </a:rPr>
              <a:t>The vocabulary is split: </a:t>
            </a:r>
            <a:pPr algn="l" indent="0" marL="0">
              <a:lnSpc>
                <a:spcPct val="140000"/>
              </a:lnSpc>
              <a:buNone/>
            </a:pPr>
            <a:r>
              <a:rPr lang="en-US" sz="1500" b="1" dirty="0">
                <a:solidFill>
                  <a:srgbClr val="000000"/>
                </a:solidFill>
                <a:latin typeface="Roboto" pitchFamily="34" charset="0"/>
                <a:ea typeface="Roboto" pitchFamily="34" charset="-122"/>
                <a:cs typeface="Roboto" pitchFamily="34" charset="-120"/>
              </a:rPr>
              <a:t>internal</a:t>
            </a:r>
            <a:pPr algn="l" indent="0" marL="0">
              <a:lnSpc>
                <a:spcPct val="140000"/>
              </a:lnSpc>
              <a:buNone/>
            </a:pPr>
            <a:r>
              <a:rPr lang="en-US" sz="1500" dirty="0">
                <a:solidFill>
                  <a:srgbClr val="000000"/>
                </a:solidFill>
                <a:latin typeface="Roboto" pitchFamily="34" charset="0"/>
                <a:ea typeface="Roboto" pitchFamily="34" charset="-122"/>
                <a:cs typeface="Roboto" pitchFamily="34" charset="-120"/>
              </a:rPr>
              <a:t> in RAM (53 kB here) and </a:t>
            </a:r>
            <a:pPr algn="l" indent="0" marL="0">
              <a:lnSpc>
                <a:spcPct val="140000"/>
              </a:lnSpc>
              <a:buNone/>
            </a:pPr>
            <a:r>
              <a:rPr lang="en-US" sz="1500" b="1" dirty="0">
                <a:solidFill>
                  <a:srgbClr val="000000"/>
                </a:solidFill>
                <a:latin typeface="Roboto" pitchFamily="34" charset="0"/>
                <a:ea typeface="Roboto" pitchFamily="34" charset="-122"/>
                <a:cs typeface="Roboto" pitchFamily="34" charset="-120"/>
              </a:rPr>
              <a:t>external</a:t>
            </a:r>
            <a:pPr algn="l" indent="0" marL="0">
              <a:lnSpc>
                <a:spcPct val="140000"/>
              </a:lnSpc>
              <a:buNone/>
            </a:pPr>
            <a:r>
              <a:rPr lang="en-US" sz="1500" dirty="0">
                <a:solidFill>
                  <a:srgbClr val="000000"/>
                </a:solidFill>
                <a:latin typeface="Roboto" pitchFamily="34" charset="0"/>
                <a:ea typeface="Roboto" pitchFamily="34" charset="-122"/>
                <a:cs typeface="Roboto" pitchFamily="34" charset="-120"/>
              </a:rPr>
              <a:t> on disk (27.7 MB of words plus 8.4 MB of offsets). Ids are assigned so that </a:t>
            </a:r>
            <a:pPr algn="l" indent="0" marL="0">
              <a:lnSpc>
                <a:spcPct val="140000"/>
              </a:lnSpc>
              <a:buNone/>
            </a:pPr>
            <a:r>
              <a:rPr lang="en-US" sz="1500" b="1" dirty="0">
                <a:solidFill>
                  <a:srgbClr val="000000"/>
                </a:solidFill>
                <a:latin typeface="Roboto" pitchFamily="34" charset="0"/>
                <a:ea typeface="Roboto" pitchFamily="34" charset="-122"/>
                <a:cs typeface="Roboto" pitchFamily="34" charset="-120"/>
              </a:rPr>
              <a:t>their order is the strings’ order</a:t>
            </a:r>
            <a:pPr algn="l" indent="0" marL="0">
              <a:lnSpc>
                <a:spcPct val="140000"/>
              </a:lnSpc>
              <a:buNone/>
            </a:pPr>
            <a:r>
              <a:rPr lang="en-US" sz="1500" dirty="0">
                <a:solidFill>
                  <a:srgbClr val="000000"/>
                </a:solidFill>
                <a:latin typeface="Roboto" pitchFamily="34" charset="0"/>
                <a:ea typeface="Roboto" pitchFamily="34" charset="-122"/>
                <a:cs typeface="Roboto" pitchFamily="34" charset="-120"/>
              </a:rPr>
              <a:t>, which is what makes a prefix or a range a contiguous scan.</a:t>
            </a:r>
            <a:endParaRPr lang="en-US" sz="1500" dirty="0"/>
          </a:p>
        </p:txBody>
      </p:sp>
      <p:sp>
        <p:nvSpPr>
          <p:cNvPr id="13" name="Text 9"/>
          <p:cNvSpPr txBox="1"/>
          <p:nvPr/>
        </p:nvSpPr>
        <p:spPr>
          <a:xfrm>
            <a:off x="660400" y="5549849"/>
            <a:ext cx="10871200" cy="463601"/>
          </a:xfrm>
          <a:prstGeom prst="rect">
            <a:avLst/>
          </a:prstGeom>
          <a:noFill/>
          <a:ln/>
        </p:spPr>
        <p:txBody>
          <a:bodyPr wrap="square" lIns="0" tIns="0" rIns="0" bIns="0" rtlCol="0" anchor="t"/>
          <a:lstStyle/>
          <a:p>
            <a:pPr algn="l" indent="0" marL="0">
              <a:lnSpc>
                <a:spcPct val="130000"/>
              </a:lnSpc>
              <a:buNone/>
            </a:pPr>
            <a:r>
              <a:rPr lang="en-US" sz="1300" dirty="0">
                <a:solidFill>
                  <a:srgbClr val="595959"/>
                </a:solidFill>
                <a:latin typeface="Roboto" pitchFamily="34" charset="0"/>
                <a:ea typeface="Roboto" pitchFamily="34" charset="-122"/>
                <a:cs typeface="Roboto" pitchFamily="34" charset="-120"/>
              </a:rPr>
              <a:t>Published: wiki, “Internal and external vocabulary” and “QLever’s IDs for IRIs and literals” — conceptual, dated 2022, and it says the scheme “will soon be updated”. The 4/60 split is from the source.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155700"/>
          </a:xfrm>
          <a:prstGeom prst="rect">
            <a:avLst/>
          </a:prstGeom>
          <a:solidFill>
            <a:srgbClr val="0084D1"/>
          </a:solidFill>
          <a:ln/>
        </p:spPr>
      </p:sp>
      <p:sp>
        <p:nvSpPr>
          <p:cNvPr id="3" name="Text 1"/>
          <p:cNvSpPr txBox="1"/>
          <p:nvPr/>
        </p:nvSpPr>
        <p:spPr>
          <a:xfrm>
            <a:off x="0" y="228600"/>
            <a:ext cx="12192000" cy="934720"/>
          </a:xfrm>
          <a:prstGeom prst="rect">
            <a:avLst/>
          </a:prstGeom>
          <a:noFill/>
          <a:ln/>
        </p:spPr>
        <p:txBody>
          <a:bodyPr wrap="square" lIns="0" tIns="0" rIns="0" bIns="0" rtlCol="0" anchor="t"/>
          <a:lstStyle/>
          <a:p>
            <a:pPr algn="ctr" indent="0" marL="0">
              <a:lnSpc>
                <a:spcPct val="110000"/>
              </a:lnSpc>
              <a:buNone/>
            </a:pPr>
            <a:r>
              <a:rPr lang="en-US" sz="4600" b="1" dirty="0">
                <a:solidFill>
                  <a:srgbClr val="FFFFFF"/>
                </a:solidFill>
                <a:latin typeface="Roboto Slab" pitchFamily="34" charset="0"/>
                <a:ea typeface="Roboto Slab" pitchFamily="34" charset="-122"/>
                <a:cs typeface="Roboto Slab" pitchFamily="34" charset="-120"/>
              </a:rPr>
              <a:t>Id order </a:t>
            </a:r>
            <a:pPr algn="ctr" indent="0" marL="0">
              <a:lnSpc>
                <a:spcPct val="110000"/>
              </a:lnSpc>
              <a:buNone/>
            </a:pPr>
            <a:r>
              <a:rPr lang="en-US" sz="4600" b="1" i="1" dirty="0">
                <a:solidFill>
                  <a:srgbClr val="FFFFFF"/>
                </a:solidFill>
                <a:latin typeface="Roboto Slab" pitchFamily="34" charset="0"/>
                <a:ea typeface="Roboto Slab" pitchFamily="34" charset="-122"/>
                <a:cs typeface="Roboto Slab" pitchFamily="34" charset="-120"/>
              </a:rPr>
              <a:t>is</a:t>
            </a:r>
            <a:pPr algn="ctr" indent="0" marL="0">
              <a:lnSpc>
                <a:spcPct val="110000"/>
              </a:lnSpc>
              <a:buNone/>
            </a:pPr>
            <a:r>
              <a:rPr lang="en-US" sz="4600" b="1" dirty="0">
                <a:solidFill>
                  <a:srgbClr val="FFFFFF"/>
                </a:solidFill>
                <a:latin typeface="Roboto Slab" pitchFamily="34" charset="0"/>
                <a:ea typeface="Roboto Slab" pitchFamily="34" charset="-122"/>
                <a:cs typeface="Roboto Slab" pitchFamily="34" charset="-120"/>
              </a:rPr>
              <a:t> value order</a:t>
            </a:r>
            <a:endParaRPr lang="en-US" sz="4600" dirty="0"/>
          </a:p>
        </p:txBody>
      </p:sp>
      <p:sp>
        <p:nvSpPr>
          <p:cNvPr id="4" name="Text 2"/>
          <p:cNvSpPr txBox="1"/>
          <p:nvPr/>
        </p:nvSpPr>
        <p:spPr>
          <a:xfrm>
            <a:off x="10795000" y="6372860"/>
            <a:ext cx="889000" cy="264160"/>
          </a:xfrm>
          <a:prstGeom prst="rect">
            <a:avLst/>
          </a:prstGeom>
          <a:noFill/>
          <a:ln/>
        </p:spPr>
        <p:txBody>
          <a:bodyPr wrap="square" lIns="0" tIns="0" rIns="0" bIns="0" rtlCol="0" anchor="t"/>
          <a:lstStyle/>
          <a:p>
            <a:pPr algn="r" indent="0" marL="0">
              <a:lnSpc>
                <a:spcPct val="120000"/>
              </a:lnSpc>
              <a:buNone/>
            </a:pPr>
            <a:r>
              <a:rPr lang="en-US" sz="1300" dirty="0">
                <a:solidFill>
                  <a:srgbClr val="595959"/>
                </a:solidFill>
                <a:latin typeface="Roboto" pitchFamily="34" charset="0"/>
                <a:ea typeface="Roboto" pitchFamily="34" charset="-122"/>
                <a:cs typeface="Roboto" pitchFamily="34" charset="-120"/>
              </a:rPr>
              <a:t>6</a:t>
            </a:r>
            <a:endParaRPr lang="en-US" sz="1300" dirty="0"/>
          </a:p>
        </p:txBody>
      </p:sp>
      <p:sp>
        <p:nvSpPr>
          <p:cNvPr id="6" name="Text 3"/>
          <p:cNvSpPr txBox="1"/>
          <p:nvPr/>
        </p:nvSpPr>
        <p:spPr>
          <a:xfrm>
            <a:off x="660400" y="1346200"/>
            <a:ext cx="10871200" cy="574015"/>
          </a:xfrm>
          <a:prstGeom prst="rect">
            <a:avLst/>
          </a:prstGeom>
          <a:noFill/>
          <a:ln/>
        </p:spPr>
        <p:txBody>
          <a:bodyPr wrap="square" lIns="0" tIns="0" rIns="0" bIns="0" rtlCol="0" anchor="t"/>
          <a:lstStyle/>
          <a:p>
            <a:pPr algn="l" indent="0" marL="0">
              <a:lnSpc>
                <a:spcPct val="135000"/>
              </a:lnSpc>
              <a:buNone/>
            </a:pPr>
            <a:r>
              <a:rPr lang="en-US" sz="1550" dirty="0">
                <a:solidFill>
                  <a:srgbClr val="000000"/>
                </a:solidFill>
                <a:latin typeface="Roboto" pitchFamily="34" charset="0"/>
                <a:ea typeface="Roboto" pitchFamily="34" charset="-122"/>
                <a:cs typeface="Roboto" pitchFamily="34" charset="-120"/>
              </a:rPr>
              <a:t>Permutations are sorted by a plain </a:t>
            </a:r>
            <a:pPr algn="l" indent="0" marL="0">
              <a:lnSpc>
                <a:spcPct val="135000"/>
              </a:lnSpc>
              <a:buNone/>
            </a:pPr>
            <a:r>
              <a:rPr lang="en-US" sz="1550" b="1" dirty="0">
                <a:solidFill>
                  <a:srgbClr val="000000"/>
                </a:solidFill>
                <a:latin typeface="Roboto" pitchFamily="34" charset="0"/>
                <a:ea typeface="Roboto" pitchFamily="34" charset="-122"/>
                <a:cs typeface="Roboto" pitchFamily="34" charset="-120"/>
              </a:rPr>
              <a:t>64-bit integer compare on the Id</a:t>
            </a:r>
            <a:pPr algn="l" indent="0" marL="0">
              <a:lnSpc>
                <a:spcPct val="135000"/>
              </a:lnSpc>
              <a:buNone/>
            </a:pPr>
            <a:r>
              <a:rPr lang="en-US" sz="1550" dirty="0">
                <a:solidFill>
                  <a:srgbClr val="000000"/>
                </a:solidFill>
                <a:latin typeface="Roboto" pitchFamily="34" charset="0"/>
                <a:ea typeface="Roboto" pitchFamily="34" charset="-122"/>
                <a:cs typeface="Roboto" pitchFamily="34" charset="-120"/>
              </a:rPr>
              <a:t>. No string is ever compared. The order still comes out right, because the Ids are handed out that way.</a:t>
            </a:r>
            <a:endParaRPr lang="en-US" sz="1550" dirty="0"/>
          </a:p>
        </p:txBody>
      </p:sp>
      <p:sp>
        <p:nvSpPr>
          <p:cNvPr id="7" name="Shape 4"/>
          <p:cNvSpPr/>
          <p:nvPr/>
        </p:nvSpPr>
        <p:spPr>
          <a:xfrm>
            <a:off x="660400" y="2047215"/>
            <a:ext cx="5346700" cy="1586408"/>
          </a:xfrm>
          <a:prstGeom prst="rect">
            <a:avLst/>
          </a:prstGeom>
          <a:ln w="25400">
            <a:solidFill>
              <a:srgbClr val="000000"/>
            </a:solidFill>
            <a:prstDash val="solid"/>
          </a:ln>
        </p:spPr>
      </p:sp>
      <p:sp>
        <p:nvSpPr>
          <p:cNvPr id="8" name="Text 5"/>
          <p:cNvSpPr txBox="1"/>
          <p:nvPr/>
        </p:nvSpPr>
        <p:spPr>
          <a:xfrm>
            <a:off x="660400" y="2047215"/>
            <a:ext cx="5346700" cy="240716"/>
          </a:xfrm>
          <a:prstGeom prst="rect">
            <a:avLst/>
          </a:prstGeom>
          <a:noFill/>
          <a:ln/>
        </p:spPr>
        <p:txBody>
          <a:bodyPr wrap="square" lIns="0" tIns="0" rIns="0" bIns="0" rtlCol="0" anchor="t"/>
          <a:lstStyle/>
          <a:p>
            <a:pPr algn="ctr" indent="0" marL="0">
              <a:lnSpc>
                <a:spcPct val="130000"/>
              </a:lnSpc>
              <a:buNone/>
            </a:pPr>
            <a:r>
              <a:rPr lang="en-US" sz="1350" b="1" dirty="0">
                <a:solidFill>
                  <a:srgbClr val="FFFFFF"/>
                </a:solidFill>
                <a:latin typeface="Roboto" pitchFamily="34" charset="0"/>
                <a:ea typeface="Roboto" pitchFamily="34" charset="-122"/>
                <a:cs typeface="Roboto" pitchFamily="34" charset="-120"/>
              </a:rPr>
              <a:t>Count the payload up, read the strings out</a:t>
            </a:r>
            <a:endParaRPr lang="en-US" sz="1350" dirty="0"/>
          </a:p>
        </p:txBody>
      </p:sp>
      <p:sp>
        <p:nvSpPr>
          <p:cNvPr id="9" name="Text 6"/>
          <p:cNvSpPr txBox="1"/>
          <p:nvPr/>
        </p:nvSpPr>
        <p:spPr>
          <a:xfrm>
            <a:off x="660400" y="2338730"/>
            <a:ext cx="5346700" cy="748894"/>
          </a:xfrm>
          <a:prstGeom prst="rect">
            <a:avLst/>
          </a:prstGeom>
          <a:noFill/>
          <a:ln/>
        </p:spPr>
        <p:txBody>
          <a:bodyPr wrap="square" lIns="0" tIns="0" rIns="0" bIns="0" rtlCol="0" anchor="t"/>
          <a:lstStyle/>
          <a:p>
            <a:pPr algn="l" indent="0" marL="0">
              <a:lnSpc>
                <a:spcPct val="130000"/>
              </a:lnSpc>
              <a:buNone/>
            </a:pPr>
            <a:r>
              <a:rPr lang="en-US" sz="1050" dirty="0">
                <a:solidFill>
                  <a:srgbClr val="000000"/>
                </a:solidFill>
                <a:latin typeface="Roboto Mono" pitchFamily="34" charset="0"/>
                <a:ea typeface="Roboto Mono" pitchFamily="34" charset="-122"/>
                <a:cs typeface="Roboto Mono" pitchFamily="34" charset="-120"/>
              </a:rPr>
              <a:t> </a:t>
            </a:r>
            <a:pPr algn="l" indent="0" marL="0">
              <a:lnSpc>
                <a:spcPct val="130000"/>
              </a:lnSpc>
              <a:buNone/>
            </a:pPr>
            <a:r>
              <a:rPr lang="en-US" sz="1050" dirty="0">
                <a:solidFill>
                  <a:srgbClr val="000000"/>
                </a:solidFill>
                <a:latin typeface="Roboto Mono" pitchFamily="34" charset="0"/>
                <a:ea typeface="Roboto Mono" pitchFamily="34" charset="-122"/>
                <a:cs typeface="Roboto Mono" pitchFamily="34" charset="-120"/>
              </a:rPr>
              <a:t>4000000000000000</a:t>
            </a:r>
            <a:pPr algn="l" indent="0" marL="0">
              <a:lnSpc>
                <a:spcPct val="130000"/>
              </a:lnSpc>
              <a:buNone/>
            </a:pPr>
            <a:r>
              <a:rPr lang="en-US" sz="1050" dirty="0">
                <a:solidFill>
                  <a:srgbClr val="000000"/>
                </a:solidFill>
                <a:latin typeface="Roboto Mono" pitchFamily="34" charset="0"/>
                <a:ea typeface="Roboto Mono" pitchFamily="34" charset="-122"/>
                <a:cs typeface="Roboto Mono" pitchFamily="34" charset="-120"/>
              </a:rPr>
              <a:t>&lt;http://ex.org/H1&gt;</a:t>
            </a:r>
            <a:pPr algn="l" indent="0" marL="0">
              <a:lnSpc>
                <a:spcPct val="130000"/>
              </a:lnSpc>
              <a:buNone/>
            </a:pPr>
            <a:r>
              <a:rPr lang="en-US" sz="1050" dirty="0">
                <a:solidFill>
                  <a:srgbClr val="000000"/>
                </a:solidFill>
                <a:latin typeface="Roboto Mono" pitchFamily="34" charset="0"/>
                <a:ea typeface="Roboto Mono" pitchFamily="34" charset="-122"/>
                <a:cs typeface="Roboto Mono" pitchFamily="34" charset="-120"/>
              </a:rPr>
              <a:t> </a:t>
            </a:r>
            <a:pPr algn="l" indent="0" marL="0">
              <a:lnSpc>
                <a:spcPct val="130000"/>
              </a:lnSpc>
              <a:buNone/>
            </a:pPr>
            <a:r>
              <a:rPr lang="en-US" sz="1050" dirty="0">
                <a:solidFill>
                  <a:srgbClr val="000000"/>
                </a:solidFill>
                <a:latin typeface="Roboto Mono" pitchFamily="34" charset="0"/>
                <a:ea typeface="Roboto Mono" pitchFamily="34" charset="-122"/>
                <a:cs typeface="Roboto Mono" pitchFamily="34" charset="-120"/>
              </a:rPr>
              <a:t>4000000000000001</a:t>
            </a:r>
            <a:pPr algn="l" indent="0" marL="0">
              <a:lnSpc>
                <a:spcPct val="130000"/>
              </a:lnSpc>
              <a:buNone/>
            </a:pPr>
            <a:r>
              <a:rPr lang="en-US" sz="1050" dirty="0">
                <a:solidFill>
                  <a:srgbClr val="000000"/>
                </a:solidFill>
                <a:latin typeface="Roboto Mono" pitchFamily="34" charset="0"/>
                <a:ea typeface="Roboto Mono" pitchFamily="34" charset="-122"/>
                <a:cs typeface="Roboto Mono" pitchFamily="34" charset="-120"/>
              </a:rPr>
              <a:t>&lt;http://ex.org/H2&gt;</a:t>
            </a:r>
            <a:pPr algn="l" indent="0" marL="0">
              <a:lnSpc>
                <a:spcPct val="130000"/>
              </a:lnSpc>
              <a:buNone/>
            </a:pPr>
            <a:r>
              <a:rPr lang="en-US" sz="1050" dirty="0">
                <a:solidFill>
                  <a:srgbClr val="000000"/>
                </a:solidFill>
                <a:latin typeface="Roboto Mono" pitchFamily="34" charset="0"/>
                <a:ea typeface="Roboto Mono" pitchFamily="34" charset="-122"/>
                <a:cs typeface="Roboto Mono" pitchFamily="34" charset="-120"/>
              </a:rPr>
              <a:t> </a:t>
            </a:r>
            <a:pPr algn="l" indent="0" marL="0">
              <a:lnSpc>
                <a:spcPct val="130000"/>
              </a:lnSpc>
              <a:buNone/>
            </a:pPr>
            <a:r>
              <a:rPr lang="en-US" sz="1050" dirty="0">
                <a:solidFill>
                  <a:srgbClr val="000000"/>
                </a:solidFill>
                <a:latin typeface="Roboto Mono" pitchFamily="34" charset="0"/>
                <a:ea typeface="Roboto Mono" pitchFamily="34" charset="-122"/>
                <a:cs typeface="Roboto Mono" pitchFamily="34" charset="-120"/>
              </a:rPr>
              <a:t>4000000000000002</a:t>
            </a:r>
            <a:pPr algn="l" indent="0" marL="0">
              <a:lnSpc>
                <a:spcPct val="130000"/>
              </a:lnSpc>
              <a:buNone/>
            </a:pPr>
            <a:r>
              <a:rPr lang="en-US" sz="1050" dirty="0">
                <a:solidFill>
                  <a:srgbClr val="000000"/>
                </a:solidFill>
                <a:latin typeface="Roboto Mono" pitchFamily="34" charset="0"/>
                <a:ea typeface="Roboto Mono" pitchFamily="34" charset="-122"/>
                <a:cs typeface="Roboto Mono" pitchFamily="34" charset="-120"/>
              </a:rPr>
              <a:t>&lt;http://ex.org/H3&gt;</a:t>
            </a:r>
            <a:pPr algn="l" indent="0" marL="0">
              <a:lnSpc>
                <a:spcPct val="130000"/>
              </a:lnSpc>
              <a:buNone/>
            </a:pPr>
            <a:r>
              <a:rPr lang="en-US" sz="1050" dirty="0">
                <a:solidFill>
                  <a:srgbClr val="000000"/>
                </a:solidFill>
                <a:latin typeface="Roboto Mono" pitchFamily="34" charset="0"/>
                <a:ea typeface="Roboto Mono" pitchFamily="34" charset="-122"/>
                <a:cs typeface="Roboto Mono" pitchFamily="34" charset="-120"/>
              </a:rPr>
              <a:t> </a:t>
            </a:r>
            <a:pPr algn="l" indent="0" marL="0">
              <a:lnSpc>
                <a:spcPct val="130000"/>
              </a:lnSpc>
              <a:buNone/>
            </a:pPr>
            <a:r>
              <a:rPr lang="en-US" sz="1050" dirty="0">
                <a:solidFill>
                  <a:srgbClr val="000000"/>
                </a:solidFill>
                <a:latin typeface="Roboto Mono" pitchFamily="34" charset="0"/>
                <a:ea typeface="Roboto Mono" pitchFamily="34" charset="-122"/>
                <a:cs typeface="Roboto Mono" pitchFamily="34" charset="-120"/>
              </a:rPr>
              <a:t>4000000000000003</a:t>
            </a:r>
            <a:pPr algn="l" indent="0" marL="0">
              <a:lnSpc>
                <a:spcPct val="130000"/>
              </a:lnSpc>
              <a:buNone/>
            </a:pPr>
            <a:r>
              <a:rPr lang="en-US" sz="1050" dirty="0">
                <a:solidFill>
                  <a:srgbClr val="000000"/>
                </a:solidFill>
                <a:latin typeface="Roboto Mono" pitchFamily="34" charset="0"/>
                <a:ea typeface="Roboto Mono" pitchFamily="34" charset="-122"/>
                <a:cs typeface="Roboto Mono" pitchFamily="34" charset="-120"/>
              </a:rPr>
              <a:t>&lt;http://ex.org/Human&gt;</a:t>
            </a:r>
            <a:pPr algn="l" indent="0" marL="0">
              <a:lnSpc>
                <a:spcPct val="130000"/>
              </a:lnSpc>
              <a:buNone/>
            </a:pPr>
            <a:r>
              <a:rPr lang="en-US" sz="1050" dirty="0">
                <a:solidFill>
                  <a:srgbClr val="000000"/>
                </a:solidFill>
                <a:latin typeface="Roboto Mono" pitchFamily="34" charset="0"/>
                <a:ea typeface="Roboto Mono" pitchFamily="34" charset="-122"/>
                <a:cs typeface="Roboto Mono" pitchFamily="34" charset="-120"/>
              </a:rPr>
              <a:t> </a:t>
            </a:r>
            <a:pPr algn="l" indent="0" marL="0">
              <a:lnSpc>
                <a:spcPct val="130000"/>
              </a:lnSpc>
              <a:buNone/>
            </a:pPr>
            <a:r>
              <a:rPr lang="en-US" sz="1050" dirty="0">
                <a:solidFill>
                  <a:srgbClr val="000000"/>
                </a:solidFill>
                <a:latin typeface="Roboto Mono" pitchFamily="34" charset="0"/>
                <a:ea typeface="Roboto Mono" pitchFamily="34" charset="-122"/>
                <a:cs typeface="Roboto Mono" pitchFamily="34" charset="-120"/>
              </a:rPr>
              <a:t>4000000000000004</a:t>
            </a:r>
            <a:pPr algn="l" indent="0" marL="0">
              <a:lnSpc>
                <a:spcPct val="130000"/>
              </a:lnSpc>
              <a:buNone/>
            </a:pPr>
            <a:r>
              <a:rPr lang="en-US" sz="1050" dirty="0">
                <a:solidFill>
                  <a:srgbClr val="000000"/>
                </a:solidFill>
                <a:latin typeface="Roboto Mono" pitchFamily="34" charset="0"/>
                <a:ea typeface="Roboto Mono" pitchFamily="34" charset="-122"/>
                <a:cs typeface="Roboto Mono" pitchFamily="34" charset="-120"/>
              </a:rPr>
              <a:t>&lt;http://ex.org/O1&gt;</a:t>
            </a:r>
            <a:pPr algn="l" indent="0" marL="0">
              <a:lnSpc>
                <a:spcPct val="130000"/>
              </a:lnSpc>
              <a:buNone/>
            </a:pPr>
            <a:r>
              <a:rPr lang="en-US" sz="1050" dirty="0">
                <a:solidFill>
                  <a:srgbClr val="000000"/>
                </a:solidFill>
                <a:latin typeface="Roboto Mono" pitchFamily="34" charset="0"/>
                <a:ea typeface="Roboto Mono" pitchFamily="34" charset="-122"/>
                <a:cs typeface="Roboto Mono" pitchFamily="34" charset="-120"/>
              </a:rPr>
              <a:t> </a:t>
            </a:r>
            <a:pPr algn="l" indent="0" marL="0">
              <a:lnSpc>
                <a:spcPct val="130000"/>
              </a:lnSpc>
              <a:buNone/>
            </a:pPr>
            <a:r>
              <a:rPr lang="en-US" sz="1050" dirty="0">
                <a:solidFill>
                  <a:srgbClr val="000000"/>
                </a:solidFill>
                <a:latin typeface="Roboto Mono" pitchFamily="34" charset="0"/>
                <a:ea typeface="Roboto Mono" pitchFamily="34" charset="-122"/>
                <a:cs typeface="Roboto Mono" pitchFamily="34" charset="-120"/>
              </a:rPr>
              <a:t>4000000000000006</a:t>
            </a:r>
            <a:pPr algn="l" indent="0" marL="0">
              <a:lnSpc>
                <a:spcPct val="130000"/>
              </a:lnSpc>
              <a:buNone/>
            </a:pPr>
            <a:r>
              <a:rPr lang="en-US" sz="1050" dirty="0">
                <a:solidFill>
                  <a:srgbClr val="000000"/>
                </a:solidFill>
                <a:latin typeface="Roboto Mono" pitchFamily="34" charset="0"/>
                <a:ea typeface="Roboto Mono" pitchFamily="34" charset="-122"/>
                <a:cs typeface="Roboto Mono" pitchFamily="34" charset="-120"/>
              </a:rPr>
              <a:t>&lt;http://ex.org/O3&gt;</a:t>
            </a:r>
            <a:pPr algn="l" indent="0" marL="0">
              <a:lnSpc>
                <a:spcPct val="130000"/>
              </a:lnSpc>
              <a:buNone/>
            </a:pPr>
            <a:r>
              <a:rPr lang="en-US" sz="1050" dirty="0">
                <a:solidFill>
                  <a:srgbClr val="000000"/>
                </a:solidFill>
                <a:latin typeface="Roboto Mono" pitchFamily="34" charset="0"/>
                <a:ea typeface="Roboto Mono" pitchFamily="34" charset="-122"/>
                <a:cs typeface="Roboto Mono" pitchFamily="34" charset="-120"/>
              </a:rPr>
              <a:t> </a:t>
            </a:r>
            <a:pPr algn="l" indent="0" marL="0">
              <a:lnSpc>
                <a:spcPct val="130000"/>
              </a:lnSpc>
              <a:buNone/>
            </a:pPr>
            <a:r>
              <a:rPr lang="en-US" sz="1050" dirty="0">
                <a:solidFill>
                  <a:srgbClr val="000000"/>
                </a:solidFill>
                <a:latin typeface="Roboto Mono" pitchFamily="34" charset="0"/>
                <a:ea typeface="Roboto Mono" pitchFamily="34" charset="-122"/>
                <a:cs typeface="Roboto Mono" pitchFamily="34" charset="-120"/>
              </a:rPr>
              <a:t>4000000000000007</a:t>
            </a:r>
            <a:pPr algn="l" indent="0" marL="0">
              <a:lnSpc>
                <a:spcPct val="130000"/>
              </a:lnSpc>
              <a:buNone/>
            </a:pPr>
            <a:r>
              <a:rPr lang="en-US" sz="1050" dirty="0">
                <a:solidFill>
                  <a:srgbClr val="000000"/>
                </a:solidFill>
                <a:latin typeface="Roboto Mono" pitchFamily="34" charset="0"/>
                <a:ea typeface="Roboto Mono" pitchFamily="34" charset="-122"/>
                <a:cs typeface="Roboto Mono" pitchFamily="34" charset="-120"/>
              </a:rPr>
              <a:t>&lt;http://ex.org/occupation&gt;</a:t>
            </a:r>
            <a:pPr algn="l" indent="0" marL="0">
              <a:lnSpc>
                <a:spcPct val="130000"/>
              </a:lnSpc>
              <a:buNone/>
            </a:pPr>
            <a:r>
              <a:rPr lang="en-US" sz="1050" dirty="0">
                <a:solidFill>
                  <a:srgbClr val="000000"/>
                </a:solidFill>
                <a:latin typeface="Roboto Mono" pitchFamily="34" charset="0"/>
                <a:ea typeface="Roboto Mono" pitchFamily="34" charset="-122"/>
                <a:cs typeface="Roboto Mono" pitchFamily="34" charset="-120"/>
              </a:rPr>
              <a:t> </a:t>
            </a:r>
            <a:pPr algn="l" indent="0" marL="0">
              <a:lnSpc>
                <a:spcPct val="130000"/>
              </a:lnSpc>
              <a:buNone/>
            </a:pPr>
            <a:r>
              <a:rPr lang="en-US" sz="1050" dirty="0">
                <a:solidFill>
                  <a:srgbClr val="000000"/>
                </a:solidFill>
                <a:latin typeface="Roboto Mono" pitchFamily="34" charset="0"/>
                <a:ea typeface="Roboto Mono" pitchFamily="34" charset="-122"/>
                <a:cs typeface="Roboto Mono" pitchFamily="34" charset="-120"/>
              </a:rPr>
              <a:t>4000000000000008</a:t>
            </a:r>
            <a:pPr algn="l" indent="0" marL="0">
              <a:lnSpc>
                <a:spcPct val="130000"/>
              </a:lnSpc>
              <a:buNone/>
            </a:pPr>
            <a:r>
              <a:rPr lang="en-US" sz="1050" dirty="0">
                <a:solidFill>
                  <a:srgbClr val="000000"/>
                </a:solidFill>
                <a:latin typeface="Roboto Mono" pitchFamily="34" charset="0"/>
                <a:ea typeface="Roboto Mono" pitchFamily="34" charset="-122"/>
                <a:cs typeface="Roboto Mono" pitchFamily="34" charset="-120"/>
              </a:rPr>
              <a:t>&lt;http://ex.org/type&gt;</a:t>
            </a:r>
            <a:pPr algn="l" indent="0" marL="0">
              <a:lnSpc>
                <a:spcPct val="130000"/>
              </a:lnSpc>
              <a:buNone/>
            </a:pPr>
            <a:r>
              <a:rPr lang="en-US" sz="1050" dirty="0">
                <a:solidFill>
                  <a:srgbClr val="000000"/>
                </a:solidFill>
                <a:latin typeface="Roboto Mono" pitchFamily="34" charset="0"/>
                <a:ea typeface="Roboto Mono" pitchFamily="34" charset="-122"/>
                <a:cs typeface="Roboto Mono" pitchFamily="34" charset="-120"/>
              </a:rPr>
              <a:t> </a:t>
            </a:r>
            <a:endParaRPr lang="en-US" sz="1050" dirty="0"/>
          </a:p>
        </p:txBody>
      </p:sp>
      <p:sp>
        <p:nvSpPr>
          <p:cNvPr id="10" name="Text 7"/>
          <p:cNvSpPr txBox="1"/>
          <p:nvPr/>
        </p:nvSpPr>
        <p:spPr>
          <a:xfrm>
            <a:off x="660400" y="3138424"/>
            <a:ext cx="5346700" cy="444398"/>
          </a:xfrm>
          <a:prstGeom prst="rect">
            <a:avLst/>
          </a:prstGeom>
          <a:noFill/>
          <a:ln/>
        </p:spPr>
        <p:txBody>
          <a:bodyPr wrap="square" lIns="0" tIns="0" rIns="0" bIns="0" rtlCol="0" anchor="t"/>
          <a:lstStyle/>
          <a:p>
            <a:pPr algn="l" indent="0" marL="0">
              <a:lnSpc>
                <a:spcPct val="135000"/>
              </a:lnSpc>
              <a:buNone/>
            </a:pPr>
            <a:r>
              <a:rPr lang="en-US" sz="1200" dirty="0">
                <a:solidFill>
                  <a:srgbClr val="000000"/>
                </a:solidFill>
                <a:latin typeface="Roboto" pitchFamily="34" charset="0"/>
                <a:ea typeface="Roboto" pitchFamily="34" charset="-122"/>
                <a:cs typeface="Roboto" pitchFamily="34" charset="-120"/>
              </a:rPr>
              <a:t>Byte-wise lexicographic: </a:t>
            </a:r>
            <a:pPr algn="l" indent="0" marL="0">
              <a:lnSpc>
                <a:spcPct val="135000"/>
              </a:lnSpc>
              <a:buNone/>
            </a:pPr>
            <a:r>
              <a:rPr lang="en-US" sz="1200" b="1" dirty="0">
                <a:solidFill>
                  <a:srgbClr val="000000"/>
                </a:solidFill>
                <a:latin typeface="Roboto" pitchFamily="34" charset="0"/>
                <a:ea typeface="Roboto" pitchFamily="34" charset="-122"/>
                <a:cs typeface="Roboto" pitchFamily="34" charset="-120"/>
              </a:rPr>
              <a:t>H3 &lt; Human</a:t>
            </a:r>
            <a:pPr algn="l" indent="0" marL="0">
              <a:lnSpc>
                <a:spcPct val="135000"/>
              </a:lnSpc>
              <a:buNone/>
            </a:pPr>
            <a:r>
              <a:rPr lang="en-US" sz="1200" dirty="0">
                <a:solidFill>
                  <a:srgbClr val="000000"/>
                </a:solidFill>
                <a:latin typeface="Roboto" pitchFamily="34" charset="0"/>
                <a:ea typeface="Roboto" pitchFamily="34" charset="-122"/>
                <a:cs typeface="Roboto" pitchFamily="34" charset="-120"/>
              </a:rPr>
              <a:t> because </a:t>
            </a:r>
            <a:pPr algn="l" indent="0" marL="0">
              <a:lnSpc>
                <a:spcPct val="135000"/>
              </a:lnSpc>
              <a:buNone/>
            </a:pPr>
            <a:r>
              <a:rPr lang="en-US" sz="1200" b="1" dirty="0">
                <a:solidFill>
                  <a:srgbClr val="000000"/>
                </a:solidFill>
                <a:latin typeface="Roboto" pitchFamily="34" charset="0"/>
                <a:ea typeface="Roboto" pitchFamily="34" charset="-122"/>
                <a:cs typeface="Roboto" pitchFamily="34" charset="-120"/>
              </a:rPr>
              <a:t>‘3’ &lt; ‘u’</a:t>
            </a:r>
            <a:pPr algn="l" indent="0" marL="0">
              <a:lnSpc>
                <a:spcPct val="135000"/>
              </a:lnSpc>
              <a:buNone/>
            </a:pPr>
            <a:r>
              <a:rPr lang="en-US" sz="1200" dirty="0">
                <a:solidFill>
                  <a:srgbClr val="000000"/>
                </a:solidFill>
                <a:latin typeface="Roboto" pitchFamily="34" charset="0"/>
                <a:ea typeface="Roboto" pitchFamily="34" charset="-122"/>
                <a:cs typeface="Roboto" pitchFamily="34" charset="-120"/>
              </a:rPr>
              <a:t>, </a:t>
            </a:r>
            <a:pPr algn="l" indent="0" marL="0">
              <a:lnSpc>
                <a:spcPct val="135000"/>
              </a:lnSpc>
              <a:buNone/>
            </a:pPr>
            <a:r>
              <a:rPr lang="en-US" sz="1200" b="1" dirty="0">
                <a:solidFill>
                  <a:srgbClr val="000000"/>
                </a:solidFill>
                <a:latin typeface="Roboto" pitchFamily="34" charset="0"/>
                <a:ea typeface="Roboto" pitchFamily="34" charset="-122"/>
                <a:cs typeface="Roboto" pitchFamily="34" charset="-120"/>
              </a:rPr>
              <a:t>O3 &lt; occupation</a:t>
            </a:r>
            <a:pPr algn="l" indent="0" marL="0">
              <a:lnSpc>
                <a:spcPct val="135000"/>
              </a:lnSpc>
              <a:buNone/>
            </a:pPr>
            <a:r>
              <a:rPr lang="en-US" sz="1200" dirty="0">
                <a:solidFill>
                  <a:srgbClr val="000000"/>
                </a:solidFill>
                <a:latin typeface="Roboto" pitchFamily="34" charset="0"/>
                <a:ea typeface="Roboto" pitchFamily="34" charset="-122"/>
                <a:cs typeface="Roboto" pitchFamily="34" charset="-120"/>
              </a:rPr>
              <a:t> because </a:t>
            </a:r>
            <a:pPr algn="l" indent="0" marL="0">
              <a:lnSpc>
                <a:spcPct val="135000"/>
              </a:lnSpc>
              <a:buNone/>
            </a:pPr>
            <a:r>
              <a:rPr lang="en-US" sz="1200" b="1" dirty="0">
                <a:solidFill>
                  <a:srgbClr val="000000"/>
                </a:solidFill>
                <a:latin typeface="Roboto" pitchFamily="34" charset="0"/>
                <a:ea typeface="Roboto" pitchFamily="34" charset="-122"/>
                <a:cs typeface="Roboto" pitchFamily="34" charset="-120"/>
              </a:rPr>
              <a:t>‘O’ &lt; ‘o’</a:t>
            </a:r>
            <a:pPr algn="l" indent="0" marL="0">
              <a:lnSpc>
                <a:spcPct val="135000"/>
              </a:lnSpc>
              <a:buNone/>
            </a:pPr>
            <a:r>
              <a:rPr lang="en-US" sz="1200" dirty="0">
                <a:solidFill>
                  <a:srgbClr val="000000"/>
                </a:solidFill>
                <a:latin typeface="Roboto" pitchFamily="34" charset="0"/>
                <a:ea typeface="Roboto" pitchFamily="34" charset="-122"/>
                <a:cs typeface="Roboto" pitchFamily="34" charset="-120"/>
              </a:rPr>
              <a:t>.</a:t>
            </a:r>
            <a:endParaRPr lang="en-US" sz="1200" dirty="0"/>
          </a:p>
        </p:txBody>
      </p:sp>
      <p:sp>
        <p:nvSpPr>
          <p:cNvPr id="11" name="Shape 8"/>
          <p:cNvSpPr/>
          <p:nvPr/>
        </p:nvSpPr>
        <p:spPr>
          <a:xfrm>
            <a:off x="6184900" y="2047215"/>
            <a:ext cx="5346700" cy="1399184"/>
          </a:xfrm>
          <a:prstGeom prst="rect">
            <a:avLst/>
          </a:prstGeom>
          <a:ln w="25400">
            <a:solidFill>
              <a:srgbClr val="000000"/>
            </a:solidFill>
            <a:prstDash val="solid"/>
          </a:ln>
        </p:spPr>
      </p:sp>
      <p:sp>
        <p:nvSpPr>
          <p:cNvPr id="12" name="Text 9"/>
          <p:cNvSpPr txBox="1"/>
          <p:nvPr/>
        </p:nvSpPr>
        <p:spPr>
          <a:xfrm>
            <a:off x="6184900" y="2047215"/>
            <a:ext cx="5346700" cy="240716"/>
          </a:xfrm>
          <a:prstGeom prst="rect">
            <a:avLst/>
          </a:prstGeom>
          <a:noFill/>
          <a:ln/>
        </p:spPr>
        <p:txBody>
          <a:bodyPr wrap="square" lIns="0" tIns="0" rIns="0" bIns="0" rtlCol="0" anchor="t"/>
          <a:lstStyle/>
          <a:p>
            <a:pPr algn="ctr" indent="0" marL="0">
              <a:lnSpc>
                <a:spcPct val="130000"/>
              </a:lnSpc>
              <a:buNone/>
            </a:pPr>
            <a:r>
              <a:rPr lang="en-US" sz="1350" b="1" dirty="0">
                <a:solidFill>
                  <a:srgbClr val="FFFFFF"/>
                </a:solidFill>
                <a:latin typeface="Roboto" pitchFamily="34" charset="0"/>
                <a:ea typeface="Roboto" pitchFamily="34" charset="-122"/>
                <a:cs typeface="Roboto" pitchFamily="34" charset="-120"/>
              </a:rPr>
              <a:t>The 4-bit tag decides the group</a:t>
            </a:r>
            <a:endParaRPr lang="en-US" sz="1350" dirty="0"/>
          </a:p>
        </p:txBody>
      </p:sp>
      <p:sp>
        <p:nvSpPr>
          <p:cNvPr id="13" name="Text 10"/>
          <p:cNvSpPr txBox="1"/>
          <p:nvPr/>
        </p:nvSpPr>
        <p:spPr>
          <a:xfrm>
            <a:off x="6184900" y="2338730"/>
            <a:ext cx="5346700" cy="561670"/>
          </a:xfrm>
          <a:prstGeom prst="rect">
            <a:avLst/>
          </a:prstGeom>
          <a:noFill/>
          <a:ln/>
        </p:spPr>
        <p:txBody>
          <a:bodyPr wrap="square" lIns="0" tIns="0" rIns="0" bIns="0" rtlCol="0" anchor="t"/>
          <a:lstStyle/>
          <a:p>
            <a:pPr algn="l" indent="0" marL="0">
              <a:lnSpc>
                <a:spcPct val="130000"/>
              </a:lnSpc>
              <a:buNone/>
            </a:pPr>
            <a:r>
              <a:rPr lang="en-US" sz="1050" dirty="0">
                <a:solidFill>
                  <a:srgbClr val="000000"/>
                </a:solidFill>
                <a:latin typeface="Roboto Mono" pitchFamily="34" charset="0"/>
                <a:ea typeface="Roboto Mono" pitchFamily="34" charset="-122"/>
                <a:cs typeface="Roboto Mono" pitchFamily="34" charset="-120"/>
              </a:rPr>
              <a:t> </a:t>
            </a:r>
            <a:pPr algn="l" indent="0" marL="0">
              <a:lnSpc>
                <a:spcPct val="130000"/>
              </a:lnSpc>
              <a:buNone/>
            </a:pPr>
            <a:r>
              <a:rPr lang="en-US" sz="1050" dirty="0">
                <a:solidFill>
                  <a:srgbClr val="000000"/>
                </a:solidFill>
                <a:latin typeface="Roboto Mono" pitchFamily="34" charset="0"/>
                <a:ea typeface="Roboto Mono" pitchFamily="34" charset="-122"/>
                <a:cs typeface="Roboto Mono" pitchFamily="34" charset="-120"/>
              </a:rPr>
              <a:t>1000000000000001</a:t>
            </a:r>
            <a:pPr algn="l" indent="0" marL="0">
              <a:lnSpc>
                <a:spcPct val="130000"/>
              </a:lnSpc>
              <a:buNone/>
            </a:pPr>
            <a:r>
              <a:rPr lang="en-US" sz="1050" dirty="0">
                <a:solidFill>
                  <a:srgbClr val="000000"/>
                </a:solidFill>
                <a:latin typeface="Roboto Mono" pitchFamily="34" charset="0"/>
                <a:ea typeface="Roboto Mono" pitchFamily="34" charset="-122"/>
                <a:cs typeface="Roboto Mono" pitchFamily="34" charset="-120"/>
              </a:rPr>
              <a:t>"true"^^xsd:boolean</a:t>
            </a:r>
            <a:pPr algn="l" indent="0" marL="0">
              <a:lnSpc>
                <a:spcPct val="130000"/>
              </a:lnSpc>
              <a:buNone/>
            </a:pPr>
            <a:r>
              <a:rPr lang="en-US" sz="1050" dirty="0">
                <a:solidFill>
                  <a:srgbClr val="000000"/>
                </a:solidFill>
                <a:latin typeface="Roboto Mono" pitchFamily="34" charset="0"/>
                <a:ea typeface="Roboto Mono" pitchFamily="34" charset="-122"/>
                <a:cs typeface="Roboto Mono" pitchFamily="34" charset="-120"/>
              </a:rPr>
              <a:t> </a:t>
            </a:r>
            <a:pPr algn="l" indent="0" marL="0">
              <a:lnSpc>
                <a:spcPct val="130000"/>
              </a:lnSpc>
              <a:buNone/>
            </a:pPr>
            <a:r>
              <a:rPr lang="en-US" sz="1050" dirty="0">
                <a:solidFill>
                  <a:srgbClr val="38761D"/>
                </a:solidFill>
                <a:latin typeface="Roboto Mono" pitchFamily="34" charset="0"/>
                <a:ea typeface="Roboto Mono" pitchFamily="34" charset="-122"/>
                <a:cs typeface="Roboto Mono" pitchFamily="34" charset="-120"/>
              </a:rPr>
              <a:t>200000000000002A</a:t>
            </a:r>
            <a:pPr algn="l" indent="0" marL="0">
              <a:lnSpc>
                <a:spcPct val="130000"/>
              </a:lnSpc>
              <a:buNone/>
            </a:pPr>
            <a:r>
              <a:rPr lang="en-US" sz="1050" dirty="0">
                <a:solidFill>
                  <a:srgbClr val="38761D"/>
                </a:solidFill>
                <a:latin typeface="Roboto Mono" pitchFamily="34" charset="0"/>
                <a:ea typeface="Roboto Mono" pitchFamily="34" charset="-122"/>
                <a:cs typeface="Roboto Mono" pitchFamily="34" charset="-120"/>
              </a:rPr>
              <a:t>"42"^^xsd:int</a:t>
            </a:r>
            <a:pPr algn="l" indent="0" marL="0">
              <a:lnSpc>
                <a:spcPct val="130000"/>
              </a:lnSpc>
              <a:buNone/>
            </a:pPr>
            <a:r>
              <a:rPr lang="en-US" sz="1050" dirty="0">
                <a:solidFill>
                  <a:srgbClr val="000000"/>
                </a:solidFill>
                <a:latin typeface="Roboto Mono" pitchFamily="34" charset="0"/>
                <a:ea typeface="Roboto Mono" pitchFamily="34" charset="-122"/>
                <a:cs typeface="Roboto Mono" pitchFamily="34" charset="-120"/>
              </a:rPr>
              <a:t> </a:t>
            </a:r>
            <a:pPr algn="l" indent="0" marL="0">
              <a:lnSpc>
                <a:spcPct val="130000"/>
              </a:lnSpc>
              <a:buNone/>
            </a:pPr>
            <a:r>
              <a:rPr lang="en-US" sz="1050" dirty="0">
                <a:solidFill>
                  <a:srgbClr val="38761D"/>
                </a:solidFill>
                <a:latin typeface="Roboto Mono" pitchFamily="34" charset="0"/>
                <a:ea typeface="Roboto Mono" pitchFamily="34" charset="-122"/>
                <a:cs typeface="Roboto Mono" pitchFamily="34" charset="-120"/>
              </a:rPr>
              <a:t>20000000000003E8</a:t>
            </a:r>
            <a:pPr algn="l" indent="0" marL="0">
              <a:lnSpc>
                <a:spcPct val="130000"/>
              </a:lnSpc>
              <a:buNone/>
            </a:pPr>
            <a:r>
              <a:rPr lang="en-US" sz="1050" dirty="0">
                <a:solidFill>
                  <a:srgbClr val="38761D"/>
                </a:solidFill>
                <a:latin typeface="Roboto Mono" pitchFamily="34" charset="0"/>
                <a:ea typeface="Roboto Mono" pitchFamily="34" charset="-122"/>
                <a:cs typeface="Roboto Mono" pitchFamily="34" charset="-120"/>
              </a:rPr>
              <a:t>"1000"^^xsd:int</a:t>
            </a:r>
            <a:pPr algn="l" indent="0" marL="0">
              <a:lnSpc>
                <a:spcPct val="130000"/>
              </a:lnSpc>
              <a:buNone/>
            </a:pPr>
            <a:r>
              <a:rPr lang="en-US" sz="1050" dirty="0">
                <a:solidFill>
                  <a:srgbClr val="000000"/>
                </a:solidFill>
                <a:latin typeface="Roboto Mono" pitchFamily="34" charset="0"/>
                <a:ea typeface="Roboto Mono" pitchFamily="34" charset="-122"/>
                <a:cs typeface="Roboto Mono" pitchFamily="34" charset="-120"/>
              </a:rPr>
              <a:t> </a:t>
            </a:r>
            <a:pPr algn="l" indent="0" marL="0">
              <a:lnSpc>
                <a:spcPct val="130000"/>
              </a:lnSpc>
              <a:buNone/>
            </a:pPr>
            <a:r>
              <a:rPr lang="en-US" sz="1050" dirty="0">
                <a:solidFill>
                  <a:srgbClr val="000000"/>
                </a:solidFill>
                <a:latin typeface="Roboto Mono" pitchFamily="34" charset="0"/>
                <a:ea typeface="Roboto Mono" pitchFamily="34" charset="-122"/>
                <a:cs typeface="Roboto Mono" pitchFamily="34" charset="-120"/>
              </a:rPr>
              <a:t>3800000000000000</a:t>
            </a:r>
            <a:pPr algn="l" indent="0" marL="0">
              <a:lnSpc>
                <a:spcPct val="130000"/>
              </a:lnSpc>
              <a:buNone/>
            </a:pPr>
            <a:r>
              <a:rPr lang="en-US" sz="1050" dirty="0">
                <a:solidFill>
                  <a:srgbClr val="000000"/>
                </a:solidFill>
                <a:latin typeface="Roboto Mono" pitchFamily="34" charset="0"/>
                <a:ea typeface="Roboto Mono" pitchFamily="34" charset="-122"/>
                <a:cs typeface="Roboto Mono" pitchFamily="34" charset="-120"/>
              </a:rPr>
              <a:t>"-0.0"^^xsd:decimal</a:t>
            </a:r>
            <a:pPr algn="l" indent="0" marL="0">
              <a:lnSpc>
                <a:spcPct val="130000"/>
              </a:lnSpc>
              <a:buNone/>
            </a:pPr>
            <a:r>
              <a:rPr lang="en-US" sz="1050" dirty="0">
                <a:solidFill>
                  <a:srgbClr val="000000"/>
                </a:solidFill>
                <a:latin typeface="Roboto Mono" pitchFamily="34" charset="0"/>
                <a:ea typeface="Roboto Mono" pitchFamily="34" charset="-122"/>
                <a:cs typeface="Roboto Mono" pitchFamily="34" charset="-120"/>
              </a:rPr>
              <a:t> </a:t>
            </a:r>
            <a:pPr algn="l" indent="0" marL="0">
              <a:lnSpc>
                <a:spcPct val="130000"/>
              </a:lnSpc>
              <a:buNone/>
            </a:pPr>
            <a:r>
              <a:rPr lang="en-US" sz="1050" dirty="0">
                <a:solidFill>
                  <a:srgbClr val="000000"/>
                </a:solidFill>
                <a:latin typeface="Roboto Mono" pitchFamily="34" charset="0"/>
                <a:ea typeface="Roboto Mono" pitchFamily="34" charset="-122"/>
                <a:cs typeface="Roboto Mono" pitchFamily="34" charset="-120"/>
              </a:rPr>
              <a:t>4000000000000000</a:t>
            </a:r>
            <a:pPr algn="l" indent="0" marL="0">
              <a:lnSpc>
                <a:spcPct val="130000"/>
              </a:lnSpc>
              <a:buNone/>
            </a:pPr>
            <a:r>
              <a:rPr lang="en-US" sz="1050" dirty="0">
                <a:solidFill>
                  <a:srgbClr val="000000"/>
                </a:solidFill>
                <a:latin typeface="Roboto Mono" pitchFamily="34" charset="0"/>
                <a:ea typeface="Roboto Mono" pitchFamily="34" charset="-122"/>
                <a:cs typeface="Roboto Mono" pitchFamily="34" charset="-120"/>
              </a:rPr>
              <a:t>&lt;http://ex.org/H1&gt;</a:t>
            </a:r>
            <a:pPr algn="l" indent="0" marL="0">
              <a:lnSpc>
                <a:spcPct val="130000"/>
              </a:lnSpc>
              <a:buNone/>
            </a:pPr>
            <a:r>
              <a:rPr lang="en-US" sz="1050" dirty="0">
                <a:solidFill>
                  <a:srgbClr val="000000"/>
                </a:solidFill>
                <a:latin typeface="Roboto Mono" pitchFamily="34" charset="0"/>
                <a:ea typeface="Roboto Mono" pitchFamily="34" charset="-122"/>
                <a:cs typeface="Roboto Mono" pitchFamily="34" charset="-120"/>
              </a:rPr>
              <a:t> </a:t>
            </a:r>
            <a:endParaRPr lang="en-US" sz="1050" dirty="0"/>
          </a:p>
        </p:txBody>
      </p:sp>
      <p:sp>
        <p:nvSpPr>
          <p:cNvPr id="14" name="Text 11"/>
          <p:cNvSpPr txBox="1"/>
          <p:nvPr/>
        </p:nvSpPr>
        <p:spPr>
          <a:xfrm>
            <a:off x="6184900" y="2951201"/>
            <a:ext cx="5346700" cy="444398"/>
          </a:xfrm>
          <a:prstGeom prst="rect">
            <a:avLst/>
          </a:prstGeom>
          <a:noFill/>
          <a:ln/>
        </p:spPr>
        <p:txBody>
          <a:bodyPr wrap="square" lIns="0" tIns="0" rIns="0" bIns="0" rtlCol="0" anchor="t"/>
          <a:lstStyle/>
          <a:p>
            <a:pPr algn="l" indent="0" marL="0">
              <a:lnSpc>
                <a:spcPct val="135000"/>
              </a:lnSpc>
              <a:buNone/>
            </a:pPr>
            <a:r>
              <a:rPr lang="en-US" sz="1200" dirty="0">
                <a:solidFill>
                  <a:srgbClr val="000000"/>
                </a:solidFill>
                <a:latin typeface="Roboto" pitchFamily="34" charset="0"/>
                <a:ea typeface="Roboto" pitchFamily="34" charset="-122"/>
                <a:cs typeface="Roboto" pitchFamily="34" charset="-120"/>
              </a:rPr>
              <a:t>For </a:t>
            </a:r>
            <a:pPr algn="l" indent="0" marL="0">
              <a:lnSpc>
                <a:spcPct val="135000"/>
              </a:lnSpc>
              <a:buNone/>
            </a:pPr>
            <a:r>
              <a:rPr lang="en-US" sz="1200" b="1" dirty="0">
                <a:solidFill>
                  <a:srgbClr val="000000"/>
                </a:solidFill>
                <a:latin typeface="Roboto" pitchFamily="34" charset="0"/>
                <a:ea typeface="Roboto" pitchFamily="34" charset="-122"/>
                <a:cs typeface="Roboto" pitchFamily="34" charset="-120"/>
              </a:rPr>
              <a:t>Int</a:t>
            </a:r>
            <a:pPr algn="l" indent="0" marL="0">
              <a:lnSpc>
                <a:spcPct val="135000"/>
              </a:lnSpc>
              <a:buNone/>
            </a:pPr>
            <a:r>
              <a:rPr lang="en-US" sz="1200" dirty="0">
                <a:solidFill>
                  <a:srgbClr val="000000"/>
                </a:solidFill>
                <a:latin typeface="Roboto" pitchFamily="34" charset="0"/>
                <a:ea typeface="Roboto" pitchFamily="34" charset="-122"/>
                <a:cs typeface="Roboto" pitchFamily="34" charset="-120"/>
              </a:rPr>
              <a:t> the payload </a:t>
            </a:r>
            <a:pPr algn="l" indent="0" marL="0">
              <a:lnSpc>
                <a:spcPct val="135000"/>
              </a:lnSpc>
              <a:buNone/>
            </a:pPr>
            <a:r>
              <a:rPr lang="en-US" sz="1200" b="1" dirty="0">
                <a:solidFill>
                  <a:srgbClr val="000000"/>
                </a:solidFill>
                <a:latin typeface="Roboto" pitchFamily="34" charset="0"/>
                <a:ea typeface="Roboto" pitchFamily="34" charset="-122"/>
                <a:cs typeface="Roboto" pitchFamily="34" charset="-120"/>
              </a:rPr>
              <a:t>is</a:t>
            </a:r>
            <a:pPr algn="l" indent="0" marL="0">
              <a:lnSpc>
                <a:spcPct val="135000"/>
              </a:lnSpc>
              <a:buNone/>
            </a:pPr>
            <a:r>
              <a:rPr lang="en-US" sz="1200" dirty="0">
                <a:solidFill>
                  <a:srgbClr val="000000"/>
                </a:solidFill>
                <a:latin typeface="Roboto" pitchFamily="34" charset="0"/>
                <a:ea typeface="Roboto" pitchFamily="34" charset="-122"/>
                <a:cs typeface="Roboto" pitchFamily="34" charset="-120"/>
              </a:rPr>
              <a:t> the number — 42 is </a:t>
            </a:r>
            <a:pPr algn="l" indent="0" marL="0">
              <a:lnSpc>
                <a:spcPct val="135000"/>
              </a:lnSpc>
              <a:buNone/>
            </a:pPr>
            <a:r>
              <a:rPr lang="en-US" sz="1200" dirty="0">
                <a:solidFill>
                  <a:srgbClr val="000000"/>
                </a:solidFill>
                <a:latin typeface="Roboto Mono" pitchFamily="34" charset="0"/>
                <a:ea typeface="Roboto Mono" pitchFamily="34" charset="-122"/>
                <a:cs typeface="Roboto Mono" pitchFamily="34" charset="-120"/>
              </a:rPr>
              <a:t>…002A</a:t>
            </a:r>
            <a:pPr algn="l" indent="0" marL="0">
              <a:lnSpc>
                <a:spcPct val="135000"/>
              </a:lnSpc>
              <a:buNone/>
            </a:pPr>
            <a:r>
              <a:rPr lang="en-US" sz="1200" dirty="0">
                <a:solidFill>
                  <a:srgbClr val="000000"/>
                </a:solidFill>
                <a:latin typeface="Roboto" pitchFamily="34" charset="0"/>
                <a:ea typeface="Roboto" pitchFamily="34" charset="-122"/>
                <a:cs typeface="Roboto" pitchFamily="34" charset="-120"/>
              </a:rPr>
              <a:t>. No vocabulary at all: this index contains no integers, and the Id still decodes.</a:t>
            </a:r>
            <a:endParaRPr lang="en-US" sz="1200" dirty="0"/>
          </a:p>
        </p:txBody>
      </p:sp>
      <p:sp>
        <p:nvSpPr>
          <p:cNvPr id="15" name="Text 12"/>
          <p:cNvSpPr txBox="1"/>
          <p:nvPr/>
        </p:nvSpPr>
        <p:spPr>
          <a:xfrm>
            <a:off x="660400" y="3760622"/>
            <a:ext cx="10871200" cy="784098"/>
          </a:xfrm>
          <a:prstGeom prst="rect">
            <a:avLst/>
          </a:prstGeom>
          <a:noFill/>
          <a:ln w="38100">
            <a:solidFill>
              <a:srgbClr val="FF0000"/>
            </a:solidFill>
          </a:ln>
        </p:spPr>
        <p:txBody>
          <a:bodyPr wrap="square" lIns="114300" tIns="114300" rIns="114300" bIns="114300" rtlCol="0" anchor="t"/>
          <a:lstStyle/>
          <a:p>
            <a:pPr algn="l" indent="0" marL="0">
              <a:lnSpc>
                <a:spcPct val="135000"/>
              </a:lnSpc>
              <a:buNone/>
            </a:pPr>
            <a:r>
              <a:rPr lang="en-US" sz="1500" dirty="0">
                <a:solidFill>
                  <a:srgbClr val="000000"/>
                </a:solidFill>
                <a:latin typeface="Roboto" pitchFamily="34" charset="0"/>
                <a:ea typeface="Roboto" pitchFamily="34" charset="-122"/>
                <a:cs typeface="Roboto" pitchFamily="34" charset="-120"/>
              </a:rPr>
              <a:t>Largest Int Id </a:t>
            </a:r>
            <a:pPr algn="l" indent="0" marL="0">
              <a:lnSpc>
                <a:spcPct val="135000"/>
              </a:lnSpc>
              <a:buNone/>
            </a:pPr>
            <a:r>
              <a:rPr lang="en-US" sz="1500" dirty="0">
                <a:solidFill>
                  <a:srgbClr val="000000"/>
                </a:solidFill>
                <a:latin typeface="Roboto Mono" pitchFamily="34" charset="0"/>
                <a:ea typeface="Roboto Mono" pitchFamily="34" charset="-122"/>
                <a:cs typeface="Roboto Mono" pitchFamily="34" charset="-120"/>
              </a:rPr>
              <a:t>2FFFFFFFFFFFFFFF</a:t>
            </a:r>
            <a:pPr algn="l" indent="0" marL="0">
              <a:lnSpc>
                <a:spcPct val="135000"/>
              </a:lnSpc>
              <a:buNone/>
            </a:pPr>
            <a:r>
              <a:rPr lang="en-US" sz="1500" dirty="0">
                <a:solidFill>
                  <a:srgbClr val="000000"/>
                </a:solidFill>
                <a:latin typeface="Roboto" pitchFamily="34" charset="0"/>
                <a:ea typeface="Roboto" pitchFamily="34" charset="-122"/>
                <a:cs typeface="Roboto" pitchFamily="34" charset="-120"/>
              </a:rPr>
              <a:t> &lt; smallest IRI Id </a:t>
            </a:r>
            <a:pPr algn="l" indent="0" marL="0">
              <a:lnSpc>
                <a:spcPct val="135000"/>
              </a:lnSpc>
              <a:buNone/>
            </a:pPr>
            <a:r>
              <a:rPr lang="en-US" sz="1500" dirty="0">
                <a:solidFill>
                  <a:srgbClr val="000000"/>
                </a:solidFill>
                <a:latin typeface="Roboto Mono" pitchFamily="34" charset="0"/>
                <a:ea typeface="Roboto Mono" pitchFamily="34" charset="-122"/>
                <a:cs typeface="Roboto Mono" pitchFamily="34" charset="-120"/>
              </a:rPr>
              <a:t>4000000000000000</a:t>
            </a:r>
            <a:pPr algn="l" indent="0" marL="0">
              <a:lnSpc>
                <a:spcPct val="135000"/>
              </a:lnSpc>
              <a:buNone/>
            </a:pPr>
            <a:r>
              <a:rPr lang="en-US" sz="1500" dirty="0">
                <a:solidFill>
                  <a:srgbClr val="000000"/>
                </a:solidFill>
                <a:latin typeface="Roboto" pitchFamily="34" charset="0"/>
                <a:ea typeface="Roboto" pitchFamily="34" charset="-122"/>
                <a:cs typeface="Roboto" pitchFamily="34" charset="-120"/>
              </a:rPr>
              <a:t> — so </a:t>
            </a:r>
            <a:pPr algn="l" indent="0" marL="0">
              <a:lnSpc>
                <a:spcPct val="135000"/>
              </a:lnSpc>
              <a:buNone/>
            </a:pPr>
            <a:r>
              <a:rPr lang="en-US" sz="1500" b="1" dirty="0">
                <a:solidFill>
                  <a:srgbClr val="000000"/>
                </a:solidFill>
                <a:latin typeface="Roboto" pitchFamily="34" charset="0"/>
                <a:ea typeface="Roboto" pitchFamily="34" charset="-122"/>
                <a:cs typeface="Roboto" pitchFamily="34" charset="-120"/>
              </a:rPr>
              <a:t>every number sorts before every IRI</a:t>
            </a:r>
            <a:pPr algn="l" indent="0" marL="0">
              <a:lnSpc>
                <a:spcPct val="135000"/>
              </a:lnSpc>
              <a:buNone/>
            </a:pPr>
            <a:r>
              <a:rPr lang="en-US" sz="1500" dirty="0">
                <a:solidFill>
                  <a:srgbClr val="000000"/>
                </a:solidFill>
                <a:latin typeface="Roboto" pitchFamily="34" charset="0"/>
                <a:ea typeface="Roboto" pitchFamily="34" charset="-122"/>
                <a:cs typeface="Roboto" pitchFamily="34" charset="-120"/>
              </a:rPr>
              <a:t>. That is the storage order, not the SPARQL order.</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155700"/>
          </a:xfrm>
          <a:prstGeom prst="rect">
            <a:avLst/>
          </a:prstGeom>
          <a:solidFill>
            <a:srgbClr val="0084D1"/>
          </a:solidFill>
          <a:ln/>
        </p:spPr>
      </p:sp>
      <p:sp>
        <p:nvSpPr>
          <p:cNvPr id="3" name="Text 1"/>
          <p:cNvSpPr txBox="1"/>
          <p:nvPr/>
        </p:nvSpPr>
        <p:spPr>
          <a:xfrm>
            <a:off x="0" y="228600"/>
            <a:ext cx="12192000" cy="934720"/>
          </a:xfrm>
          <a:prstGeom prst="rect">
            <a:avLst/>
          </a:prstGeom>
          <a:noFill/>
          <a:ln/>
        </p:spPr>
        <p:txBody>
          <a:bodyPr wrap="square" lIns="0" tIns="0" rIns="0" bIns="0" rtlCol="0" anchor="t"/>
          <a:lstStyle/>
          <a:p>
            <a:pPr algn="ctr" indent="0" marL="0">
              <a:lnSpc>
                <a:spcPct val="110000"/>
              </a:lnSpc>
              <a:buNone/>
            </a:pPr>
            <a:r>
              <a:rPr lang="en-US" sz="4600" b="1" dirty="0">
                <a:solidFill>
                  <a:srgbClr val="FFFFFF"/>
                </a:solidFill>
                <a:latin typeface="Roboto Slab" pitchFamily="34" charset="0"/>
                <a:ea typeface="Roboto Slab" pitchFamily="34" charset="-122"/>
                <a:cs typeface="Roboto Slab" pitchFamily="34" charset="-120"/>
              </a:rPr>
              <a:t>Six sorted permutations</a:t>
            </a:r>
            <a:endParaRPr lang="en-US" sz="4600" dirty="0"/>
          </a:p>
        </p:txBody>
      </p:sp>
      <p:sp>
        <p:nvSpPr>
          <p:cNvPr id="4" name="Text 2"/>
          <p:cNvSpPr txBox="1"/>
          <p:nvPr/>
        </p:nvSpPr>
        <p:spPr>
          <a:xfrm>
            <a:off x="10795000" y="6322060"/>
            <a:ext cx="889000" cy="264160"/>
          </a:xfrm>
          <a:prstGeom prst="rect">
            <a:avLst/>
          </a:prstGeom>
          <a:noFill/>
          <a:ln/>
        </p:spPr>
        <p:txBody>
          <a:bodyPr wrap="square" lIns="0" tIns="0" rIns="0" bIns="0" rtlCol="0" anchor="t"/>
          <a:lstStyle/>
          <a:p>
            <a:pPr algn="r" indent="0" marL="0">
              <a:lnSpc>
                <a:spcPct val="120000"/>
              </a:lnSpc>
              <a:buNone/>
            </a:pPr>
            <a:r>
              <a:rPr lang="en-US" sz="1300" dirty="0">
                <a:solidFill>
                  <a:srgbClr val="595959"/>
                </a:solidFill>
                <a:latin typeface="Roboto" pitchFamily="34" charset="0"/>
                <a:ea typeface="Roboto" pitchFamily="34" charset="-122"/>
                <a:cs typeface="Roboto" pitchFamily="34" charset="-120"/>
              </a:rPr>
              <a:t>7</a:t>
            </a:r>
            <a:endParaRPr lang="en-US" sz="1300" dirty="0"/>
          </a:p>
        </p:txBody>
      </p:sp>
      <p:sp>
        <p:nvSpPr>
          <p:cNvPr id="6" name="Text 3"/>
          <p:cNvSpPr txBox="1"/>
          <p:nvPr/>
        </p:nvSpPr>
        <p:spPr>
          <a:xfrm>
            <a:off x="660400" y="1409700"/>
            <a:ext cx="10871200" cy="652882"/>
          </a:xfrm>
          <a:prstGeom prst="rect">
            <a:avLst/>
          </a:prstGeom>
          <a:noFill/>
          <a:ln/>
        </p:spPr>
        <p:txBody>
          <a:bodyPr wrap="square" lIns="0" tIns="0" rIns="0" bIns="0" rtlCol="0" anchor="t"/>
          <a:lstStyle/>
          <a:p>
            <a:pPr algn="l" indent="0" marL="0">
              <a:lnSpc>
                <a:spcPct val="140000"/>
              </a:lnSpc>
              <a:buNone/>
            </a:pPr>
            <a:r>
              <a:rPr lang="en-US" sz="1700" dirty="0">
                <a:solidFill>
                  <a:srgbClr val="000000"/>
                </a:solidFill>
                <a:latin typeface="Roboto" pitchFamily="34" charset="0"/>
                <a:ea typeface="Roboto" pitchFamily="34" charset="-122"/>
                <a:cs typeface="Roboto" pitchFamily="34" charset="-120"/>
              </a:rPr>
              <a:t>Every triple is stored </a:t>
            </a:r>
            <a:pPr algn="l" indent="0" marL="0">
              <a:lnSpc>
                <a:spcPct val="140000"/>
              </a:lnSpc>
              <a:buNone/>
            </a:pPr>
            <a:r>
              <a:rPr lang="en-US" sz="1700" b="1" dirty="0">
                <a:solidFill>
                  <a:srgbClr val="000000"/>
                </a:solidFill>
                <a:latin typeface="Roboto" pitchFamily="34" charset="0"/>
                <a:ea typeface="Roboto" pitchFamily="34" charset="-122"/>
                <a:cs typeface="Roboto" pitchFamily="34" charset="-120"/>
              </a:rPr>
              <a:t>six times</a:t>
            </a:r>
            <a:pPr algn="l" indent="0" marL="0">
              <a:lnSpc>
                <a:spcPct val="140000"/>
              </a:lnSpc>
              <a:buNone/>
            </a:pPr>
            <a:r>
              <a:rPr lang="en-US" sz="1700" dirty="0">
                <a:solidFill>
                  <a:srgbClr val="000000"/>
                </a:solidFill>
                <a:latin typeface="Roboto" pitchFamily="34" charset="0"/>
                <a:ea typeface="Roboto" pitchFamily="34" charset="-122"/>
                <a:cs typeface="Roboto" pitchFamily="34" charset="-120"/>
              </a:rPr>
              <a:t>, each time sorted by a different key order. The first column is called </a:t>
            </a:r>
            <a:pPr algn="l" indent="0" marL="0">
              <a:lnSpc>
                <a:spcPct val="140000"/>
              </a:lnSpc>
              <a:buNone/>
            </a:pPr>
            <a:r>
              <a:rPr lang="en-US" sz="1700" b="1" dirty="0">
                <a:solidFill>
                  <a:srgbClr val="000000"/>
                </a:solidFill>
                <a:latin typeface="Roboto" pitchFamily="34" charset="0"/>
                <a:ea typeface="Roboto" pitchFamily="34" charset="-122"/>
                <a:cs typeface="Roboto" pitchFamily="34" charset="-120"/>
              </a:rPr>
              <a:t>col0</a:t>
            </a:r>
            <a:pPr algn="l" indent="0" marL="0">
              <a:lnSpc>
                <a:spcPct val="140000"/>
              </a:lnSpc>
              <a:buNone/>
            </a:pPr>
            <a:r>
              <a:rPr lang="en-US" sz="1700" dirty="0">
                <a:solidFill>
                  <a:srgbClr val="000000"/>
                </a:solidFill>
                <a:latin typeface="Roboto" pitchFamily="34" charset="0"/>
                <a:ea typeface="Roboto" pitchFamily="34" charset="-122"/>
                <a:cs typeface="Roboto" pitchFamily="34" charset="-120"/>
              </a:rPr>
              <a:t>, and its distinct values are the </a:t>
            </a:r>
            <a:pPr algn="l" indent="0" marL="0">
              <a:lnSpc>
                <a:spcPct val="140000"/>
              </a:lnSpc>
              <a:buNone/>
            </a:pPr>
            <a:r>
              <a:rPr lang="en-US" sz="1700" b="1" dirty="0">
                <a:solidFill>
                  <a:srgbClr val="000000"/>
                </a:solidFill>
                <a:latin typeface="Roboto" pitchFamily="34" charset="0"/>
                <a:ea typeface="Roboto" pitchFamily="34" charset="-122"/>
                <a:cs typeface="Roboto" pitchFamily="34" charset="-120"/>
              </a:rPr>
              <a:t>relations</a:t>
            </a:r>
            <a:pPr algn="l" indent="0" marL="0">
              <a:lnSpc>
                <a:spcPct val="140000"/>
              </a:lnSpc>
              <a:buNone/>
            </a:pPr>
            <a:r>
              <a:rPr lang="en-US" sz="1700" dirty="0">
                <a:solidFill>
                  <a:srgbClr val="000000"/>
                </a:solidFill>
                <a:latin typeface="Roboto" pitchFamily="34" charset="0"/>
                <a:ea typeface="Roboto" pitchFamily="34" charset="-122"/>
                <a:cs typeface="Roboto" pitchFamily="34" charset="-120"/>
              </a:rPr>
              <a:t>.</a:t>
            </a:r>
            <a:endParaRPr lang="en-US" sz="17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60400" y="2253082"/>
          <a:ext cx="10871200" cy="914400"/>
        </p:xfrm>
        <a:graphic>
          <a:graphicData uri="http://schemas.openxmlformats.org/drawingml/2006/table">
            <a:tbl>
              <a:tblPr/>
              <a:tblGrid>
                <a:gridCol w="2391664"/>
                <a:gridCol w="2826512"/>
                <a:gridCol w="3043936"/>
                <a:gridCol w="2609088"/>
              </a:tblGrid>
              <a:tr h="0">
                <a:tc>
                  <a:txBody>
                    <a:bodyPr/>
                    <a:lstStyle/>
                    <a:p>
                      <a:pPr algn="l" indent="0" marL="0">
                        <a:buNone/>
                      </a:pPr>
                      <a:r>
                        <a:rPr lang="en-US" sz="1600" b="1" dirty="0">
                          <a:solidFill>
                            <a:srgbClr val="FFFFFF"/>
                          </a:solidFill>
                          <a:latin typeface="Roboto" pitchFamily="34" charset="0"/>
                          <a:ea typeface="Roboto" pitchFamily="34" charset="-122"/>
                          <a:cs typeface="Roboto" pitchFamily="34" charset="-120"/>
                        </a:rPr>
                        <a:t>permutation</a:t>
                      </a:r>
                      <a:endParaRPr lang="en-US" sz="1600" dirty="0">
                        <a:latin typeface="Roboto" charset="0"/>
                        <a:ea typeface="Roboto" charset="0"/>
                        <a:cs typeface="Roboto" charset="0"/>
                      </a:endParaRPr>
                    </a:p>
                  </a:txBody>
                  <a:tcPr marL="114300" marR="114300" marT="114300" marB="1143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84D1"/>
                    </a:solidFill>
                  </a:tcPr>
                </a:tc>
                <a:tc>
                  <a:txBody>
                    <a:bodyPr/>
                    <a:lstStyle/>
                    <a:p>
                      <a:pPr algn="l" indent="0" marL="0">
                        <a:buNone/>
                      </a:pPr>
                      <a:r>
                        <a:rPr lang="en-US" sz="1600" b="1" dirty="0">
                          <a:solidFill>
                            <a:srgbClr val="FFFFFF"/>
                          </a:solidFill>
                          <a:latin typeface="Roboto" pitchFamily="34" charset="0"/>
                          <a:ea typeface="Roboto" pitchFamily="34" charset="-122"/>
                          <a:cs typeface="Roboto" pitchFamily="34" charset="-120"/>
                        </a:rPr>
                        <a:t>answers</a:t>
                      </a:r>
                      <a:endParaRPr lang="en-US" sz="1600" dirty="0">
                        <a:latin typeface="Roboto" charset="0"/>
                        <a:ea typeface="Roboto" charset="0"/>
                        <a:cs typeface="Roboto" charset="0"/>
                      </a:endParaRPr>
                    </a:p>
                  </a:txBody>
                  <a:tcPr marL="114300" marR="114300" marT="114300" marB="1143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84D1"/>
                    </a:solidFill>
                  </a:tcPr>
                </a:tc>
                <a:tc>
                  <a:txBody>
                    <a:bodyPr/>
                    <a:lstStyle/>
                    <a:p>
                      <a:pPr algn="r" indent="0" marL="0">
                        <a:buNone/>
                      </a:pPr>
                      <a:r>
                        <a:rPr lang="en-US" sz="1600" b="1" dirty="0">
                          <a:solidFill>
                            <a:srgbClr val="FFFFFF"/>
                          </a:solidFill>
                          <a:latin typeface="Roboto" pitchFamily="34" charset="0"/>
                          <a:ea typeface="Roboto" pitchFamily="34" charset="-122"/>
                          <a:cs typeface="Roboto" pitchFamily="34" charset="-120"/>
                        </a:rPr>
                        <a:t>relations (distinct col0)</a:t>
                      </a:r>
                      <a:endParaRPr lang="en-US" sz="1600" dirty="0">
                        <a:latin typeface="Roboto" charset="0"/>
                        <a:ea typeface="Roboto" charset="0"/>
                        <a:cs typeface="Roboto" charset="0"/>
                      </a:endParaRPr>
                    </a:p>
                  </a:txBody>
                  <a:tcPr marL="114300" marR="114300" marT="114300" marB="1143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84D1"/>
                    </a:solidFill>
                  </a:tcPr>
                </a:tc>
                <a:tc>
                  <a:txBody>
                    <a:bodyPr/>
                    <a:lstStyle/>
                    <a:p>
                      <a:pPr algn="r" indent="0" marL="0">
                        <a:buNone/>
                      </a:pPr>
                      <a:r>
                        <a:rPr lang="en-US" sz="1600" b="1" dirty="0">
                          <a:solidFill>
                            <a:srgbClr val="FFFFFF"/>
                          </a:solidFill>
                          <a:latin typeface="Roboto" pitchFamily="34" charset="0"/>
                          <a:ea typeface="Roboto" pitchFamily="34" charset="-122"/>
                          <a:cs typeface="Roboto" pitchFamily="34" charset="-120"/>
                        </a:rPr>
                        <a:t>blocks</a:t>
                      </a:r>
                      <a:endParaRPr lang="en-US" sz="1600" dirty="0">
                        <a:latin typeface="Roboto" charset="0"/>
                        <a:ea typeface="Roboto" charset="0"/>
                        <a:cs typeface="Roboto" charset="0"/>
                      </a:endParaRPr>
                    </a:p>
                  </a:txBody>
                  <a:tcPr marL="114300" marR="114300" marT="114300" marB="1143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84D1"/>
                    </a:solidFill>
                  </a:tcPr>
                </a:tc>
              </a:tr>
              <a:tr h="0">
                <a:tc>
                  <a:txBody>
                    <a:bodyPr/>
                    <a:lstStyle/>
                    <a:p>
                      <a:pPr algn="l" indent="0" marL="0">
                        <a:buNone/>
                      </a:pPr>
                      <a:r>
                        <a:rPr lang="en-US" sz="1600" b="1" dirty="0">
                          <a:solidFill>
                            <a:srgbClr val="000000"/>
                          </a:solidFill>
                          <a:latin typeface="Roboto" pitchFamily="34" charset="0"/>
                          <a:ea typeface="Roboto" pitchFamily="34" charset="-122"/>
                          <a:cs typeface="Roboto" pitchFamily="34" charset="-120"/>
                        </a:rPr>
                        <a:t>PSO</a:t>
                      </a:r>
                      <a:pPr algn="l" indent="0" marL="0">
                        <a:buNone/>
                      </a:pPr>
                      <a:r>
                        <a:rPr lang="en-US" sz="1600" dirty="0">
                          <a:solidFill>
                            <a:srgbClr val="000000"/>
                          </a:solidFill>
                          <a:latin typeface="Roboto" pitchFamily="34" charset="0"/>
                          <a:ea typeface="Roboto" pitchFamily="34" charset="-122"/>
                          <a:cs typeface="Roboto" pitchFamily="34" charset="-120"/>
                        </a:rPr>
                        <a:t> · </a:t>
                      </a:r>
                      <a:pPr algn="l" indent="0" marL="0">
                        <a:buNone/>
                      </a:pPr>
                      <a:r>
                        <a:rPr lang="en-US" sz="1600" b="1" dirty="0">
                          <a:solidFill>
                            <a:srgbClr val="000000"/>
                          </a:solidFill>
                          <a:latin typeface="Roboto" pitchFamily="34" charset="0"/>
                          <a:ea typeface="Roboto" pitchFamily="34" charset="-122"/>
                          <a:cs typeface="Roboto" pitchFamily="34" charset="-120"/>
                        </a:rPr>
                        <a:t>POS</a:t>
                      </a:r>
                      <a:endParaRPr lang="en-US" sz="1600" dirty="0">
                        <a:latin typeface="Roboto" charset="0"/>
                        <a:ea typeface="Roboto" charset="0"/>
                        <a:cs typeface="Roboto" charset="0"/>
                      </a:endParaRPr>
                    </a:p>
                  </a:txBody>
                  <a:tcPr marL="114300" marR="114300" marT="114300" marB="1143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Roboto" pitchFamily="34" charset="0"/>
                          <a:ea typeface="Roboto" pitchFamily="34" charset="-122"/>
                          <a:cs typeface="Roboto" pitchFamily="34" charset="-120"/>
                        </a:rPr>
                        <a:t>bound predicate</a:t>
                      </a:r>
                      <a:endParaRPr lang="en-US" sz="1600" dirty="0">
                        <a:latin typeface="Roboto" charset="0"/>
                        <a:ea typeface="Roboto" charset="0"/>
                        <a:cs typeface="Roboto" charset="0"/>
                      </a:endParaRPr>
                    </a:p>
                  </a:txBody>
                  <a:tcPr marL="114300" marR="114300" marT="114300" marB="1143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00000"/>
                          </a:solidFill>
                          <a:latin typeface="Roboto" pitchFamily="34" charset="0"/>
                          <a:ea typeface="Roboto" pitchFamily="34" charset="-122"/>
                          <a:cs typeface="Roboto" pitchFamily="34" charset="-120"/>
                        </a:rPr>
                        <a:t>86</a:t>
                      </a:r>
                      <a:endParaRPr lang="en-US" sz="1600" dirty="0">
                        <a:latin typeface="Roboto" charset="0"/>
                        <a:ea typeface="Roboto" charset="0"/>
                        <a:cs typeface="Roboto" charset="0"/>
                      </a:endParaRPr>
                    </a:p>
                  </a:txBody>
                  <a:tcPr marL="114300" marR="114300" marT="114300" marB="1143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00000"/>
                          </a:solidFill>
                          <a:latin typeface="Roboto" pitchFamily="34" charset="0"/>
                          <a:ea typeface="Roboto" pitchFamily="34" charset="-122"/>
                          <a:cs typeface="Roboto" pitchFamily="34" charset="-120"/>
                        </a:rPr>
                        <a:t>366</a:t>
                      </a:r>
                      <a:endParaRPr lang="en-US" sz="1600" dirty="0">
                        <a:latin typeface="Roboto" charset="0"/>
                        <a:ea typeface="Roboto" charset="0"/>
                        <a:cs typeface="Roboto" charset="0"/>
                      </a:endParaRPr>
                    </a:p>
                  </a:txBody>
                  <a:tcPr marL="114300" marR="114300" marT="114300" marB="1143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000000"/>
                          </a:solidFill>
                          <a:latin typeface="Roboto" pitchFamily="34" charset="0"/>
                          <a:ea typeface="Roboto" pitchFamily="34" charset="-122"/>
                          <a:cs typeface="Roboto" pitchFamily="34" charset="-120"/>
                        </a:rPr>
                        <a:t>SPO</a:t>
                      </a:r>
                      <a:pPr algn="l" indent="0" marL="0">
                        <a:buNone/>
                      </a:pPr>
                      <a:r>
                        <a:rPr lang="en-US" sz="1600" dirty="0">
                          <a:solidFill>
                            <a:srgbClr val="000000"/>
                          </a:solidFill>
                          <a:latin typeface="Roboto" pitchFamily="34" charset="0"/>
                          <a:ea typeface="Roboto" pitchFamily="34" charset="-122"/>
                          <a:cs typeface="Roboto" pitchFamily="34" charset="-120"/>
                        </a:rPr>
                        <a:t> · </a:t>
                      </a:r>
                      <a:pPr algn="l" indent="0" marL="0">
                        <a:buNone/>
                      </a:pPr>
                      <a:r>
                        <a:rPr lang="en-US" sz="1600" b="1" dirty="0">
                          <a:solidFill>
                            <a:srgbClr val="000000"/>
                          </a:solidFill>
                          <a:latin typeface="Roboto" pitchFamily="34" charset="0"/>
                          <a:ea typeface="Roboto" pitchFamily="34" charset="-122"/>
                          <a:cs typeface="Roboto" pitchFamily="34" charset="-120"/>
                        </a:rPr>
                        <a:t>SOP</a:t>
                      </a:r>
                      <a:endParaRPr lang="en-US" sz="1600" dirty="0">
                        <a:latin typeface="Roboto" charset="0"/>
                        <a:ea typeface="Roboto" charset="0"/>
                        <a:cs typeface="Roboto" charset="0"/>
                      </a:endParaRPr>
                    </a:p>
                  </a:txBody>
                  <a:tcPr marL="114300" marR="114300" marT="114300" marB="1143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Roboto" pitchFamily="34" charset="0"/>
                          <a:ea typeface="Roboto" pitchFamily="34" charset="-122"/>
                          <a:cs typeface="Roboto" pitchFamily="34" charset="-120"/>
                        </a:rPr>
                        <a:t>bound subject</a:t>
                      </a:r>
                      <a:endParaRPr lang="en-US" sz="1600" dirty="0">
                        <a:latin typeface="Roboto" charset="0"/>
                        <a:ea typeface="Roboto" charset="0"/>
                        <a:cs typeface="Roboto" charset="0"/>
                      </a:endParaRPr>
                    </a:p>
                  </a:txBody>
                  <a:tcPr marL="114300" marR="114300" marT="114300" marB="1143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00000"/>
                          </a:solidFill>
                          <a:latin typeface="Roboto" pitchFamily="34" charset="0"/>
                          <a:ea typeface="Roboto" pitchFamily="34" charset="-122"/>
                          <a:cs typeface="Roboto" pitchFamily="34" charset="-120"/>
                        </a:rPr>
                        <a:t>521,585</a:t>
                      </a:r>
                      <a:endParaRPr lang="en-US" sz="1600" dirty="0">
                        <a:latin typeface="Roboto" charset="0"/>
                        <a:ea typeface="Roboto" charset="0"/>
                        <a:cs typeface="Roboto" charset="0"/>
                      </a:endParaRPr>
                    </a:p>
                  </a:txBody>
                  <a:tcPr marL="114300" marR="114300" marT="114300" marB="1143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00000"/>
                          </a:solidFill>
                          <a:latin typeface="Roboto" pitchFamily="34" charset="0"/>
                          <a:ea typeface="Roboto" pitchFamily="34" charset="-122"/>
                          <a:cs typeface="Roboto" pitchFamily="34" charset="-120"/>
                        </a:rPr>
                        <a:t>234</a:t>
                      </a:r>
                      <a:endParaRPr lang="en-US" sz="1600" dirty="0">
                        <a:latin typeface="Roboto" charset="0"/>
                        <a:ea typeface="Roboto" charset="0"/>
                        <a:cs typeface="Roboto" charset="0"/>
                      </a:endParaRPr>
                    </a:p>
                  </a:txBody>
                  <a:tcPr marL="114300" marR="114300" marT="114300" marB="1143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000000"/>
                          </a:solidFill>
                          <a:latin typeface="Roboto" pitchFamily="34" charset="0"/>
                          <a:ea typeface="Roboto" pitchFamily="34" charset="-122"/>
                          <a:cs typeface="Roboto" pitchFamily="34" charset="-120"/>
                        </a:rPr>
                        <a:t>OPS</a:t>
                      </a:r>
                      <a:pPr algn="l" indent="0" marL="0">
                        <a:buNone/>
                      </a:pPr>
                      <a:r>
                        <a:rPr lang="en-US" sz="1600" dirty="0">
                          <a:solidFill>
                            <a:srgbClr val="000000"/>
                          </a:solidFill>
                          <a:latin typeface="Roboto" pitchFamily="34" charset="0"/>
                          <a:ea typeface="Roboto" pitchFamily="34" charset="-122"/>
                          <a:cs typeface="Roboto" pitchFamily="34" charset="-120"/>
                        </a:rPr>
                        <a:t> · </a:t>
                      </a:r>
                      <a:pPr algn="l" indent="0" marL="0">
                        <a:buNone/>
                      </a:pPr>
                      <a:r>
                        <a:rPr lang="en-US" sz="1600" b="1" dirty="0">
                          <a:solidFill>
                            <a:srgbClr val="000000"/>
                          </a:solidFill>
                          <a:latin typeface="Roboto" pitchFamily="34" charset="0"/>
                          <a:ea typeface="Roboto" pitchFamily="34" charset="-122"/>
                          <a:cs typeface="Roboto" pitchFamily="34" charset="-120"/>
                        </a:rPr>
                        <a:t>OSP</a:t>
                      </a:r>
                      <a:endParaRPr lang="en-US" sz="1600" dirty="0">
                        <a:latin typeface="Roboto" charset="0"/>
                        <a:ea typeface="Roboto" charset="0"/>
                        <a:cs typeface="Roboto" charset="0"/>
                      </a:endParaRPr>
                    </a:p>
                  </a:txBody>
                  <a:tcPr marL="114300" marR="114300" marT="114300" marB="1143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00000"/>
                          </a:solidFill>
                          <a:latin typeface="Roboto" pitchFamily="34" charset="0"/>
                          <a:ea typeface="Roboto" pitchFamily="34" charset="-122"/>
                          <a:cs typeface="Roboto" pitchFamily="34" charset="-120"/>
                        </a:rPr>
                        <a:t>bound object</a:t>
                      </a:r>
                      <a:endParaRPr lang="en-US" sz="1600" dirty="0">
                        <a:latin typeface="Roboto" charset="0"/>
                        <a:ea typeface="Roboto" charset="0"/>
                        <a:cs typeface="Roboto" charset="0"/>
                      </a:endParaRPr>
                    </a:p>
                  </a:txBody>
                  <a:tcPr marL="114300" marR="114300" marT="114300" marB="1143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00000"/>
                          </a:solidFill>
                          <a:latin typeface="Roboto" pitchFamily="34" charset="0"/>
                          <a:ea typeface="Roboto" pitchFamily="34" charset="-122"/>
                          <a:cs typeface="Roboto" pitchFamily="34" charset="-120"/>
                        </a:rPr>
                        <a:t>1,005,832</a:t>
                      </a:r>
                      <a:endParaRPr lang="en-US" sz="1600" dirty="0">
                        <a:latin typeface="Roboto" charset="0"/>
                        <a:ea typeface="Roboto" charset="0"/>
                        <a:cs typeface="Roboto" charset="0"/>
                      </a:endParaRPr>
                    </a:p>
                  </a:txBody>
                  <a:tcPr marL="114300" marR="114300" marT="114300" marB="1143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00000"/>
                          </a:solidFill>
                          <a:latin typeface="Roboto" pitchFamily="34" charset="0"/>
                          <a:ea typeface="Roboto" pitchFamily="34" charset="-122"/>
                          <a:cs typeface="Roboto" pitchFamily="34" charset="-120"/>
                        </a:rPr>
                        <a:t>249</a:t>
                      </a:r>
                      <a:endParaRPr lang="en-US" sz="1600" dirty="0">
                        <a:latin typeface="Roboto" charset="0"/>
                        <a:ea typeface="Roboto" charset="0"/>
                        <a:cs typeface="Roboto" charset="0"/>
                      </a:endParaRPr>
                    </a:p>
                  </a:txBody>
                  <a:tcPr marL="114300" marR="114300" marT="114300" marB="1143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bl>
          </a:graphicData>
        </a:graphic>
      </p:graphicFrame>
      <p:sp>
        <p:nvSpPr>
          <p:cNvPr id="8" name="Text 4"/>
          <p:cNvSpPr txBox="1"/>
          <p:nvPr/>
        </p:nvSpPr>
        <p:spPr>
          <a:xfrm>
            <a:off x="660400" y="4577182"/>
            <a:ext cx="10871200" cy="614477"/>
          </a:xfrm>
          <a:prstGeom prst="rect">
            <a:avLst/>
          </a:prstGeom>
          <a:noFill/>
          <a:ln/>
        </p:spPr>
        <p:txBody>
          <a:bodyPr wrap="square" lIns="0" tIns="0" rIns="0" bIns="0" rtlCol="0" anchor="t"/>
          <a:lstStyle/>
          <a:p>
            <a:pPr algn="l" indent="0" marL="0">
              <a:lnSpc>
                <a:spcPct val="140000"/>
              </a:lnSpc>
              <a:buNone/>
            </a:pPr>
            <a:r>
              <a:rPr lang="en-US" sz="1600" dirty="0">
                <a:solidFill>
                  <a:srgbClr val="000000"/>
                </a:solidFill>
                <a:latin typeface="Roboto" pitchFamily="34" charset="0"/>
                <a:ea typeface="Roboto" pitchFamily="34" charset="-122"/>
                <a:cs typeface="Roboto" pitchFamily="34" charset="-120"/>
              </a:rPr>
              <a:t>A scan picks the permutation whose key order puts the </a:t>
            </a:r>
            <a:pPr algn="l" indent="0" marL="0">
              <a:lnSpc>
                <a:spcPct val="140000"/>
              </a:lnSpc>
              <a:buNone/>
            </a:pPr>
            <a:r>
              <a:rPr lang="en-US" sz="1600" b="1" dirty="0">
                <a:solidFill>
                  <a:srgbClr val="000000"/>
                </a:solidFill>
                <a:latin typeface="Roboto" pitchFamily="34" charset="0"/>
                <a:ea typeface="Roboto" pitchFamily="34" charset="-122"/>
                <a:cs typeface="Roboto" pitchFamily="34" charset="-120"/>
              </a:rPr>
              <a:t>bound components first</a:t>
            </a:r>
            <a:pPr algn="l" indent="0" marL="0">
              <a:lnSpc>
                <a:spcPct val="140000"/>
              </a:lnSpc>
              <a:buNone/>
            </a:pPr>
            <a:r>
              <a:rPr lang="en-US" sz="1600" dirty="0">
                <a:solidFill>
                  <a:srgbClr val="000000"/>
                </a:solidFill>
                <a:latin typeface="Roboto" pitchFamily="34" charset="0"/>
                <a:ea typeface="Roboto" pitchFamily="34" charset="-122"/>
                <a:cs typeface="Roboto" pitchFamily="34" charset="-120"/>
              </a:rPr>
              <a:t>. The matching triples are then a </a:t>
            </a:r>
            <a:pPr algn="l" indent="0" marL="0">
              <a:lnSpc>
                <a:spcPct val="140000"/>
              </a:lnSpc>
              <a:buNone/>
            </a:pPr>
            <a:r>
              <a:rPr lang="en-US" sz="1600" b="1" dirty="0">
                <a:solidFill>
                  <a:srgbClr val="38761D"/>
                </a:solidFill>
                <a:latin typeface="Roboto" pitchFamily="34" charset="0"/>
                <a:ea typeface="Roboto" pitchFamily="34" charset="-122"/>
                <a:cs typeface="Roboto" pitchFamily="34" charset="-120"/>
              </a:rPr>
              <a:t>contiguous range</a:t>
            </a:r>
            <a:pPr algn="l" indent="0" marL="0">
              <a:lnSpc>
                <a:spcPct val="140000"/>
              </a:lnSpc>
              <a:buNone/>
            </a:pPr>
            <a:r>
              <a:rPr lang="en-US" sz="1600" dirty="0">
                <a:solidFill>
                  <a:srgbClr val="000000"/>
                </a:solidFill>
                <a:latin typeface="Roboto" pitchFamily="34" charset="0"/>
                <a:ea typeface="Roboto" pitchFamily="34" charset="-122"/>
                <a:cs typeface="Roboto" pitchFamily="34" charset="-120"/>
              </a:rPr>
              <a:t> — which is what makes an offset meaningful at all.</a:t>
            </a:r>
            <a:endParaRPr lang="en-US" sz="1600" dirty="0"/>
          </a:p>
        </p:txBody>
      </p:sp>
      <p:sp>
        <p:nvSpPr>
          <p:cNvPr id="9" name="Text 5"/>
          <p:cNvSpPr txBox="1"/>
          <p:nvPr/>
        </p:nvSpPr>
        <p:spPr>
          <a:xfrm>
            <a:off x="660400" y="5382158"/>
            <a:ext cx="10871200" cy="231800"/>
          </a:xfrm>
          <a:prstGeom prst="rect">
            <a:avLst/>
          </a:prstGeom>
          <a:noFill/>
          <a:ln/>
        </p:spPr>
        <p:txBody>
          <a:bodyPr wrap="square" lIns="0" tIns="0" rIns="0" bIns="0" rtlCol="0" anchor="t"/>
          <a:lstStyle/>
          <a:p>
            <a:pPr algn="l" indent="0" marL="0">
              <a:lnSpc>
                <a:spcPct val="130000"/>
              </a:lnSpc>
              <a:buNone/>
            </a:pPr>
            <a:r>
              <a:rPr lang="en-US" sz="1300" dirty="0">
                <a:solidFill>
                  <a:srgbClr val="595959"/>
                </a:solidFill>
                <a:latin typeface="Roboto" pitchFamily="34" charset="0"/>
                <a:ea typeface="Roboto" pitchFamily="34" charset="-122"/>
                <a:cs typeface="Roboto" pitchFamily="34" charset="-120"/>
              </a:rPr>
              <a:t>This much is published: Bast et al., </a:t>
            </a:r>
            <a:pPr algn="l" indent="0" marL="0">
              <a:lnSpc>
                <a:spcPct val="130000"/>
              </a:lnSpc>
              <a:buNone/>
            </a:pPr>
            <a:r>
              <a:rPr lang="en-US" sz="1300" i="1" dirty="0">
                <a:solidFill>
                  <a:srgbClr val="595959"/>
                </a:solidFill>
                <a:latin typeface="Roboto" pitchFamily="34" charset="0"/>
                <a:ea typeface="Roboto" pitchFamily="34" charset="-122"/>
                <a:cs typeface="Roboto" pitchFamily="34" charset="-120"/>
              </a:rPr>
              <a:t>Knowledge Graphs</a:t>
            </a:r>
            <a:pPr algn="l" indent="0" marL="0">
              <a:lnSpc>
                <a:spcPct val="130000"/>
              </a:lnSpc>
              <a:buNone/>
            </a:pPr>
            <a:r>
              <a:rPr lang="en-US" sz="1300" dirty="0">
                <a:solidFill>
                  <a:srgbClr val="595959"/>
                </a:solidFill>
                <a:latin typeface="Roboto" pitchFamily="34" charset="0"/>
                <a:ea typeface="Roboto" pitchFamily="34" charset="-122"/>
                <a:cs typeface="Roboto" pitchFamily="34" charset="-120"/>
              </a:rPr>
              <a:t>, 2023, §1.5.2. Everything from here on is not.</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155700"/>
          </a:xfrm>
          <a:prstGeom prst="rect">
            <a:avLst/>
          </a:prstGeom>
          <a:solidFill>
            <a:srgbClr val="0084D1"/>
          </a:solidFill>
          <a:ln/>
        </p:spPr>
      </p:sp>
      <p:sp>
        <p:nvSpPr>
          <p:cNvPr id="3" name="Text 1"/>
          <p:cNvSpPr txBox="1"/>
          <p:nvPr/>
        </p:nvSpPr>
        <p:spPr>
          <a:xfrm>
            <a:off x="0" y="228600"/>
            <a:ext cx="12192000" cy="934720"/>
          </a:xfrm>
          <a:prstGeom prst="rect">
            <a:avLst/>
          </a:prstGeom>
          <a:noFill/>
          <a:ln/>
        </p:spPr>
        <p:txBody>
          <a:bodyPr wrap="square" lIns="0" tIns="0" rIns="0" bIns="0" rtlCol="0" anchor="t"/>
          <a:lstStyle/>
          <a:p>
            <a:pPr algn="ctr" indent="0" marL="0">
              <a:lnSpc>
                <a:spcPct val="110000"/>
              </a:lnSpc>
              <a:buNone/>
            </a:pPr>
            <a:r>
              <a:rPr lang="en-US" sz="4600" b="1" dirty="0">
                <a:solidFill>
                  <a:srgbClr val="FFFFFF"/>
                </a:solidFill>
                <a:latin typeface="Roboto Slab" pitchFamily="34" charset="0"/>
                <a:ea typeface="Roboto Slab" pitchFamily="34" charset="-122"/>
                <a:cs typeface="Roboto Slab" pitchFamily="34" charset="-120"/>
              </a:rPr>
              <a:t>Where a block ends</a:t>
            </a:r>
            <a:endParaRPr lang="en-US" sz="4600" dirty="0"/>
          </a:p>
        </p:txBody>
      </p:sp>
      <p:sp>
        <p:nvSpPr>
          <p:cNvPr id="4" name="Text 2"/>
          <p:cNvSpPr txBox="1"/>
          <p:nvPr/>
        </p:nvSpPr>
        <p:spPr>
          <a:xfrm>
            <a:off x="10795000" y="6322060"/>
            <a:ext cx="889000" cy="264160"/>
          </a:xfrm>
          <a:prstGeom prst="rect">
            <a:avLst/>
          </a:prstGeom>
          <a:noFill/>
          <a:ln/>
        </p:spPr>
        <p:txBody>
          <a:bodyPr wrap="square" lIns="0" tIns="0" rIns="0" bIns="0" rtlCol="0" anchor="t"/>
          <a:lstStyle/>
          <a:p>
            <a:pPr algn="r" indent="0" marL="0">
              <a:lnSpc>
                <a:spcPct val="120000"/>
              </a:lnSpc>
              <a:buNone/>
            </a:pPr>
            <a:r>
              <a:rPr lang="en-US" sz="1300" dirty="0">
                <a:solidFill>
                  <a:srgbClr val="595959"/>
                </a:solidFill>
                <a:latin typeface="Roboto" pitchFamily="34" charset="0"/>
                <a:ea typeface="Roboto" pitchFamily="34" charset="-122"/>
                <a:cs typeface="Roboto" pitchFamily="34" charset="-120"/>
              </a:rPr>
              <a:t>8</a:t>
            </a:r>
            <a:endParaRPr lang="en-US" sz="1300" dirty="0"/>
          </a:p>
        </p:txBody>
      </p:sp>
      <p:sp>
        <p:nvSpPr>
          <p:cNvPr id="6" name="Text 3"/>
          <p:cNvSpPr txBox="1"/>
          <p:nvPr/>
        </p:nvSpPr>
        <p:spPr>
          <a:xfrm>
            <a:off x="660400" y="1409700"/>
            <a:ext cx="10871200" cy="652882"/>
          </a:xfrm>
          <a:prstGeom prst="rect">
            <a:avLst/>
          </a:prstGeom>
          <a:noFill/>
          <a:ln/>
        </p:spPr>
        <p:txBody>
          <a:bodyPr wrap="square" lIns="0" tIns="0" rIns="0" bIns="0" rtlCol="0" anchor="t"/>
          <a:lstStyle/>
          <a:p>
            <a:pPr algn="l" indent="0" marL="0">
              <a:lnSpc>
                <a:spcPct val="140000"/>
              </a:lnSpc>
              <a:buNone/>
            </a:pPr>
            <a:r>
              <a:rPr lang="en-US" sz="1700" b="1" dirty="0">
                <a:solidFill>
                  <a:srgbClr val="000000"/>
                </a:solidFill>
                <a:latin typeface="Roboto" pitchFamily="34" charset="0"/>
                <a:ea typeface="Roboto" pitchFamily="34" charset="-122"/>
                <a:cs typeface="Roboto" pitchFamily="34" charset="-120"/>
              </a:rPr>
              <a:t>index-rows-per-block = 31,250</a:t>
            </a:r>
            <a:pPr algn="l" indent="0" marL="0">
              <a:lnSpc>
                <a:spcPct val="140000"/>
              </a:lnSpc>
              <a:buNone/>
            </a:pPr>
            <a:r>
              <a:rPr lang="en-US" sz="1700" dirty="0">
                <a:solidFill>
                  <a:srgbClr val="000000"/>
                </a:solidFill>
                <a:latin typeface="Roboto" pitchFamily="34" charset="0"/>
                <a:ea typeface="Roboto" pitchFamily="34" charset="-122"/>
                <a:cs typeface="Roboto" pitchFamily="34" charset="-120"/>
              </a:rPr>
              <a:t> is a </a:t>
            </a:r>
            <a:pPr algn="l" indent="0" marL="0">
              <a:lnSpc>
                <a:spcPct val="140000"/>
              </a:lnSpc>
              <a:buNone/>
            </a:pPr>
            <a:r>
              <a:rPr lang="en-US" sz="1700" b="1" dirty="0">
                <a:solidFill>
                  <a:srgbClr val="FF0000"/>
                </a:solidFill>
                <a:latin typeface="Roboto" pitchFamily="34" charset="0"/>
                <a:ea typeface="Roboto" pitchFamily="34" charset="-122"/>
                <a:cs typeface="Roboto" pitchFamily="34" charset="-120"/>
              </a:rPr>
              <a:t>soft</a:t>
            </a:r>
            <a:pPr algn="l" indent="0" marL="0">
              <a:lnSpc>
                <a:spcPct val="140000"/>
              </a:lnSpc>
              <a:buNone/>
            </a:pPr>
            <a:r>
              <a:rPr lang="en-US" sz="1700" dirty="0">
                <a:solidFill>
                  <a:srgbClr val="000000"/>
                </a:solidFill>
                <a:latin typeface="Roboto" pitchFamily="34" charset="0"/>
                <a:ea typeface="Roboto" pitchFamily="34" charset="-122"/>
                <a:cs typeface="Roboto" pitchFamily="34" charset="-120"/>
              </a:rPr>
              <a:t> target. Three rules bend it, and they explain the counts on the previous slide.</a:t>
            </a:r>
            <a:endParaRPr lang="en-US" sz="1700" dirty="0"/>
          </a:p>
        </p:txBody>
      </p:sp>
      <p:sp>
        <p:nvSpPr>
          <p:cNvPr id="7" name="Text 4"/>
          <p:cNvSpPr txBox="1"/>
          <p:nvPr/>
        </p:nvSpPr>
        <p:spPr>
          <a:xfrm>
            <a:off x="660400" y="2227682"/>
            <a:ext cx="10871200" cy="425653"/>
          </a:xfrm>
          <a:prstGeom prst="rect">
            <a:avLst/>
          </a:prstGeom>
          <a:noFill/>
          <a:ln/>
        </p:spPr>
        <p:txBody>
          <a:bodyPr wrap="square" lIns="0" tIns="0" rIns="0" bIns="0" rtlCol="0" anchor="t"/>
          <a:lstStyle/>
          <a:p>
            <a:pPr indent="0" marL="0">
              <a:lnSpc>
                <a:spcPct val="140000"/>
              </a:lnSpc>
              <a:buNone/>
            </a:pPr>
            <a:r>
              <a:rPr lang="en-US" sz="1800" dirty="0">
                <a:solidFill>
                  <a:srgbClr val="000000"/>
                </a:solidFill>
                <a:latin typeface="Roboto" pitchFamily="34" charset="0"/>
                <a:ea typeface="Roboto" pitchFamily="34" charset="-122"/>
                <a:cs typeface="Roboto" pitchFamily="34" charset="-120"/>
              </a:rPr>
              <a:t>• </a:t>
            </a:r>
            <a:pPr indent="0" marL="0">
              <a:lnSpc>
                <a:spcPct val="140000"/>
              </a:lnSpc>
              <a:buNone/>
            </a:pPr>
            <a:r>
              <a:rPr lang="en-US" sz="1800" b="1" dirty="0">
                <a:solidFill>
                  <a:srgbClr val="000000"/>
                </a:solidFill>
                <a:latin typeface="Roboto" pitchFamily="34" charset="0"/>
                <a:ea typeface="Roboto" pitchFamily="34" charset="-122"/>
                <a:cs typeface="Roboto" pitchFamily="34" charset="-120"/>
              </a:rPr>
              <a:t>A </a:t>
            </a:r>
            <a:pPr indent="0" marL="0">
              <a:lnSpc>
                <a:spcPct val="140000"/>
              </a:lnSpc>
              <a:buNone/>
            </a:pPr>
            <a:r>
              <a:rPr lang="en-US" sz="1800" b="1" dirty="0">
                <a:solidFill>
                  <a:srgbClr val="000000"/>
                </a:solidFill>
                <a:latin typeface="Roboto" pitchFamily="34" charset="0"/>
                <a:ea typeface="Roboto" pitchFamily="34" charset="-122"/>
                <a:cs typeface="Roboto" pitchFamily="34" charset="-120"/>
              </a:rPr>
              <a:t>large relation</a:t>
            </a:r>
            <a:pPr indent="0" marL="0">
              <a:lnSpc>
                <a:spcPct val="140000"/>
              </a:lnSpc>
              <a:buNone/>
            </a:pPr>
            <a:r>
              <a:rPr lang="en-US" sz="1800" b="1" dirty="0">
                <a:solidFill>
                  <a:srgbClr val="000000"/>
                </a:solidFill>
                <a:latin typeface="Roboto" pitchFamily="34" charset="0"/>
                <a:ea typeface="Roboto" pitchFamily="34" charset="-122"/>
                <a:cs typeface="Roboto" pitchFamily="34" charset="-120"/>
              </a:rPr>
              <a:t> starts a new block</a:t>
            </a:r>
            <a:endParaRPr lang="en-US" sz="1800" dirty="0"/>
          </a:p>
        </p:txBody>
      </p:sp>
      <p:sp>
        <p:nvSpPr>
          <p:cNvPr id="8" name="Text 5"/>
          <p:cNvSpPr txBox="1"/>
          <p:nvPr/>
        </p:nvSpPr>
        <p:spPr>
          <a:xfrm>
            <a:off x="1219200" y="2818435"/>
            <a:ext cx="10312400" cy="355905"/>
          </a:xfrm>
          <a:prstGeom prst="rect">
            <a:avLst/>
          </a:prstGeom>
          <a:noFill/>
          <a:ln/>
        </p:spPr>
        <p:txBody>
          <a:bodyPr wrap="square" lIns="0" tIns="0" rIns="0" bIns="0" rtlCol="0" anchor="t"/>
          <a:lstStyle/>
          <a:p>
            <a:pPr indent="0" marL="0">
              <a:lnSpc>
                <a:spcPct val="135000"/>
              </a:lnSpc>
              <a:buNone/>
            </a:pPr>
            <a:r>
              <a:rPr lang="en-US" sz="1550" dirty="0">
                <a:solidFill>
                  <a:srgbClr val="000000"/>
                </a:solidFill>
                <a:latin typeface="Roboto" pitchFamily="34" charset="0"/>
                <a:ea typeface="Roboto" pitchFamily="34" charset="-122"/>
                <a:cs typeface="Roboto" pitchFamily="34" charset="-120"/>
              </a:rPr>
              <a:t>• </a:t>
            </a:r>
            <a:pPr indent="0" marL="0">
              <a:lnSpc>
                <a:spcPct val="135000"/>
              </a:lnSpc>
              <a:buNone/>
            </a:pPr>
            <a:r>
              <a:rPr lang="en-US" sz="1550" dirty="0">
                <a:solidFill>
                  <a:srgbClr val="000000"/>
                </a:solidFill>
                <a:latin typeface="Roboto" pitchFamily="34" charset="0"/>
                <a:ea typeface="Roboto" pitchFamily="34" charset="-122"/>
                <a:cs typeface="Roboto" pitchFamily="34" charset="-120"/>
              </a:rPr>
              <a:t>PSO: 349 blocks of 31,250 rows, plus up to 85 relation boundaries → </a:t>
            </a:r>
            <a:pPr indent="0" marL="0">
              <a:lnSpc>
                <a:spcPct val="135000"/>
              </a:lnSpc>
              <a:buNone/>
            </a:pPr>
            <a:r>
              <a:rPr lang="en-US" sz="1550" b="1" dirty="0">
                <a:solidFill>
                  <a:srgbClr val="000000"/>
                </a:solidFill>
                <a:latin typeface="Roboto" pitchFamily="34" charset="0"/>
                <a:ea typeface="Roboto" pitchFamily="34" charset="-122"/>
                <a:cs typeface="Roboto" pitchFamily="34" charset="-120"/>
              </a:rPr>
              <a:t>366</a:t>
            </a:r>
            <a:endParaRPr lang="en-US" sz="1550" dirty="0"/>
          </a:p>
        </p:txBody>
      </p:sp>
      <p:sp>
        <p:nvSpPr>
          <p:cNvPr id="9" name="Text 6"/>
          <p:cNvSpPr txBox="1"/>
          <p:nvPr/>
        </p:nvSpPr>
        <p:spPr>
          <a:xfrm>
            <a:off x="660400" y="3339440"/>
            <a:ext cx="10871200" cy="425653"/>
          </a:xfrm>
          <a:prstGeom prst="rect">
            <a:avLst/>
          </a:prstGeom>
          <a:noFill/>
          <a:ln/>
        </p:spPr>
        <p:txBody>
          <a:bodyPr wrap="square" lIns="0" tIns="0" rIns="0" bIns="0" rtlCol="0" anchor="t"/>
          <a:lstStyle/>
          <a:p>
            <a:pPr indent="0" marL="0">
              <a:lnSpc>
                <a:spcPct val="140000"/>
              </a:lnSpc>
              <a:buNone/>
            </a:pPr>
            <a:r>
              <a:rPr lang="en-US" sz="1800" dirty="0">
                <a:solidFill>
                  <a:srgbClr val="000000"/>
                </a:solidFill>
                <a:latin typeface="Roboto" pitchFamily="34" charset="0"/>
                <a:ea typeface="Roboto" pitchFamily="34" charset="-122"/>
                <a:cs typeface="Roboto" pitchFamily="34" charset="-120"/>
              </a:rPr>
              <a:t>• </a:t>
            </a:r>
            <a:pPr indent="0" marL="0">
              <a:lnSpc>
                <a:spcPct val="140000"/>
              </a:lnSpc>
              <a:buNone/>
            </a:pPr>
            <a:r>
              <a:rPr lang="en-US" sz="1800" b="1" dirty="0">
                <a:solidFill>
                  <a:srgbClr val="000000"/>
                </a:solidFill>
                <a:latin typeface="Roboto" pitchFamily="34" charset="0"/>
                <a:ea typeface="Roboto" pitchFamily="34" charset="-122"/>
                <a:cs typeface="Roboto" pitchFamily="34" charset="-120"/>
              </a:rPr>
              <a:t>Small relations</a:t>
            </a:r>
            <a:pPr indent="0" marL="0">
              <a:lnSpc>
                <a:spcPct val="140000"/>
              </a:lnSpc>
              <a:buNone/>
            </a:pPr>
            <a:r>
              <a:rPr lang="en-US" sz="1800" b="1" dirty="0">
                <a:solidFill>
                  <a:srgbClr val="000000"/>
                </a:solidFill>
                <a:latin typeface="Roboto" pitchFamily="34" charset="0"/>
                <a:ea typeface="Roboto" pitchFamily="34" charset="-122"/>
                <a:cs typeface="Roboto" pitchFamily="34" charset="-120"/>
              </a:rPr>
              <a:t> share a block, filled to </a:t>
            </a:r>
            <a:pPr indent="0" marL="0">
              <a:lnSpc>
                <a:spcPct val="140000"/>
              </a:lnSpc>
              <a:buNone/>
            </a:pPr>
            <a:r>
              <a:rPr lang="en-US" sz="1800" b="1" dirty="0">
                <a:solidFill>
                  <a:srgbClr val="000000"/>
                </a:solidFill>
                <a:latin typeface="Roboto" pitchFamily="34" charset="0"/>
                <a:ea typeface="Roboto" pitchFamily="34" charset="-122"/>
                <a:cs typeface="Roboto" pitchFamily="34" charset="-120"/>
              </a:rPr>
              <a:t>1.5 ×</a:t>
            </a:r>
            <a:pPr indent="0" marL="0">
              <a:lnSpc>
                <a:spcPct val="140000"/>
              </a:lnSpc>
              <a:buNone/>
            </a:pPr>
            <a:r>
              <a:rPr lang="en-US" sz="1800" b="1" dirty="0">
                <a:solidFill>
                  <a:srgbClr val="000000"/>
                </a:solidFill>
                <a:latin typeface="Roboto" pitchFamily="34" charset="0"/>
                <a:ea typeface="Roboto" pitchFamily="34" charset="-122"/>
                <a:cs typeface="Roboto" pitchFamily="34" charset="-120"/>
              </a:rPr>
              <a:t> the target = 46,875 rows</a:t>
            </a:r>
            <a:endParaRPr lang="en-US" sz="1800" dirty="0"/>
          </a:p>
        </p:txBody>
      </p:sp>
      <p:sp>
        <p:nvSpPr>
          <p:cNvPr id="10" name="Text 7"/>
          <p:cNvSpPr txBox="1"/>
          <p:nvPr/>
        </p:nvSpPr>
        <p:spPr>
          <a:xfrm>
            <a:off x="1219200" y="3930193"/>
            <a:ext cx="10312400" cy="711810"/>
          </a:xfrm>
          <a:prstGeom prst="rect">
            <a:avLst/>
          </a:prstGeom>
          <a:noFill/>
          <a:ln/>
        </p:spPr>
        <p:txBody>
          <a:bodyPr wrap="square" lIns="0" tIns="0" rIns="0" bIns="0" rtlCol="0" anchor="t"/>
          <a:lstStyle/>
          <a:p>
            <a:pPr indent="0" marL="0">
              <a:lnSpc>
                <a:spcPct val="135000"/>
              </a:lnSpc>
              <a:buNone/>
            </a:pPr>
            <a:r>
              <a:rPr lang="en-US" sz="1550" dirty="0">
                <a:solidFill>
                  <a:srgbClr val="000000"/>
                </a:solidFill>
                <a:latin typeface="Roboto" pitchFamily="34" charset="0"/>
                <a:ea typeface="Roboto" pitchFamily="34" charset="-122"/>
                <a:cs typeface="Roboto" pitchFamily="34" charset="-120"/>
              </a:rPr>
              <a:t>• </a:t>
            </a:r>
            <a:pPr indent="0" marL="0">
              <a:lnSpc>
                <a:spcPct val="135000"/>
              </a:lnSpc>
              <a:buNone/>
            </a:pPr>
            <a:r>
              <a:rPr lang="en-US" sz="1550" dirty="0">
                <a:solidFill>
                  <a:srgbClr val="000000"/>
                </a:solidFill>
                <a:latin typeface="Roboto" pitchFamily="34" charset="0"/>
                <a:ea typeface="Roboto" pitchFamily="34" charset="-122"/>
                <a:cs typeface="Roboto" pitchFamily="34" charset="-120"/>
              </a:rPr>
              <a:t>SPO: 10,916,457 ÷ 46,875 = 233 → </a:t>
            </a:r>
            <a:pPr indent="0" marL="0">
              <a:lnSpc>
                <a:spcPct val="135000"/>
              </a:lnSpc>
              <a:buNone/>
            </a:pPr>
            <a:r>
              <a:rPr lang="en-US" sz="1550" b="1" dirty="0">
                <a:solidFill>
                  <a:srgbClr val="000000"/>
                </a:solidFill>
                <a:latin typeface="Roboto" pitchFamily="34" charset="0"/>
                <a:ea typeface="Roboto" pitchFamily="34" charset="-122"/>
                <a:cs typeface="Roboto" pitchFamily="34" charset="-120"/>
              </a:rPr>
              <a:t>234</a:t>
            </a:r>
            <a:pPr indent="0" marL="0">
              <a:lnSpc>
                <a:spcPct val="135000"/>
              </a:lnSpc>
              <a:spcAft>
                <a:spcPts val="543"/>
              </a:spcAft>
              <a:buNone/>
            </a:pPr>
            <a:r>
              <a:rPr lang="en-US" sz="1550" dirty="0">
                <a:solidFill>
                  <a:srgbClr val="000000"/>
                </a:solidFill>
                <a:latin typeface="Roboto" pitchFamily="34" charset="0"/>
                <a:ea typeface="Roboto" pitchFamily="34" charset="-122"/>
                <a:cs typeface="Roboto" pitchFamily="34" charset="-120"/>
              </a:rPr>
              <a:t>, for 521,585 relations</a:t>
            </a:r>
            <a:endParaRPr lang="en-US" sz="1550" dirty="0"/>
          </a:p>
          <a:p>
            <a:pPr indent="0" marL="0">
              <a:lnSpc>
                <a:spcPct val="135000"/>
              </a:lnSpc>
              <a:buNone/>
            </a:pPr>
            <a:r>
              <a:rPr lang="en-US" sz="1550" dirty="0">
                <a:solidFill>
                  <a:srgbClr val="000000"/>
                </a:solidFill>
                <a:latin typeface="Roboto" pitchFamily="34" charset="0"/>
                <a:ea typeface="Roboto" pitchFamily="34" charset="-122"/>
                <a:cs typeface="Roboto" pitchFamily="34" charset="-120"/>
              </a:rPr>
              <a:t>• </a:t>
            </a:r>
            <a:pPr indent="0" marL="0">
              <a:lnSpc>
                <a:spcPct val="135000"/>
              </a:lnSpc>
              <a:buNone/>
            </a:pPr>
            <a:r>
              <a:rPr lang="en-US" sz="1550" dirty="0">
                <a:solidFill>
                  <a:srgbClr val="000000"/>
                </a:solidFill>
                <a:latin typeface="Roboto" pitchFamily="34" charset="0"/>
                <a:ea typeface="Roboto" pitchFamily="34" charset="-122"/>
                <a:cs typeface="Roboto" pitchFamily="34" charset="-120"/>
              </a:rPr>
              <a:t>each is found by </a:t>
            </a:r>
            <a:pPr indent="0" marL="0">
              <a:lnSpc>
                <a:spcPct val="135000"/>
              </a:lnSpc>
              <a:buNone/>
            </a:pPr>
            <a:r>
              <a:rPr lang="en-US" sz="1550" dirty="0">
                <a:solidFill>
                  <a:srgbClr val="000000"/>
                </a:solidFill>
                <a:latin typeface="Roboto Mono" pitchFamily="34" charset="0"/>
                <a:ea typeface="Roboto Mono" pitchFamily="34" charset="-122"/>
                <a:cs typeface="Roboto Mono" pitchFamily="34" charset="-120"/>
              </a:rPr>
              <a:t>offsetInBlock_</a:t>
            </a:r>
            <a:pPr indent="0" marL="0">
              <a:lnSpc>
                <a:spcPct val="135000"/>
              </a:lnSpc>
              <a:buNone/>
            </a:pPr>
            <a:r>
              <a:rPr lang="en-US" sz="1550" dirty="0">
                <a:solidFill>
                  <a:srgbClr val="000000"/>
                </a:solidFill>
                <a:latin typeface="Roboto" pitchFamily="34" charset="0"/>
                <a:ea typeface="Roboto" pitchFamily="34" charset="-122"/>
                <a:cs typeface="Roboto" pitchFamily="34" charset="-120"/>
              </a:rPr>
              <a:t>, so it needs no entry of its own</a:t>
            </a:r>
            <a:endParaRPr lang="en-US" sz="1550" dirty="0"/>
          </a:p>
        </p:txBody>
      </p:sp>
      <p:sp>
        <p:nvSpPr>
          <p:cNvPr id="11" name="Text 8"/>
          <p:cNvSpPr txBox="1"/>
          <p:nvPr/>
        </p:nvSpPr>
        <p:spPr>
          <a:xfrm>
            <a:off x="660400" y="4807102"/>
            <a:ext cx="10871200" cy="425653"/>
          </a:xfrm>
          <a:prstGeom prst="rect">
            <a:avLst/>
          </a:prstGeom>
          <a:noFill/>
          <a:ln/>
        </p:spPr>
        <p:txBody>
          <a:bodyPr wrap="square" lIns="0" tIns="0" rIns="0" bIns="0" rtlCol="0" anchor="t"/>
          <a:lstStyle/>
          <a:p>
            <a:pPr indent="0" marL="0">
              <a:lnSpc>
                <a:spcPct val="140000"/>
              </a:lnSpc>
              <a:buNone/>
            </a:pPr>
            <a:r>
              <a:rPr lang="en-US" sz="1800" dirty="0">
                <a:solidFill>
                  <a:srgbClr val="000000"/>
                </a:solidFill>
                <a:latin typeface="Roboto" pitchFamily="34" charset="0"/>
                <a:ea typeface="Roboto" pitchFamily="34" charset="-122"/>
                <a:cs typeface="Roboto" pitchFamily="34" charset="-120"/>
              </a:rPr>
              <a:t>• </a:t>
            </a:r>
            <a:pPr indent="0" marL="0">
              <a:lnSpc>
                <a:spcPct val="140000"/>
              </a:lnSpc>
              <a:buNone/>
            </a:pPr>
            <a:r>
              <a:rPr lang="en-US" sz="1800" b="1" dirty="0">
                <a:solidFill>
                  <a:srgbClr val="000000"/>
                </a:solidFill>
                <a:latin typeface="Roboto" pitchFamily="34" charset="0"/>
                <a:ea typeface="Roboto" pitchFamily="34" charset="-122"/>
                <a:cs typeface="Roboto" pitchFamily="34" charset="-120"/>
              </a:rPr>
              <a:t>A block </a:t>
            </a:r>
            <a:pPr indent="0" marL="0">
              <a:lnSpc>
                <a:spcPct val="140000"/>
              </a:lnSpc>
              <a:buNone/>
            </a:pPr>
            <a:r>
              <a:rPr lang="en-US" sz="1800" b="1" dirty="0">
                <a:solidFill>
                  <a:srgbClr val="000000"/>
                </a:solidFill>
                <a:latin typeface="Roboto" pitchFamily="34" charset="0"/>
                <a:ea typeface="Roboto" pitchFamily="34" charset="-122"/>
                <a:cs typeface="Roboto" pitchFamily="34" charset="-120"/>
              </a:rPr>
              <a:t>grows past the target</a:t>
            </a:r>
            <a:pPr indent="0" marL="0">
              <a:lnSpc>
                <a:spcPct val="140000"/>
              </a:lnSpc>
              <a:buNone/>
            </a:pPr>
            <a:r>
              <a:rPr lang="en-US" sz="1800" b="1" dirty="0">
                <a:solidFill>
                  <a:srgbClr val="000000"/>
                </a:solidFill>
                <a:latin typeface="Roboto" pitchFamily="34" charset="0"/>
                <a:ea typeface="Roboto" pitchFamily="34" charset="-122"/>
                <a:cs typeface="Roboto" pitchFamily="34" charset="-120"/>
              </a:rPr>
              <a:t> rather than split triples equal but for their graph</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155700"/>
          </a:xfrm>
          <a:prstGeom prst="rect">
            <a:avLst/>
          </a:prstGeom>
          <a:solidFill>
            <a:srgbClr val="0084D1"/>
          </a:solidFill>
          <a:ln/>
        </p:spPr>
      </p:sp>
      <p:sp>
        <p:nvSpPr>
          <p:cNvPr id="3" name="Text 1"/>
          <p:cNvSpPr txBox="1"/>
          <p:nvPr/>
        </p:nvSpPr>
        <p:spPr>
          <a:xfrm>
            <a:off x="0" y="228600"/>
            <a:ext cx="12192000" cy="934720"/>
          </a:xfrm>
          <a:prstGeom prst="rect">
            <a:avLst/>
          </a:prstGeom>
          <a:noFill/>
          <a:ln/>
        </p:spPr>
        <p:txBody>
          <a:bodyPr wrap="square" lIns="0" tIns="0" rIns="0" bIns="0" rtlCol="0" anchor="t"/>
          <a:lstStyle/>
          <a:p>
            <a:pPr algn="ctr" indent="0" marL="0">
              <a:lnSpc>
                <a:spcPct val="110000"/>
              </a:lnSpc>
              <a:buNone/>
            </a:pPr>
            <a:r>
              <a:rPr lang="en-US" sz="4600" b="1" dirty="0">
                <a:solidFill>
                  <a:srgbClr val="FFFFFF"/>
                </a:solidFill>
                <a:latin typeface="Roboto Slab" pitchFamily="34" charset="0"/>
                <a:ea typeface="Roboto Slab" pitchFamily="34" charset="-122"/>
                <a:cs typeface="Roboto Slab" pitchFamily="34" charset="-120"/>
              </a:rPr>
              <a:t>What is actually in a block</a:t>
            </a:r>
            <a:endParaRPr lang="en-US" sz="4600" dirty="0"/>
          </a:p>
        </p:txBody>
      </p:sp>
      <p:sp>
        <p:nvSpPr>
          <p:cNvPr id="4" name="Text 2"/>
          <p:cNvSpPr txBox="1"/>
          <p:nvPr/>
        </p:nvSpPr>
        <p:spPr>
          <a:xfrm>
            <a:off x="10795000" y="6385560"/>
            <a:ext cx="889000" cy="264160"/>
          </a:xfrm>
          <a:prstGeom prst="rect">
            <a:avLst/>
          </a:prstGeom>
          <a:noFill/>
          <a:ln/>
        </p:spPr>
        <p:txBody>
          <a:bodyPr wrap="square" lIns="0" tIns="0" rIns="0" bIns="0" rtlCol="0" anchor="t"/>
          <a:lstStyle/>
          <a:p>
            <a:pPr algn="r" indent="0" marL="0">
              <a:lnSpc>
                <a:spcPct val="120000"/>
              </a:lnSpc>
              <a:buNone/>
            </a:pPr>
            <a:r>
              <a:rPr lang="en-US" sz="1300" dirty="0">
                <a:solidFill>
                  <a:srgbClr val="595959"/>
                </a:solidFill>
                <a:latin typeface="Roboto" pitchFamily="34" charset="0"/>
                <a:ea typeface="Roboto" pitchFamily="34" charset="-122"/>
                <a:cs typeface="Roboto" pitchFamily="34" charset="-120"/>
              </a:rPr>
              <a:t>9</a:t>
            </a:r>
            <a:endParaRPr lang="en-US" sz="1300" dirty="0"/>
          </a:p>
        </p:txBody>
      </p:sp>
      <p:sp>
        <p:nvSpPr>
          <p:cNvPr id="6" name="Text 3"/>
          <p:cNvSpPr txBox="1"/>
          <p:nvPr/>
        </p:nvSpPr>
        <p:spPr>
          <a:xfrm>
            <a:off x="660400" y="1308100"/>
            <a:ext cx="10871200" cy="264128"/>
          </a:xfrm>
          <a:prstGeom prst="rect">
            <a:avLst/>
          </a:prstGeom>
          <a:noFill/>
          <a:ln/>
        </p:spPr>
        <p:txBody>
          <a:bodyPr wrap="square" lIns="0" tIns="0" rIns="0" bIns="0" rtlCol="0" anchor="t"/>
          <a:lstStyle/>
          <a:p>
            <a:pPr algn="l" indent="0" marL="0">
              <a:lnSpc>
                <a:spcPct val="130000"/>
              </a:lnSpc>
              <a:buNone/>
            </a:pPr>
            <a:r>
              <a:rPr lang="en-US" sz="1481" dirty="0">
                <a:solidFill>
                  <a:srgbClr val="000000"/>
                </a:solidFill>
                <a:latin typeface="Roboto" pitchFamily="34" charset="0"/>
                <a:ea typeface="Roboto" pitchFamily="34" charset="-122"/>
                <a:cs typeface="Roboto" pitchFamily="34" charset="-120"/>
              </a:rPr>
              <a:t>The first rows of a PSO block, as stored — </a:t>
            </a:r>
            <a:pPr algn="l" indent="0" marL="0">
              <a:lnSpc>
                <a:spcPct val="130000"/>
              </a:lnSpc>
              <a:buNone/>
            </a:pPr>
            <a:r>
              <a:rPr lang="en-US" sz="1481" b="1" dirty="0">
                <a:solidFill>
                  <a:srgbClr val="000000"/>
                </a:solidFill>
                <a:latin typeface="Roboto" pitchFamily="34" charset="0"/>
                <a:ea typeface="Roboto" pitchFamily="34" charset="-122"/>
                <a:cs typeface="Roboto" pitchFamily="34" charset="-120"/>
              </a:rPr>
              <a:t>four columns of 64-bit Ids</a:t>
            </a:r>
            <a:pPr algn="l" indent="0" marL="0">
              <a:lnSpc>
                <a:spcPct val="130000"/>
              </a:lnSpc>
              <a:buNone/>
            </a:pPr>
            <a:r>
              <a:rPr lang="en-US" sz="1481" dirty="0">
                <a:solidFill>
                  <a:srgbClr val="000000"/>
                </a:solidFill>
                <a:latin typeface="Roboto" pitchFamily="34" charset="0"/>
                <a:ea typeface="Roboto" pitchFamily="34" charset="-122"/>
                <a:cs typeface="Roboto" pitchFamily="34" charset="-120"/>
              </a:rPr>
              <a:t>, each column its own Zstd stream:</a:t>
            </a:r>
            <a:endParaRPr lang="en-US" sz="1481"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1672562"/>
          <a:ext cx="10871200" cy="914400"/>
        </p:xfrm>
        <a:graphic>
          <a:graphicData uri="http://schemas.openxmlformats.org/drawingml/2006/table">
            <a:tbl>
              <a:tblPr/>
              <a:tblGrid>
                <a:gridCol w="1087120"/>
                <a:gridCol w="3261360"/>
                <a:gridCol w="3261360"/>
                <a:gridCol w="3261360"/>
              </a:tblGrid>
              <a:tr h="0">
                <a:tc>
                  <a:txBody>
                    <a:bodyPr/>
                    <a:lstStyle/>
                    <a:p>
                      <a:pPr algn="l" indent="0" marL="0">
                        <a:buNone/>
                      </a:pPr>
                      <a:r>
                        <a:rPr lang="en-US" sz="1185" b="1" dirty="0">
                          <a:solidFill>
                            <a:srgbClr val="FFFFFF"/>
                          </a:solidFill>
                          <a:latin typeface="Roboto" pitchFamily="34" charset="0"/>
                          <a:ea typeface="Roboto" pitchFamily="34" charset="-122"/>
                          <a:cs typeface="Roboto" pitchFamily="34" charset="-120"/>
                        </a:rPr>
                        <a:t>row</a:t>
                      </a:r>
                      <a:endParaRPr lang="en-US" sz="1185" dirty="0">
                        <a:latin typeface="Roboto" charset="0"/>
                        <a:ea typeface="Roboto" charset="0"/>
                        <a:cs typeface="Roboto" charset="0"/>
                      </a:endParaRPr>
                    </a:p>
                  </a:txBody>
                  <a:tcPr marL="56438" marR="56438" marT="56438" marB="5643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84D1"/>
                    </a:solidFill>
                  </a:tcPr>
                </a:tc>
                <a:tc>
                  <a:txBody>
                    <a:bodyPr/>
                    <a:lstStyle/>
                    <a:p>
                      <a:pPr algn="l" indent="0" marL="0">
                        <a:buNone/>
                      </a:pPr>
                      <a:r>
                        <a:rPr lang="en-US" sz="1185" b="1" dirty="0">
                          <a:solidFill>
                            <a:srgbClr val="FFFFFF"/>
                          </a:solidFill>
                          <a:latin typeface="Roboto" pitchFamily="34" charset="0"/>
                          <a:ea typeface="Roboto" pitchFamily="34" charset="-122"/>
                          <a:cs typeface="Roboto" pitchFamily="34" charset="-120"/>
                        </a:rPr>
                        <a:t>col0 (P)</a:t>
                      </a:r>
                      <a:endParaRPr lang="en-US" sz="1185" dirty="0">
                        <a:latin typeface="Roboto" charset="0"/>
                        <a:ea typeface="Roboto" charset="0"/>
                        <a:cs typeface="Roboto" charset="0"/>
                      </a:endParaRPr>
                    </a:p>
                  </a:txBody>
                  <a:tcPr marL="56438" marR="56438" marT="56438" marB="5643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84D1"/>
                    </a:solidFill>
                  </a:tcPr>
                </a:tc>
                <a:tc>
                  <a:txBody>
                    <a:bodyPr/>
                    <a:lstStyle/>
                    <a:p>
                      <a:pPr algn="l" indent="0" marL="0">
                        <a:buNone/>
                      </a:pPr>
                      <a:r>
                        <a:rPr lang="en-US" sz="1185" b="1" dirty="0">
                          <a:solidFill>
                            <a:srgbClr val="FFFFFF"/>
                          </a:solidFill>
                          <a:latin typeface="Roboto" pitchFamily="34" charset="0"/>
                          <a:ea typeface="Roboto" pitchFamily="34" charset="-122"/>
                          <a:cs typeface="Roboto" pitchFamily="34" charset="-120"/>
                        </a:rPr>
                        <a:t>col1 (S)</a:t>
                      </a:r>
                      <a:endParaRPr lang="en-US" sz="1185" dirty="0">
                        <a:latin typeface="Roboto" charset="0"/>
                        <a:ea typeface="Roboto" charset="0"/>
                        <a:cs typeface="Roboto" charset="0"/>
                      </a:endParaRPr>
                    </a:p>
                  </a:txBody>
                  <a:tcPr marL="56438" marR="56438" marT="56438" marB="5643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84D1"/>
                    </a:solidFill>
                  </a:tcPr>
                </a:tc>
                <a:tc>
                  <a:txBody>
                    <a:bodyPr/>
                    <a:lstStyle/>
                    <a:p>
                      <a:pPr algn="l" indent="0" marL="0">
                        <a:buNone/>
                      </a:pPr>
                      <a:r>
                        <a:rPr lang="en-US" sz="1185" b="1" dirty="0">
                          <a:solidFill>
                            <a:srgbClr val="FFFFFF"/>
                          </a:solidFill>
                          <a:latin typeface="Roboto" pitchFamily="34" charset="0"/>
                          <a:ea typeface="Roboto" pitchFamily="34" charset="-122"/>
                          <a:cs typeface="Roboto" pitchFamily="34" charset="-120"/>
                        </a:rPr>
                        <a:t>col2 (O)</a:t>
                      </a:r>
                      <a:endParaRPr lang="en-US" sz="1185" dirty="0">
                        <a:latin typeface="Roboto" charset="0"/>
                        <a:ea typeface="Roboto" charset="0"/>
                        <a:cs typeface="Roboto" charset="0"/>
                      </a:endParaRPr>
                    </a:p>
                  </a:txBody>
                  <a:tcPr marL="56438" marR="56438" marT="56438" marB="5643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84D1"/>
                    </a:solidFill>
                  </a:tcPr>
                </a:tc>
              </a:tr>
              <a:tr h="0">
                <a:tc>
                  <a:txBody>
                    <a:bodyPr/>
                    <a:lstStyle/>
                    <a:p>
                      <a:pPr algn="l" indent="0" marL="0">
                        <a:buNone/>
                      </a:pPr>
                      <a:r>
                        <a:rPr lang="en-US" sz="1185" dirty="0">
                          <a:solidFill>
                            <a:srgbClr val="000000"/>
                          </a:solidFill>
                          <a:latin typeface="Roboto" pitchFamily="34" charset="0"/>
                          <a:ea typeface="Roboto" pitchFamily="34" charset="-122"/>
                          <a:cs typeface="Roboto" pitchFamily="34" charset="-120"/>
                        </a:rPr>
                        <a:t>0</a:t>
                      </a:r>
                      <a:endParaRPr lang="en-US" sz="1185" dirty="0">
                        <a:latin typeface="Roboto" charset="0"/>
                        <a:ea typeface="Roboto" charset="0"/>
                        <a:cs typeface="Roboto" charset="0"/>
                      </a:endParaRPr>
                    </a:p>
                  </a:txBody>
                  <a:tcPr marL="56438" marR="56438" marT="56438" marB="5643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85" dirty="0">
                          <a:solidFill>
                            <a:srgbClr val="38761D"/>
                          </a:solidFill>
                          <a:latin typeface="Roboto" pitchFamily="34" charset="0"/>
                          <a:ea typeface="Roboto" pitchFamily="34" charset="-122"/>
                          <a:cs typeface="Roboto" pitchFamily="34" charset="-120"/>
                        </a:rPr>
                        <a:t>4000000000100FF0</a:t>
                      </a:r>
                      <a:endParaRPr lang="en-US" sz="1185" dirty="0">
                        <a:latin typeface="Roboto" charset="0"/>
                        <a:ea typeface="Roboto" charset="0"/>
                        <a:cs typeface="Roboto" charset="0"/>
                      </a:endParaRPr>
                    </a:p>
                  </a:txBody>
                  <a:tcPr marL="56438" marR="56438" marT="56438" marB="5643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85" dirty="0">
                          <a:solidFill>
                            <a:srgbClr val="0084D1"/>
                          </a:solidFill>
                          <a:latin typeface="Roboto" pitchFamily="34" charset="0"/>
                          <a:ea typeface="Roboto" pitchFamily="34" charset="-122"/>
                          <a:cs typeface="Roboto" pitchFamily="34" charset="-120"/>
                        </a:rPr>
                        <a:t>40000000000979A6</a:t>
                      </a:r>
                      <a:endParaRPr lang="en-US" sz="1185" dirty="0">
                        <a:latin typeface="Roboto" charset="0"/>
                        <a:ea typeface="Roboto" charset="0"/>
                        <a:cs typeface="Roboto" charset="0"/>
                      </a:endParaRPr>
                    </a:p>
                  </a:txBody>
                  <a:tcPr marL="56438" marR="56438" marT="56438" marB="5643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85" dirty="0">
                          <a:solidFill>
                            <a:srgbClr val="000000"/>
                          </a:solidFill>
                          <a:latin typeface="Roboto" pitchFamily="34" charset="0"/>
                          <a:ea typeface="Roboto" pitchFamily="34" charset="-122"/>
                          <a:cs typeface="Roboto" pitchFamily="34" charset="-120"/>
                        </a:rPr>
                        <a:t>400000000009DB51</a:t>
                      </a:r>
                      <a:endParaRPr lang="en-US" sz="1185" dirty="0">
                        <a:latin typeface="Roboto" charset="0"/>
                        <a:ea typeface="Roboto" charset="0"/>
                        <a:cs typeface="Roboto" charset="0"/>
                      </a:endParaRPr>
                    </a:p>
                  </a:txBody>
                  <a:tcPr marL="56438" marR="56438" marT="56438" marB="5643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0">
                <a:tc>
                  <a:txBody>
                    <a:bodyPr/>
                    <a:lstStyle/>
                    <a:p>
                      <a:pPr algn="l" indent="0" marL="0">
                        <a:buNone/>
                      </a:pPr>
                      <a:r>
                        <a:rPr lang="en-US" sz="1185" dirty="0">
                          <a:solidFill>
                            <a:srgbClr val="000000"/>
                          </a:solidFill>
                          <a:latin typeface="Roboto" pitchFamily="34" charset="0"/>
                          <a:ea typeface="Roboto" pitchFamily="34" charset="-122"/>
                          <a:cs typeface="Roboto" pitchFamily="34" charset="-120"/>
                        </a:rPr>
                        <a:t>1</a:t>
                      </a:r>
                      <a:endParaRPr lang="en-US" sz="1185" dirty="0">
                        <a:latin typeface="Roboto" charset="0"/>
                        <a:ea typeface="Roboto" charset="0"/>
                        <a:cs typeface="Roboto" charset="0"/>
                      </a:endParaRPr>
                    </a:p>
                  </a:txBody>
                  <a:tcPr marL="56438" marR="56438" marT="56438" marB="5643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85" dirty="0">
                          <a:solidFill>
                            <a:srgbClr val="38761D"/>
                          </a:solidFill>
                          <a:latin typeface="Roboto" pitchFamily="34" charset="0"/>
                          <a:ea typeface="Roboto" pitchFamily="34" charset="-122"/>
                          <a:cs typeface="Roboto" pitchFamily="34" charset="-120"/>
                        </a:rPr>
                        <a:t>4000000000100FF0</a:t>
                      </a:r>
                      <a:endParaRPr lang="en-US" sz="1185" dirty="0">
                        <a:latin typeface="Roboto" charset="0"/>
                        <a:ea typeface="Roboto" charset="0"/>
                        <a:cs typeface="Roboto" charset="0"/>
                      </a:endParaRPr>
                    </a:p>
                  </a:txBody>
                  <a:tcPr marL="56438" marR="56438" marT="56438" marB="5643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85" dirty="0">
                          <a:solidFill>
                            <a:srgbClr val="0084D1"/>
                          </a:solidFill>
                          <a:latin typeface="Roboto" pitchFamily="34" charset="0"/>
                          <a:ea typeface="Roboto" pitchFamily="34" charset="-122"/>
                          <a:cs typeface="Roboto" pitchFamily="34" charset="-120"/>
                        </a:rPr>
                        <a:t>40000000000979A7</a:t>
                      </a:r>
                      <a:endParaRPr lang="en-US" sz="1185" dirty="0">
                        <a:latin typeface="Roboto" charset="0"/>
                        <a:ea typeface="Roboto" charset="0"/>
                        <a:cs typeface="Roboto" charset="0"/>
                      </a:endParaRPr>
                    </a:p>
                  </a:txBody>
                  <a:tcPr marL="56438" marR="56438" marT="56438" marB="5643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85" dirty="0">
                          <a:solidFill>
                            <a:srgbClr val="000000"/>
                          </a:solidFill>
                          <a:latin typeface="Roboto" pitchFamily="34" charset="0"/>
                          <a:ea typeface="Roboto" pitchFamily="34" charset="-122"/>
                          <a:cs typeface="Roboto" pitchFamily="34" charset="-120"/>
                        </a:rPr>
                        <a:t>400000000009DB51</a:t>
                      </a:r>
                      <a:endParaRPr lang="en-US" sz="1185" dirty="0">
                        <a:latin typeface="Roboto" charset="0"/>
                        <a:ea typeface="Roboto" charset="0"/>
                        <a:cs typeface="Roboto" charset="0"/>
                      </a:endParaRPr>
                    </a:p>
                  </a:txBody>
                  <a:tcPr marL="56438" marR="56438" marT="56438" marB="5643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0">
                <a:tc>
                  <a:txBody>
                    <a:bodyPr/>
                    <a:lstStyle/>
                    <a:p>
                      <a:pPr algn="l" indent="0" marL="0">
                        <a:buNone/>
                      </a:pPr>
                      <a:r>
                        <a:rPr lang="en-US" sz="1185" dirty="0">
                          <a:solidFill>
                            <a:srgbClr val="000000"/>
                          </a:solidFill>
                          <a:latin typeface="Roboto" pitchFamily="34" charset="0"/>
                          <a:ea typeface="Roboto" pitchFamily="34" charset="-122"/>
                          <a:cs typeface="Roboto" pitchFamily="34" charset="-120"/>
                        </a:rPr>
                        <a:t>2</a:t>
                      </a:r>
                      <a:endParaRPr lang="en-US" sz="1185" dirty="0">
                        <a:latin typeface="Roboto" charset="0"/>
                        <a:ea typeface="Roboto" charset="0"/>
                        <a:cs typeface="Roboto" charset="0"/>
                      </a:endParaRPr>
                    </a:p>
                  </a:txBody>
                  <a:tcPr marL="56438" marR="56438" marT="56438" marB="5643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85" dirty="0">
                          <a:solidFill>
                            <a:srgbClr val="38761D"/>
                          </a:solidFill>
                          <a:latin typeface="Roboto" pitchFamily="34" charset="0"/>
                          <a:ea typeface="Roboto" pitchFamily="34" charset="-122"/>
                          <a:cs typeface="Roboto" pitchFamily="34" charset="-120"/>
                        </a:rPr>
                        <a:t>4000000000100FF0</a:t>
                      </a:r>
                      <a:endParaRPr lang="en-US" sz="1185" dirty="0">
                        <a:latin typeface="Roboto" charset="0"/>
                        <a:ea typeface="Roboto" charset="0"/>
                        <a:cs typeface="Roboto" charset="0"/>
                      </a:endParaRPr>
                    </a:p>
                  </a:txBody>
                  <a:tcPr marL="56438" marR="56438" marT="56438" marB="5643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85" dirty="0">
                          <a:solidFill>
                            <a:srgbClr val="0084D1"/>
                          </a:solidFill>
                          <a:latin typeface="Roboto" pitchFamily="34" charset="0"/>
                          <a:ea typeface="Roboto" pitchFamily="34" charset="-122"/>
                          <a:cs typeface="Roboto" pitchFamily="34" charset="-120"/>
                        </a:rPr>
                        <a:t>40000000000979A8</a:t>
                      </a:r>
                      <a:endParaRPr lang="en-US" sz="1185" dirty="0">
                        <a:latin typeface="Roboto" charset="0"/>
                        <a:ea typeface="Roboto" charset="0"/>
                        <a:cs typeface="Roboto" charset="0"/>
                      </a:endParaRPr>
                    </a:p>
                  </a:txBody>
                  <a:tcPr marL="56438" marR="56438" marT="56438" marB="5643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85" dirty="0">
                          <a:solidFill>
                            <a:srgbClr val="000000"/>
                          </a:solidFill>
                          <a:latin typeface="Roboto" pitchFamily="34" charset="0"/>
                          <a:ea typeface="Roboto" pitchFamily="34" charset="-122"/>
                          <a:cs typeface="Roboto" pitchFamily="34" charset="-120"/>
                        </a:rPr>
                        <a:t>400000000009DB4F</a:t>
                      </a:r>
                      <a:endParaRPr lang="en-US" sz="1185" dirty="0">
                        <a:latin typeface="Roboto" charset="0"/>
                        <a:ea typeface="Roboto" charset="0"/>
                        <a:cs typeface="Roboto" charset="0"/>
                      </a:endParaRPr>
                    </a:p>
                  </a:txBody>
                  <a:tcPr marL="56438" marR="56438" marT="56438" marB="5643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0">
                <a:tc>
                  <a:txBody>
                    <a:bodyPr/>
                    <a:lstStyle/>
                    <a:p>
                      <a:pPr algn="l" indent="0" marL="0">
                        <a:buNone/>
                      </a:pPr>
                      <a:r>
                        <a:rPr lang="en-US" sz="1185" dirty="0">
                          <a:solidFill>
                            <a:srgbClr val="000000"/>
                          </a:solidFill>
                          <a:latin typeface="Roboto" pitchFamily="34" charset="0"/>
                          <a:ea typeface="Roboto" pitchFamily="34" charset="-122"/>
                          <a:cs typeface="Roboto" pitchFamily="34" charset="-120"/>
                        </a:rPr>
                        <a:t>3</a:t>
                      </a:r>
                      <a:endParaRPr lang="en-US" sz="1185" dirty="0">
                        <a:latin typeface="Roboto" charset="0"/>
                        <a:ea typeface="Roboto" charset="0"/>
                        <a:cs typeface="Roboto" charset="0"/>
                      </a:endParaRPr>
                    </a:p>
                  </a:txBody>
                  <a:tcPr marL="56438" marR="56438" marT="56438" marB="5643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85" dirty="0">
                          <a:solidFill>
                            <a:srgbClr val="38761D"/>
                          </a:solidFill>
                          <a:latin typeface="Roboto" pitchFamily="34" charset="0"/>
                          <a:ea typeface="Roboto" pitchFamily="34" charset="-122"/>
                          <a:cs typeface="Roboto" pitchFamily="34" charset="-120"/>
                        </a:rPr>
                        <a:t>4000000000100FF0</a:t>
                      </a:r>
                      <a:endParaRPr lang="en-US" sz="1185" dirty="0">
                        <a:latin typeface="Roboto" charset="0"/>
                        <a:ea typeface="Roboto" charset="0"/>
                        <a:cs typeface="Roboto" charset="0"/>
                      </a:endParaRPr>
                    </a:p>
                  </a:txBody>
                  <a:tcPr marL="56438" marR="56438" marT="56438" marB="5643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85" dirty="0">
                          <a:solidFill>
                            <a:srgbClr val="0084D1"/>
                          </a:solidFill>
                          <a:latin typeface="Roboto" pitchFamily="34" charset="0"/>
                          <a:ea typeface="Roboto" pitchFamily="34" charset="-122"/>
                          <a:cs typeface="Roboto" pitchFamily="34" charset="-120"/>
                        </a:rPr>
                        <a:t>40000000000979A9</a:t>
                      </a:r>
                      <a:endParaRPr lang="en-US" sz="1185" dirty="0">
                        <a:latin typeface="Roboto" charset="0"/>
                        <a:ea typeface="Roboto" charset="0"/>
                        <a:cs typeface="Roboto" charset="0"/>
                      </a:endParaRPr>
                    </a:p>
                  </a:txBody>
                  <a:tcPr marL="56438" marR="56438" marT="56438" marB="5643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85" dirty="0">
                          <a:solidFill>
                            <a:srgbClr val="000000"/>
                          </a:solidFill>
                          <a:latin typeface="Roboto" pitchFamily="34" charset="0"/>
                          <a:ea typeface="Roboto" pitchFamily="34" charset="-122"/>
                          <a:cs typeface="Roboto" pitchFamily="34" charset="-120"/>
                        </a:rPr>
                        <a:t>400000000009DB57</a:t>
                      </a:r>
                      <a:endParaRPr lang="en-US" sz="1185" dirty="0">
                        <a:latin typeface="Roboto" charset="0"/>
                        <a:ea typeface="Roboto" charset="0"/>
                        <a:cs typeface="Roboto" charset="0"/>
                      </a:endParaRPr>
                    </a:p>
                  </a:txBody>
                  <a:tcPr marL="56438" marR="56438" marT="56438" marB="5643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0">
                <a:tc>
                  <a:txBody>
                    <a:bodyPr/>
                    <a:lstStyle/>
                    <a:p>
                      <a:pPr algn="l" indent="0" marL="0">
                        <a:buNone/>
                      </a:pPr>
                      <a:r>
                        <a:rPr lang="en-US" sz="1185" dirty="0">
                          <a:solidFill>
                            <a:srgbClr val="000000"/>
                          </a:solidFill>
                          <a:latin typeface="Roboto" pitchFamily="34" charset="0"/>
                          <a:ea typeface="Roboto" pitchFamily="34" charset="-122"/>
                          <a:cs typeface="Roboto" pitchFamily="34" charset="-120"/>
                        </a:rPr>
                        <a:t>4</a:t>
                      </a:r>
                      <a:endParaRPr lang="en-US" sz="1185" dirty="0">
                        <a:latin typeface="Roboto" charset="0"/>
                        <a:ea typeface="Roboto" charset="0"/>
                        <a:cs typeface="Roboto" charset="0"/>
                      </a:endParaRPr>
                    </a:p>
                  </a:txBody>
                  <a:tcPr marL="56438" marR="56438" marT="56438" marB="5643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85" dirty="0">
                          <a:solidFill>
                            <a:srgbClr val="38761D"/>
                          </a:solidFill>
                          <a:latin typeface="Roboto" pitchFamily="34" charset="0"/>
                          <a:ea typeface="Roboto" pitchFamily="34" charset="-122"/>
                          <a:cs typeface="Roboto" pitchFamily="34" charset="-120"/>
                        </a:rPr>
                        <a:t>4000000000100FF0</a:t>
                      </a:r>
                      <a:endParaRPr lang="en-US" sz="1185" dirty="0">
                        <a:latin typeface="Roboto" charset="0"/>
                        <a:ea typeface="Roboto" charset="0"/>
                        <a:cs typeface="Roboto" charset="0"/>
                      </a:endParaRPr>
                    </a:p>
                  </a:txBody>
                  <a:tcPr marL="56438" marR="56438" marT="56438" marB="5643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85" dirty="0">
                          <a:solidFill>
                            <a:srgbClr val="0084D1"/>
                          </a:solidFill>
                          <a:latin typeface="Roboto" pitchFamily="34" charset="0"/>
                          <a:ea typeface="Roboto" pitchFamily="34" charset="-122"/>
                          <a:cs typeface="Roboto" pitchFamily="34" charset="-120"/>
                        </a:rPr>
                        <a:t>40000000000979AA</a:t>
                      </a:r>
                      <a:endParaRPr lang="en-US" sz="1185" dirty="0">
                        <a:latin typeface="Roboto" charset="0"/>
                        <a:ea typeface="Roboto" charset="0"/>
                        <a:cs typeface="Roboto" charset="0"/>
                      </a:endParaRPr>
                    </a:p>
                  </a:txBody>
                  <a:tcPr marL="56438" marR="56438" marT="56438" marB="5643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85" dirty="0">
                          <a:solidFill>
                            <a:srgbClr val="000000"/>
                          </a:solidFill>
                          <a:latin typeface="Roboto" pitchFamily="34" charset="0"/>
                          <a:ea typeface="Roboto" pitchFamily="34" charset="-122"/>
                          <a:cs typeface="Roboto" pitchFamily="34" charset="-120"/>
                        </a:rPr>
                        <a:t>400000000009DB56</a:t>
                      </a:r>
                      <a:endParaRPr lang="en-US" sz="1185" dirty="0">
                        <a:latin typeface="Roboto" charset="0"/>
                        <a:ea typeface="Roboto" charset="0"/>
                        <a:cs typeface="Roboto" charset="0"/>
                      </a:endParaRPr>
                    </a:p>
                  </a:txBody>
                  <a:tcPr marL="56438" marR="56438" marT="56438" marB="5643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0">
                <a:tc>
                  <a:txBody>
                    <a:bodyPr/>
                    <a:lstStyle/>
                    <a:p>
                      <a:pPr algn="l" indent="0" marL="0">
                        <a:buNone/>
                      </a:pPr>
                      <a:r>
                        <a:rPr lang="en-US" sz="1185" dirty="0">
                          <a:solidFill>
                            <a:srgbClr val="000000"/>
                          </a:solidFill>
                          <a:latin typeface="Roboto" pitchFamily="34" charset="0"/>
                          <a:ea typeface="Roboto" pitchFamily="34" charset="-122"/>
                          <a:cs typeface="Roboto" pitchFamily="34" charset="-120"/>
                        </a:rPr>
                        <a:t>…</a:t>
                      </a:r>
                      <a:endParaRPr lang="en-US" sz="1185" dirty="0">
                        <a:latin typeface="Roboto" charset="0"/>
                        <a:ea typeface="Roboto" charset="0"/>
                        <a:cs typeface="Roboto" charset="0"/>
                      </a:endParaRPr>
                    </a:p>
                  </a:txBody>
                  <a:tcPr marL="56438" marR="56438" marT="56438" marB="5643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85" b="1" dirty="0">
                          <a:solidFill>
                            <a:srgbClr val="38761D"/>
                          </a:solidFill>
                          <a:latin typeface="Roboto" pitchFamily="34" charset="0"/>
                          <a:ea typeface="Roboto" pitchFamily="34" charset="-122"/>
                          <a:cs typeface="Roboto" pitchFamily="34" charset="-120"/>
                        </a:rPr>
                        <a:t>identical, 31,250 times</a:t>
                      </a:r>
                      <a:endParaRPr lang="en-US" sz="1185" dirty="0">
                        <a:latin typeface="Roboto" charset="0"/>
                        <a:ea typeface="Roboto" charset="0"/>
                        <a:cs typeface="Roboto" charset="0"/>
                      </a:endParaRPr>
                    </a:p>
                  </a:txBody>
                  <a:tcPr marL="56438" marR="56438" marT="56438" marB="5643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85" b="1" dirty="0">
                          <a:solidFill>
                            <a:srgbClr val="0084D1"/>
                          </a:solidFill>
                          <a:latin typeface="Roboto" pitchFamily="34" charset="0"/>
                          <a:ea typeface="Roboto" pitchFamily="34" charset="-122"/>
                          <a:cs typeface="Roboto" pitchFamily="34" charset="-120"/>
                        </a:rPr>
                        <a:t>+1 every row</a:t>
                      </a:r>
                      <a:endParaRPr lang="en-US" sz="1185" dirty="0">
                        <a:latin typeface="Roboto" charset="0"/>
                        <a:ea typeface="Roboto" charset="0"/>
                        <a:cs typeface="Roboto" charset="0"/>
                      </a:endParaRPr>
                    </a:p>
                  </a:txBody>
                  <a:tcPr marL="56438" marR="56438" marT="56438" marB="5643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85" b="1" dirty="0">
                          <a:solidFill>
                            <a:srgbClr val="000000"/>
                          </a:solidFill>
                          <a:latin typeface="Roboto" pitchFamily="34" charset="0"/>
                          <a:ea typeface="Roboto" pitchFamily="34" charset="-122"/>
                          <a:cs typeface="Roboto" pitchFamily="34" charset="-120"/>
                        </a:rPr>
                        <a:t>~10 distinct values</a:t>
                      </a:r>
                      <a:endParaRPr lang="en-US" sz="1185" dirty="0">
                        <a:latin typeface="Roboto" charset="0"/>
                        <a:ea typeface="Roboto" charset="0"/>
                        <a:cs typeface="Roboto" charset="0"/>
                      </a:endParaRPr>
                    </a:p>
                  </a:txBody>
                  <a:tcPr marL="56438" marR="56438" marT="56438" marB="5643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bl>
          </a:graphicData>
        </a:graphic>
      </p:graphicFrame>
      <p:sp>
        <p:nvSpPr>
          <p:cNvPr id="8" name="Text 4"/>
          <p:cNvSpPr txBox="1"/>
          <p:nvPr/>
        </p:nvSpPr>
        <p:spPr>
          <a:xfrm>
            <a:off x="660400" y="4143277"/>
            <a:ext cx="10871200" cy="237715"/>
          </a:xfrm>
          <a:prstGeom prst="rect">
            <a:avLst/>
          </a:prstGeom>
          <a:noFill/>
          <a:ln/>
        </p:spPr>
        <p:txBody>
          <a:bodyPr wrap="square" lIns="0" tIns="0" rIns="0" bIns="0" rtlCol="0" anchor="t"/>
          <a:lstStyle/>
          <a:p>
            <a:pPr algn="l" indent="0" marL="0">
              <a:lnSpc>
                <a:spcPct val="135000"/>
              </a:lnSpc>
              <a:buNone/>
            </a:pPr>
            <a:r>
              <a:rPr lang="en-US" sz="1284" dirty="0">
                <a:solidFill>
                  <a:srgbClr val="000000"/>
                </a:solidFill>
                <a:latin typeface="Roboto" pitchFamily="34" charset="0"/>
                <a:ea typeface="Roboto" pitchFamily="34" charset="-122"/>
                <a:cs typeface="Roboto" pitchFamily="34" charset="-120"/>
              </a:rPr>
              <a:t>Row 0 spelled out: </a:t>
            </a:r>
            <a:pPr algn="l" indent="0" marL="0">
              <a:lnSpc>
                <a:spcPct val="135000"/>
              </a:lnSpc>
              <a:buNone/>
            </a:pPr>
            <a:r>
              <a:rPr lang="en-US" sz="1284" b="1" dirty="0">
                <a:solidFill>
                  <a:srgbClr val="000000"/>
                </a:solidFill>
                <a:latin typeface="Roboto" pitchFamily="34" charset="0"/>
                <a:ea typeface="Roboto" pitchFamily="34" charset="-122"/>
                <a:cs typeface="Roboto" pitchFamily="34" charset="-120"/>
              </a:rPr>
              <a:t>&lt;…#type&gt;</a:t>
            </a:r>
            <a:pPr algn="l" indent="0" marL="0">
              <a:lnSpc>
                <a:spcPct val="135000"/>
              </a:lnSpc>
              <a:buNone/>
            </a:pPr>
            <a:r>
              <a:rPr lang="en-US" sz="1284" dirty="0">
                <a:solidFill>
                  <a:srgbClr val="000000"/>
                </a:solidFill>
                <a:latin typeface="Roboto" pitchFamily="34" charset="0"/>
                <a:ea typeface="Roboto" pitchFamily="34" charset="-122"/>
                <a:cs typeface="Roboto" pitchFamily="34" charset="-120"/>
              </a:rPr>
              <a:t> · </a:t>
            </a:r>
            <a:pPr algn="l" indent="0" marL="0">
              <a:lnSpc>
                <a:spcPct val="135000"/>
              </a:lnSpc>
              <a:buNone/>
            </a:pPr>
            <a:r>
              <a:rPr lang="en-US" sz="1284" b="1" dirty="0">
                <a:solidFill>
                  <a:srgbClr val="000000"/>
                </a:solidFill>
                <a:latin typeface="Roboto" pitchFamily="34" charset="0"/>
                <a:ea typeface="Roboto" pitchFamily="34" charset="-122"/>
                <a:cs typeface="Roboto" pitchFamily="34" charset="-120"/>
              </a:rPr>
              <a:t>&lt;…wsdbm/Product0&gt;</a:t>
            </a:r>
            <a:pPr algn="l" indent="0" marL="0">
              <a:lnSpc>
                <a:spcPct val="135000"/>
              </a:lnSpc>
              <a:buNone/>
            </a:pPr>
            <a:r>
              <a:rPr lang="en-US" sz="1284" dirty="0">
                <a:solidFill>
                  <a:srgbClr val="000000"/>
                </a:solidFill>
                <a:latin typeface="Roboto" pitchFamily="34" charset="0"/>
                <a:ea typeface="Roboto" pitchFamily="34" charset="-122"/>
                <a:cs typeface="Roboto" pitchFamily="34" charset="-120"/>
              </a:rPr>
              <a:t> · </a:t>
            </a:r>
            <a:pPr algn="l" indent="0" marL="0">
              <a:lnSpc>
                <a:spcPct val="135000"/>
              </a:lnSpc>
              <a:buNone/>
            </a:pPr>
            <a:r>
              <a:rPr lang="en-US" sz="1284" b="1" dirty="0">
                <a:solidFill>
                  <a:srgbClr val="000000"/>
                </a:solidFill>
                <a:latin typeface="Roboto" pitchFamily="34" charset="0"/>
                <a:ea typeface="Roboto" pitchFamily="34" charset="-122"/>
                <a:cs typeface="Roboto" pitchFamily="34" charset="-120"/>
              </a:rPr>
              <a:t>&lt;…wsdbm/ProductCategory11&gt;</a:t>
            </a:r>
            <a:pPr algn="l" indent="0" marL="0">
              <a:lnSpc>
                <a:spcPct val="135000"/>
              </a:lnSpc>
              <a:buNone/>
            </a:pPr>
            <a:r>
              <a:rPr lang="en-US" sz="1284" dirty="0">
                <a:solidFill>
                  <a:srgbClr val="000000"/>
                </a:solidFill>
                <a:latin typeface="Roboto" pitchFamily="34" charset="0"/>
                <a:ea typeface="Roboto" pitchFamily="34" charset="-122"/>
                <a:cs typeface="Roboto" pitchFamily="34" charset="-120"/>
              </a:rPr>
              <a:t> — and a fourth column holds the graph.</a:t>
            </a:r>
            <a:endParaRPr lang="en-US" sz="1284" dirty="0"/>
          </a:p>
        </p:txBody>
      </p:sp>
      <p:sp>
        <p:nvSpPr>
          <p:cNvPr id="9" name="Text 5"/>
          <p:cNvSpPr txBox="1"/>
          <p:nvPr/>
        </p:nvSpPr>
        <p:spPr>
          <a:xfrm>
            <a:off x="660400" y="4481326"/>
            <a:ext cx="10871200" cy="264128"/>
          </a:xfrm>
          <a:prstGeom prst="rect">
            <a:avLst/>
          </a:prstGeom>
          <a:noFill/>
          <a:ln/>
        </p:spPr>
        <p:txBody>
          <a:bodyPr wrap="square" lIns="0" tIns="0" rIns="0" bIns="0" rtlCol="0" anchor="t"/>
          <a:lstStyle/>
          <a:p>
            <a:pPr algn="l" indent="0" marL="0">
              <a:lnSpc>
                <a:spcPct val="130000"/>
              </a:lnSpc>
              <a:buNone/>
            </a:pPr>
            <a:r>
              <a:rPr lang="en-US" sz="1481" b="1" dirty="0">
                <a:solidFill>
                  <a:srgbClr val="000000"/>
                </a:solidFill>
                <a:latin typeface="Roboto" pitchFamily="34" charset="0"/>
                <a:ea typeface="Roboto" pitchFamily="34" charset="-122"/>
                <a:cs typeface="Roboto" pitchFamily="34" charset="-120"/>
              </a:rPr>
              <a:t>That shape is why it compresses, and why the six permutations do not compress alike:</a:t>
            </a:r>
            <a:endParaRPr lang="en-US" sz="1481" dirty="0"/>
          </a:p>
        </p:txBody>
      </p:sp>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660400" y="4845787"/>
          <a:ext cx="10871200" cy="914400"/>
        </p:xfrm>
        <a:graphic>
          <a:graphicData uri="http://schemas.openxmlformats.org/drawingml/2006/table">
            <a:tbl>
              <a:tblPr/>
              <a:tblGrid>
                <a:gridCol w="1956816"/>
                <a:gridCol w="3261360"/>
                <a:gridCol w="2826512"/>
                <a:gridCol w="2826512"/>
              </a:tblGrid>
              <a:tr h="0">
                <a:tc>
                  <a:txBody>
                    <a:bodyPr/>
                    <a:lstStyle/>
                    <a:p>
                      <a:pPr algn="l" indent="0" marL="0">
                        <a:buNone/>
                      </a:pPr>
                      <a:r>
                        <a:rPr lang="en-US" sz="1333" b="1" dirty="0">
                          <a:solidFill>
                            <a:srgbClr val="FFFFFF"/>
                          </a:solidFill>
                          <a:latin typeface="Roboto" pitchFamily="34" charset="0"/>
                          <a:ea typeface="Roboto" pitchFamily="34" charset="-122"/>
                          <a:cs typeface="Roboto" pitchFamily="34" charset="-120"/>
                        </a:rPr>
                        <a:t>permutation</a:t>
                      </a:r>
                      <a:endParaRPr lang="en-US" sz="1333" dirty="0">
                        <a:latin typeface="Roboto" charset="0"/>
                        <a:ea typeface="Roboto" charset="0"/>
                        <a:cs typeface="Roboto" charset="0"/>
                      </a:endParaRPr>
                    </a:p>
                  </a:txBody>
                  <a:tcPr marL="68979" marR="68979" marT="68979" marB="68979"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84D1"/>
                    </a:solidFill>
                  </a:tcPr>
                </a:tc>
                <a:tc>
                  <a:txBody>
                    <a:bodyPr/>
                    <a:lstStyle/>
                    <a:p>
                      <a:pPr algn="l" indent="0" marL="0">
                        <a:buNone/>
                      </a:pPr>
                      <a:r>
                        <a:rPr lang="en-US" sz="1333" b="1" dirty="0">
                          <a:solidFill>
                            <a:srgbClr val="FFFFFF"/>
                          </a:solidFill>
                          <a:latin typeface="Roboto" pitchFamily="34" charset="0"/>
                          <a:ea typeface="Roboto" pitchFamily="34" charset="-122"/>
                          <a:cs typeface="Roboto" pitchFamily="34" charset="-120"/>
                        </a:rPr>
                        <a:t>col0 is</a:t>
                      </a:r>
                      <a:endParaRPr lang="en-US" sz="1333" dirty="0">
                        <a:latin typeface="Roboto" charset="0"/>
                        <a:ea typeface="Roboto" charset="0"/>
                        <a:cs typeface="Roboto" charset="0"/>
                      </a:endParaRPr>
                    </a:p>
                  </a:txBody>
                  <a:tcPr marL="68979" marR="68979" marT="68979" marB="68979"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84D1"/>
                    </a:solidFill>
                  </a:tcPr>
                </a:tc>
                <a:tc>
                  <a:txBody>
                    <a:bodyPr/>
                    <a:lstStyle/>
                    <a:p>
                      <a:pPr algn="r" indent="0" marL="0">
                        <a:buNone/>
                      </a:pPr>
                      <a:r>
                        <a:rPr lang="en-US" sz="1333" b="1" dirty="0">
                          <a:solidFill>
                            <a:srgbClr val="FFFFFF"/>
                          </a:solidFill>
                          <a:latin typeface="Roboto" pitchFamily="34" charset="0"/>
                          <a:ea typeface="Roboto" pitchFamily="34" charset="-122"/>
                          <a:cs typeface="Roboto" pitchFamily="34" charset="-120"/>
                        </a:rPr>
                        <a:t>on disk (333 MB raw)</a:t>
                      </a:r>
                      <a:endParaRPr lang="en-US" sz="1333" dirty="0">
                        <a:latin typeface="Roboto" charset="0"/>
                        <a:ea typeface="Roboto" charset="0"/>
                        <a:cs typeface="Roboto" charset="0"/>
                      </a:endParaRPr>
                    </a:p>
                  </a:txBody>
                  <a:tcPr marL="68979" marR="68979" marT="68979" marB="68979"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84D1"/>
                    </a:solidFill>
                  </a:tcPr>
                </a:tc>
                <a:tc>
                  <a:txBody>
                    <a:bodyPr/>
                    <a:lstStyle/>
                    <a:p>
                      <a:pPr algn="r" indent="0" marL="0">
                        <a:buNone/>
                      </a:pPr>
                      <a:r>
                        <a:rPr lang="en-US" sz="1333" b="1" dirty="0">
                          <a:solidFill>
                            <a:srgbClr val="FFFFFF"/>
                          </a:solidFill>
                          <a:latin typeface="Roboto" pitchFamily="34" charset="0"/>
                          <a:ea typeface="Roboto" pitchFamily="34" charset="-122"/>
                          <a:cs typeface="Roboto" pitchFamily="34" charset="-120"/>
                        </a:rPr>
                        <a:t>ratio</a:t>
                      </a:r>
                      <a:endParaRPr lang="en-US" sz="1333" dirty="0">
                        <a:latin typeface="Roboto" charset="0"/>
                        <a:ea typeface="Roboto" charset="0"/>
                        <a:cs typeface="Roboto" charset="0"/>
                      </a:endParaRPr>
                    </a:p>
                  </a:txBody>
                  <a:tcPr marL="68979" marR="68979" marT="68979" marB="68979"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84D1"/>
                    </a:solidFill>
                  </a:tcPr>
                </a:tc>
              </a:tr>
              <a:tr h="0">
                <a:tc>
                  <a:txBody>
                    <a:bodyPr/>
                    <a:lstStyle/>
                    <a:p>
                      <a:pPr algn="l" indent="0" marL="0">
                        <a:buNone/>
                      </a:pPr>
                      <a:r>
                        <a:rPr lang="en-US" sz="1333" b="1" dirty="0">
                          <a:solidFill>
                            <a:srgbClr val="000000"/>
                          </a:solidFill>
                          <a:latin typeface="Roboto" pitchFamily="34" charset="0"/>
                          <a:ea typeface="Roboto" pitchFamily="34" charset="-122"/>
                          <a:cs typeface="Roboto" pitchFamily="34" charset="-120"/>
                        </a:rPr>
                        <a:t>SPO</a:t>
                      </a:r>
                      <a:endParaRPr lang="en-US" sz="1333" dirty="0">
                        <a:latin typeface="Roboto" charset="0"/>
                        <a:ea typeface="Roboto" charset="0"/>
                        <a:cs typeface="Roboto" charset="0"/>
                      </a:endParaRPr>
                    </a:p>
                  </a:txBody>
                  <a:tcPr marL="68979" marR="68979" marT="68979" marB="68979"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333" dirty="0">
                          <a:solidFill>
                            <a:srgbClr val="000000"/>
                          </a:solidFill>
                          <a:latin typeface="Roboto" pitchFamily="34" charset="0"/>
                          <a:ea typeface="Roboto" pitchFamily="34" charset="-122"/>
                          <a:cs typeface="Roboto" pitchFamily="34" charset="-120"/>
                        </a:rPr>
                        <a:t>subject — 521,585 values</a:t>
                      </a:r>
                      <a:endParaRPr lang="en-US" sz="1333" dirty="0">
                        <a:latin typeface="Roboto" charset="0"/>
                        <a:ea typeface="Roboto" charset="0"/>
                        <a:cs typeface="Roboto" charset="0"/>
                      </a:endParaRPr>
                    </a:p>
                  </a:txBody>
                  <a:tcPr marL="68979" marR="68979" marT="68979" marB="68979"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1333" dirty="0">
                          <a:solidFill>
                            <a:srgbClr val="000000"/>
                          </a:solidFill>
                          <a:latin typeface="Roboto" pitchFamily="34" charset="0"/>
                          <a:ea typeface="Roboto" pitchFamily="34" charset="-122"/>
                          <a:cs typeface="Roboto" pitchFamily="34" charset="-120"/>
                        </a:rPr>
                        <a:t>28.4 MB</a:t>
                      </a:r>
                      <a:endParaRPr lang="en-US" sz="1333" dirty="0">
                        <a:latin typeface="Roboto" charset="0"/>
                        <a:ea typeface="Roboto" charset="0"/>
                        <a:cs typeface="Roboto" charset="0"/>
                      </a:endParaRPr>
                    </a:p>
                  </a:txBody>
                  <a:tcPr marL="68979" marR="68979" marT="68979" marB="68979"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1333" b="1" dirty="0">
                          <a:solidFill>
                            <a:srgbClr val="38761D"/>
                          </a:solidFill>
                          <a:latin typeface="Roboto" pitchFamily="34" charset="0"/>
                          <a:ea typeface="Roboto" pitchFamily="34" charset="-122"/>
                          <a:cs typeface="Roboto" pitchFamily="34" charset="-120"/>
                        </a:rPr>
                        <a:t>11.7×</a:t>
                      </a:r>
                      <a:endParaRPr lang="en-US" sz="1333" dirty="0">
                        <a:latin typeface="Roboto" charset="0"/>
                        <a:ea typeface="Roboto" charset="0"/>
                        <a:cs typeface="Roboto" charset="0"/>
                      </a:endParaRPr>
                    </a:p>
                  </a:txBody>
                  <a:tcPr marL="68979" marR="68979" marT="68979" marB="68979"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0">
                <a:tc>
                  <a:txBody>
                    <a:bodyPr/>
                    <a:lstStyle/>
                    <a:p>
                      <a:pPr algn="l" indent="0" marL="0">
                        <a:buNone/>
                      </a:pPr>
                      <a:r>
                        <a:rPr lang="en-US" sz="1333" b="1" dirty="0">
                          <a:solidFill>
                            <a:srgbClr val="000000"/>
                          </a:solidFill>
                          <a:latin typeface="Roboto" pitchFamily="34" charset="0"/>
                          <a:ea typeface="Roboto" pitchFamily="34" charset="-122"/>
                          <a:cs typeface="Roboto" pitchFamily="34" charset="-120"/>
                        </a:rPr>
                        <a:t>PSO</a:t>
                      </a:r>
                      <a:endParaRPr lang="en-US" sz="1333" dirty="0">
                        <a:latin typeface="Roboto" charset="0"/>
                        <a:ea typeface="Roboto" charset="0"/>
                        <a:cs typeface="Roboto" charset="0"/>
                      </a:endParaRPr>
                    </a:p>
                  </a:txBody>
                  <a:tcPr marL="68979" marR="68979" marT="68979" marB="68979"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333" dirty="0">
                          <a:solidFill>
                            <a:srgbClr val="000000"/>
                          </a:solidFill>
                          <a:latin typeface="Roboto" pitchFamily="34" charset="0"/>
                          <a:ea typeface="Roboto" pitchFamily="34" charset="-122"/>
                          <a:cs typeface="Roboto" pitchFamily="34" charset="-120"/>
                        </a:rPr>
                        <a:t>predicate — 86 values</a:t>
                      </a:r>
                      <a:endParaRPr lang="en-US" sz="1333" dirty="0">
                        <a:latin typeface="Roboto" charset="0"/>
                        <a:ea typeface="Roboto" charset="0"/>
                        <a:cs typeface="Roboto" charset="0"/>
                      </a:endParaRPr>
                    </a:p>
                  </a:txBody>
                  <a:tcPr marL="68979" marR="68979" marT="68979" marB="68979"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1333" dirty="0">
                          <a:solidFill>
                            <a:srgbClr val="000000"/>
                          </a:solidFill>
                          <a:latin typeface="Roboto" pitchFamily="34" charset="0"/>
                          <a:ea typeface="Roboto" pitchFamily="34" charset="-122"/>
                          <a:cs typeface="Roboto" pitchFamily="34" charset="-120"/>
                        </a:rPr>
                        <a:t>45.3 MB</a:t>
                      </a:r>
                      <a:endParaRPr lang="en-US" sz="1333" dirty="0">
                        <a:latin typeface="Roboto" charset="0"/>
                        <a:ea typeface="Roboto" charset="0"/>
                        <a:cs typeface="Roboto" charset="0"/>
                      </a:endParaRPr>
                    </a:p>
                  </a:txBody>
                  <a:tcPr marL="68979" marR="68979" marT="68979" marB="68979"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1333" dirty="0">
                          <a:solidFill>
                            <a:srgbClr val="000000"/>
                          </a:solidFill>
                          <a:latin typeface="Roboto" pitchFamily="34" charset="0"/>
                          <a:ea typeface="Roboto" pitchFamily="34" charset="-122"/>
                          <a:cs typeface="Roboto" pitchFamily="34" charset="-120"/>
                        </a:rPr>
                        <a:t>7.4×</a:t>
                      </a:r>
                      <a:endParaRPr lang="en-US" sz="1333" dirty="0">
                        <a:latin typeface="Roboto" charset="0"/>
                        <a:ea typeface="Roboto" charset="0"/>
                        <a:cs typeface="Roboto" charset="0"/>
                      </a:endParaRPr>
                    </a:p>
                  </a:txBody>
                  <a:tcPr marL="68979" marR="68979" marT="68979" marB="68979"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0">
                <a:tc>
                  <a:txBody>
                    <a:bodyPr/>
                    <a:lstStyle/>
                    <a:p>
                      <a:pPr algn="l" indent="0" marL="0">
                        <a:buNone/>
                      </a:pPr>
                      <a:r>
                        <a:rPr lang="en-US" sz="1333" b="1" dirty="0">
                          <a:solidFill>
                            <a:srgbClr val="000000"/>
                          </a:solidFill>
                          <a:latin typeface="Roboto" pitchFamily="34" charset="0"/>
                          <a:ea typeface="Roboto" pitchFamily="34" charset="-122"/>
                          <a:cs typeface="Roboto" pitchFamily="34" charset="-120"/>
                        </a:rPr>
                        <a:t>OPS</a:t>
                      </a:r>
                      <a:endParaRPr lang="en-US" sz="1333" dirty="0">
                        <a:latin typeface="Roboto" charset="0"/>
                        <a:ea typeface="Roboto" charset="0"/>
                        <a:cs typeface="Roboto" charset="0"/>
                      </a:endParaRPr>
                    </a:p>
                  </a:txBody>
                  <a:tcPr marL="68979" marR="68979" marT="68979" marB="68979"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333" dirty="0">
                          <a:solidFill>
                            <a:srgbClr val="000000"/>
                          </a:solidFill>
                          <a:latin typeface="Roboto" pitchFamily="34" charset="0"/>
                          <a:ea typeface="Roboto" pitchFamily="34" charset="-122"/>
                          <a:cs typeface="Roboto" pitchFamily="34" charset="-120"/>
                        </a:rPr>
                        <a:t>object — 1,005,832 values</a:t>
                      </a:r>
                      <a:endParaRPr lang="en-US" sz="1333" dirty="0">
                        <a:latin typeface="Roboto" charset="0"/>
                        <a:ea typeface="Roboto" charset="0"/>
                        <a:cs typeface="Roboto" charset="0"/>
                      </a:endParaRPr>
                    </a:p>
                  </a:txBody>
                  <a:tcPr marL="68979" marR="68979" marT="68979" marB="68979"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1333" dirty="0">
                          <a:solidFill>
                            <a:srgbClr val="000000"/>
                          </a:solidFill>
                          <a:latin typeface="Roboto" pitchFamily="34" charset="0"/>
                          <a:ea typeface="Roboto" pitchFamily="34" charset="-122"/>
                          <a:cs typeface="Roboto" pitchFamily="34" charset="-120"/>
                        </a:rPr>
                        <a:t>47.9 MB</a:t>
                      </a:r>
                      <a:endParaRPr lang="en-US" sz="1333" dirty="0">
                        <a:latin typeface="Roboto" charset="0"/>
                        <a:ea typeface="Roboto" charset="0"/>
                        <a:cs typeface="Roboto" charset="0"/>
                      </a:endParaRPr>
                    </a:p>
                  </a:txBody>
                  <a:tcPr marL="68979" marR="68979" marT="68979" marB="68979"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1333" dirty="0">
                          <a:solidFill>
                            <a:srgbClr val="000000"/>
                          </a:solidFill>
                          <a:latin typeface="Roboto" pitchFamily="34" charset="0"/>
                          <a:ea typeface="Roboto" pitchFamily="34" charset="-122"/>
                          <a:cs typeface="Roboto" pitchFamily="34" charset="-120"/>
                        </a:rPr>
                        <a:t>6.9×</a:t>
                      </a:r>
                      <a:endParaRPr lang="en-US" sz="1333" dirty="0">
                        <a:latin typeface="Roboto" charset="0"/>
                        <a:ea typeface="Roboto" charset="0"/>
                        <a:cs typeface="Roboto" charset="0"/>
                      </a:endParaRPr>
                    </a:p>
                  </a:txBody>
                  <a:tcPr marL="68979" marR="68979" marT="68979" marB="68979"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155700"/>
          </a:xfrm>
          <a:prstGeom prst="rect">
            <a:avLst/>
          </a:prstGeom>
          <a:solidFill>
            <a:srgbClr val="0084D1"/>
          </a:solidFill>
          <a:ln/>
        </p:spPr>
      </p:sp>
      <p:sp>
        <p:nvSpPr>
          <p:cNvPr id="3" name="Text 1"/>
          <p:cNvSpPr txBox="1"/>
          <p:nvPr/>
        </p:nvSpPr>
        <p:spPr>
          <a:xfrm>
            <a:off x="0" y="228600"/>
            <a:ext cx="12192000" cy="934720"/>
          </a:xfrm>
          <a:prstGeom prst="rect">
            <a:avLst/>
          </a:prstGeom>
          <a:noFill/>
          <a:ln/>
        </p:spPr>
        <p:txBody>
          <a:bodyPr wrap="square" lIns="0" tIns="0" rIns="0" bIns="0" rtlCol="0" anchor="t"/>
          <a:lstStyle/>
          <a:p>
            <a:pPr algn="ctr" indent="0" marL="0">
              <a:lnSpc>
                <a:spcPct val="110000"/>
              </a:lnSpc>
              <a:buNone/>
            </a:pPr>
            <a:r>
              <a:rPr lang="en-US" sz="4600" b="1" dirty="0">
                <a:solidFill>
                  <a:srgbClr val="FFFFFF"/>
                </a:solidFill>
                <a:latin typeface="Roboto Slab" pitchFamily="34" charset="0"/>
                <a:ea typeface="Roboto Slab" pitchFamily="34" charset="-122"/>
                <a:cs typeface="Roboto Slab" pitchFamily="34" charset="-120"/>
              </a:rPr>
              <a:t>What is held in RAM</a:t>
            </a:r>
            <a:endParaRPr lang="en-US" sz="4600" dirty="0"/>
          </a:p>
        </p:txBody>
      </p:sp>
      <p:sp>
        <p:nvSpPr>
          <p:cNvPr id="4" name="Text 2"/>
          <p:cNvSpPr txBox="1"/>
          <p:nvPr/>
        </p:nvSpPr>
        <p:spPr>
          <a:xfrm>
            <a:off x="10795000" y="6347460"/>
            <a:ext cx="889000" cy="264160"/>
          </a:xfrm>
          <a:prstGeom prst="rect">
            <a:avLst/>
          </a:prstGeom>
          <a:noFill/>
          <a:ln/>
        </p:spPr>
        <p:txBody>
          <a:bodyPr wrap="square" lIns="0" tIns="0" rIns="0" bIns="0" rtlCol="0" anchor="t"/>
          <a:lstStyle/>
          <a:p>
            <a:pPr algn="r" indent="0" marL="0">
              <a:lnSpc>
                <a:spcPct val="120000"/>
              </a:lnSpc>
              <a:buNone/>
            </a:pPr>
            <a:r>
              <a:rPr lang="en-US" sz="1300" dirty="0">
                <a:solidFill>
                  <a:srgbClr val="595959"/>
                </a:solidFill>
                <a:latin typeface="Roboto" pitchFamily="34" charset="0"/>
                <a:ea typeface="Roboto" pitchFamily="34" charset="-122"/>
                <a:cs typeface="Roboto" pitchFamily="34" charset="-120"/>
              </a:rPr>
              <a:t>10</a:t>
            </a:r>
            <a:endParaRPr lang="en-US" sz="1300" dirty="0"/>
          </a:p>
        </p:txBody>
      </p:sp>
      <p:sp>
        <p:nvSpPr>
          <p:cNvPr id="6" name="Shape 3"/>
          <p:cNvSpPr/>
          <p:nvPr/>
        </p:nvSpPr>
        <p:spPr>
          <a:xfrm>
            <a:off x="660400" y="1358900"/>
            <a:ext cx="5334000" cy="1224940"/>
          </a:xfrm>
          <a:prstGeom prst="rect">
            <a:avLst/>
          </a:prstGeom>
          <a:ln w="25400">
            <a:solidFill>
              <a:srgbClr val="000000"/>
            </a:solidFill>
            <a:prstDash val="solid"/>
          </a:ln>
        </p:spPr>
      </p:sp>
      <p:sp>
        <p:nvSpPr>
          <p:cNvPr id="7" name="Text 4"/>
          <p:cNvSpPr txBox="1"/>
          <p:nvPr/>
        </p:nvSpPr>
        <p:spPr>
          <a:xfrm>
            <a:off x="660400" y="1358900"/>
            <a:ext cx="5334000" cy="267462"/>
          </a:xfrm>
          <a:prstGeom prst="rect">
            <a:avLst/>
          </a:prstGeom>
          <a:noFill/>
          <a:ln/>
        </p:spPr>
        <p:txBody>
          <a:bodyPr wrap="square" lIns="0" tIns="0" rIns="0" bIns="0" rtlCol="0" anchor="t"/>
          <a:lstStyle/>
          <a:p>
            <a:pPr algn="ctr" indent="0" marL="0">
              <a:lnSpc>
                <a:spcPct val="130000"/>
              </a:lnSpc>
              <a:buNone/>
            </a:pPr>
            <a:r>
              <a:rPr lang="en-US" sz="1500" b="1" dirty="0">
                <a:solidFill>
                  <a:srgbClr val="FFFFFF"/>
                </a:solidFill>
                <a:latin typeface="Roboto" pitchFamily="34" charset="0"/>
                <a:ea typeface="Roboto" pitchFamily="34" charset="-122"/>
                <a:cs typeface="Roboto" pitchFamily="34" charset="-120"/>
              </a:rPr>
              <a:t>CompressedBlockMetadata — one per block</a:t>
            </a:r>
            <a:endParaRPr lang="en-US" sz="1500" dirty="0"/>
          </a:p>
        </p:txBody>
      </p:sp>
      <p:sp>
        <p:nvSpPr>
          <p:cNvPr id="8" name="Text 5"/>
          <p:cNvSpPr txBox="1"/>
          <p:nvPr/>
        </p:nvSpPr>
        <p:spPr>
          <a:xfrm>
            <a:off x="660400" y="1677162"/>
            <a:ext cx="5334000" cy="855878"/>
          </a:xfrm>
          <a:prstGeom prst="rect">
            <a:avLst/>
          </a:prstGeom>
          <a:noFill/>
          <a:ln/>
        </p:spPr>
        <p:txBody>
          <a:bodyPr wrap="square" lIns="0" tIns="0" rIns="0" bIns="0" rtlCol="0" anchor="t"/>
          <a:lstStyle/>
          <a:p>
            <a:pPr algn="l" indent="0" marL="0">
              <a:lnSpc>
                <a:spcPct val="130000"/>
              </a:lnSpc>
              <a:buNone/>
            </a:pPr>
            <a:r>
              <a:rPr lang="en-US" sz="1200" dirty="0">
                <a:solidFill>
                  <a:srgbClr val="000000"/>
                </a:solidFill>
                <a:latin typeface="Roboto Mono" pitchFamily="34" charset="0"/>
                <a:ea typeface="Roboto Mono" pitchFamily="34" charset="-122"/>
                <a:cs typeface="Roboto Mono" pitchFamily="34" charset="-120"/>
              </a:rPr>
              <a:t> </a:t>
            </a:r>
            <a:pPr algn="l" indent="0" marL="0">
              <a:lnSpc>
                <a:spcPct val="130000"/>
              </a:lnSpc>
              <a:buNone/>
            </a:pPr>
            <a:r>
              <a:rPr lang="en-US" sz="1200" dirty="0">
                <a:solidFill>
                  <a:srgbClr val="000000"/>
                </a:solidFill>
                <a:latin typeface="Roboto Mono" pitchFamily="34" charset="0"/>
                <a:ea typeface="Roboto Mono" pitchFamily="34" charset="-122"/>
                <a:cs typeface="Roboto Mono" pitchFamily="34" charset="-120"/>
              </a:rPr>
              <a:t>offsetsAndCompressedSize_</a:t>
            </a:r>
            <a:pPr algn="l" indent="0" marL="0">
              <a:lnSpc>
                <a:spcPct val="130000"/>
              </a:lnSpc>
              <a:buNone/>
            </a:pPr>
            <a:r>
              <a:rPr lang="en-US" sz="1200" dirty="0">
                <a:solidFill>
                  <a:srgbClr val="000000"/>
                </a:solidFill>
                <a:latin typeface="Roboto" pitchFamily="34" charset="0"/>
                <a:ea typeface="Roboto" pitchFamily="34" charset="-122"/>
                <a:cs typeface="Roboto" pitchFamily="34" charset="-120"/>
              </a:rPr>
              <a:t>one per column</a:t>
            </a:r>
            <a:pPr algn="l" indent="0" marL="0">
              <a:lnSpc>
                <a:spcPct val="130000"/>
              </a:lnSpc>
              <a:buNone/>
            </a:pPr>
            <a:r>
              <a:rPr lang="en-US" sz="1200" dirty="0">
                <a:solidFill>
                  <a:srgbClr val="000000"/>
                </a:solidFill>
                <a:latin typeface="Roboto Mono" pitchFamily="34" charset="0"/>
                <a:ea typeface="Roboto Mono" pitchFamily="34" charset="-122"/>
                <a:cs typeface="Roboto Mono" pitchFamily="34" charset="-120"/>
              </a:rPr>
              <a:t> </a:t>
            </a:r>
            <a:pPr algn="l" indent="0" marL="0">
              <a:lnSpc>
                <a:spcPct val="130000"/>
              </a:lnSpc>
              <a:buNone/>
            </a:pPr>
            <a:r>
              <a:rPr lang="en-US" sz="1200" dirty="0">
                <a:solidFill>
                  <a:srgbClr val="FF0000"/>
                </a:solidFill>
                <a:latin typeface="Roboto Mono" pitchFamily="34" charset="0"/>
                <a:ea typeface="Roboto Mono" pitchFamily="34" charset="-122"/>
                <a:cs typeface="Roboto Mono" pitchFamily="34" charset="-120"/>
              </a:rPr>
              <a:t>numRows_</a:t>
            </a:r>
            <a:pPr algn="l" indent="0" marL="0">
              <a:lnSpc>
                <a:spcPct val="130000"/>
              </a:lnSpc>
              <a:buNone/>
            </a:pPr>
            <a:r>
              <a:rPr lang="en-US" sz="1200" dirty="0">
                <a:solidFill>
                  <a:srgbClr val="000000"/>
                </a:solidFill>
                <a:latin typeface="Roboto" pitchFamily="34" charset="0"/>
                <a:ea typeface="Roboto" pitchFamily="34" charset="-122"/>
                <a:cs typeface="Roboto" pitchFamily="34" charset="-120"/>
              </a:rPr>
              <a:t>rows in this block</a:t>
            </a:r>
            <a:pPr algn="l" indent="0" marL="0">
              <a:lnSpc>
                <a:spcPct val="130000"/>
              </a:lnSpc>
              <a:buNone/>
            </a:pPr>
            <a:r>
              <a:rPr lang="en-US" sz="1200" dirty="0">
                <a:solidFill>
                  <a:srgbClr val="000000"/>
                </a:solidFill>
                <a:latin typeface="Roboto Mono" pitchFamily="34" charset="0"/>
                <a:ea typeface="Roboto Mono" pitchFamily="34" charset="-122"/>
                <a:cs typeface="Roboto Mono" pitchFamily="34" charset="-120"/>
              </a:rPr>
              <a:t> </a:t>
            </a:r>
            <a:pPr algn="l" indent="0" marL="0">
              <a:lnSpc>
                <a:spcPct val="130000"/>
              </a:lnSpc>
              <a:buNone/>
            </a:pPr>
            <a:r>
              <a:rPr lang="en-US" sz="1200" dirty="0">
                <a:solidFill>
                  <a:srgbClr val="000000"/>
                </a:solidFill>
                <a:latin typeface="Roboto Mono" pitchFamily="34" charset="0"/>
                <a:ea typeface="Roboto Mono" pitchFamily="34" charset="-122"/>
                <a:cs typeface="Roboto Mono" pitchFamily="34" charset="-120"/>
              </a:rPr>
              <a:t>firstTriple_</a:t>
            </a:r>
            <a:pPr algn="l" indent="0" marL="0">
              <a:lnSpc>
                <a:spcPct val="130000"/>
              </a:lnSpc>
              <a:buNone/>
            </a:pPr>
            <a:r>
              <a:rPr lang="en-US" sz="1200" dirty="0">
                <a:solidFill>
                  <a:srgbClr val="000000"/>
                </a:solidFill>
                <a:latin typeface="Roboto" pitchFamily="34" charset="0"/>
                <a:ea typeface="Roboto" pitchFamily="34" charset="-122"/>
                <a:cs typeface="Roboto" pitchFamily="34" charset="-120"/>
              </a:rPr>
              <a:t>col0, col1, col2, graph</a:t>
            </a:r>
            <a:pPr algn="l" indent="0" marL="0">
              <a:lnSpc>
                <a:spcPct val="130000"/>
              </a:lnSpc>
              <a:buNone/>
            </a:pPr>
            <a:r>
              <a:rPr lang="en-US" sz="1200" dirty="0">
                <a:solidFill>
                  <a:srgbClr val="000000"/>
                </a:solidFill>
                <a:latin typeface="Roboto Mono" pitchFamily="34" charset="0"/>
                <a:ea typeface="Roboto Mono" pitchFamily="34" charset="-122"/>
                <a:cs typeface="Roboto Mono" pitchFamily="34" charset="-120"/>
              </a:rPr>
              <a:t> </a:t>
            </a:r>
            <a:pPr algn="l" indent="0" marL="0">
              <a:lnSpc>
                <a:spcPct val="130000"/>
              </a:lnSpc>
              <a:buNone/>
            </a:pPr>
            <a:r>
              <a:rPr lang="en-US" sz="1200" dirty="0">
                <a:solidFill>
                  <a:srgbClr val="000000"/>
                </a:solidFill>
                <a:latin typeface="Roboto Mono" pitchFamily="34" charset="0"/>
                <a:ea typeface="Roboto Mono" pitchFamily="34" charset="-122"/>
                <a:cs typeface="Roboto Mono" pitchFamily="34" charset="-120"/>
              </a:rPr>
              <a:t>lastTriple_</a:t>
            </a:r>
            <a:pPr algn="l" indent="0" marL="0">
              <a:lnSpc>
                <a:spcPct val="130000"/>
              </a:lnSpc>
              <a:buNone/>
            </a:pPr>
            <a:r>
              <a:rPr lang="en-US" sz="1200" dirty="0">
                <a:solidFill>
                  <a:srgbClr val="000000"/>
                </a:solidFill>
                <a:latin typeface="Roboto" pitchFamily="34" charset="0"/>
                <a:ea typeface="Roboto" pitchFamily="34" charset="-122"/>
                <a:cs typeface="Roboto" pitchFamily="34" charset="-120"/>
              </a:rPr>
              <a:t>col0, col1, col2, graph</a:t>
            </a:r>
            <a:pPr algn="l" indent="0" marL="0">
              <a:lnSpc>
                <a:spcPct val="130000"/>
              </a:lnSpc>
              <a:buNone/>
            </a:pPr>
            <a:r>
              <a:rPr lang="en-US" sz="1200" dirty="0">
                <a:solidFill>
                  <a:srgbClr val="000000"/>
                </a:solidFill>
                <a:latin typeface="Roboto Mono" pitchFamily="34" charset="0"/>
                <a:ea typeface="Roboto Mono" pitchFamily="34" charset="-122"/>
                <a:cs typeface="Roboto Mono" pitchFamily="34" charset="-120"/>
              </a:rPr>
              <a:t> </a:t>
            </a:r>
            <a:pPr algn="l" indent="0" marL="0">
              <a:lnSpc>
                <a:spcPct val="130000"/>
              </a:lnSpc>
              <a:buNone/>
            </a:pPr>
            <a:r>
              <a:rPr lang="en-US" sz="1200" dirty="0">
                <a:solidFill>
                  <a:srgbClr val="000000"/>
                </a:solidFill>
                <a:latin typeface="Roboto Mono" pitchFamily="34" charset="0"/>
                <a:ea typeface="Roboto Mono" pitchFamily="34" charset="-122"/>
                <a:cs typeface="Roboto Mono" pitchFamily="34" charset="-120"/>
              </a:rPr>
              <a:t>graphInfo_</a:t>
            </a:r>
            <a:pPr algn="l" indent="0" marL="0">
              <a:lnSpc>
                <a:spcPct val="130000"/>
              </a:lnSpc>
              <a:buNone/>
            </a:pPr>
            <a:r>
              <a:rPr lang="en-US" sz="1200" dirty="0">
                <a:solidFill>
                  <a:srgbClr val="000000"/>
                </a:solidFill>
                <a:latin typeface="Roboto" pitchFamily="34" charset="0"/>
                <a:ea typeface="Roboto" pitchFamily="34" charset="-122"/>
                <a:cs typeface="Roboto" pitchFamily="34" charset="-120"/>
              </a:rPr>
              <a:t>graphs present, if few</a:t>
            </a:r>
            <a:pPr algn="l" indent="0" marL="0">
              <a:lnSpc>
                <a:spcPct val="130000"/>
              </a:lnSpc>
              <a:buNone/>
            </a:pPr>
            <a:r>
              <a:rPr lang="en-US" sz="1200" dirty="0">
                <a:solidFill>
                  <a:srgbClr val="000000"/>
                </a:solidFill>
                <a:latin typeface="Roboto Mono" pitchFamily="34" charset="0"/>
                <a:ea typeface="Roboto Mono" pitchFamily="34" charset="-122"/>
                <a:cs typeface="Roboto Mono" pitchFamily="34" charset="-120"/>
              </a:rPr>
              <a:t> </a:t>
            </a:r>
            <a:pPr algn="l" indent="0" marL="0">
              <a:lnSpc>
                <a:spcPct val="130000"/>
              </a:lnSpc>
              <a:buNone/>
            </a:pPr>
            <a:r>
              <a:rPr lang="en-US" sz="1200" dirty="0">
                <a:solidFill>
                  <a:srgbClr val="000000"/>
                </a:solidFill>
                <a:latin typeface="Roboto Mono" pitchFamily="34" charset="0"/>
                <a:ea typeface="Roboto Mono" pitchFamily="34" charset="-122"/>
                <a:cs typeface="Roboto Mono" pitchFamily="34" charset="-120"/>
              </a:rPr>
              <a:t>containsDuplicates…</a:t>
            </a:r>
            <a:pPr algn="l" indent="0" marL="0">
              <a:lnSpc>
                <a:spcPct val="130000"/>
              </a:lnSpc>
              <a:buNone/>
            </a:pPr>
            <a:r>
              <a:rPr lang="en-US" sz="1200" dirty="0">
                <a:solidFill>
                  <a:srgbClr val="000000"/>
                </a:solidFill>
                <a:latin typeface="Roboto" pitchFamily="34" charset="0"/>
                <a:ea typeface="Roboto" pitchFamily="34" charset="-122"/>
                <a:cs typeface="Roboto" pitchFamily="34" charset="-120"/>
              </a:rPr>
              <a:t>…WithDifferentGraphs_</a:t>
            </a:r>
            <a:pPr algn="l" indent="0" marL="0">
              <a:lnSpc>
                <a:spcPct val="130000"/>
              </a:lnSpc>
              <a:buNone/>
            </a:pPr>
            <a:r>
              <a:rPr lang="en-US" sz="1200" dirty="0">
                <a:solidFill>
                  <a:srgbClr val="000000"/>
                </a:solidFill>
                <a:latin typeface="Roboto Mono" pitchFamily="34" charset="0"/>
                <a:ea typeface="Roboto Mono" pitchFamily="34" charset="-122"/>
                <a:cs typeface="Roboto Mono" pitchFamily="34" charset="-120"/>
              </a:rPr>
              <a:t> </a:t>
            </a:r>
            <a:pPr algn="l" indent="0" marL="0">
              <a:lnSpc>
                <a:spcPct val="130000"/>
              </a:lnSpc>
              <a:buNone/>
            </a:pPr>
            <a:r>
              <a:rPr lang="en-US" sz="1200" dirty="0">
                <a:solidFill>
                  <a:srgbClr val="000000"/>
                </a:solidFill>
                <a:latin typeface="Roboto Mono" pitchFamily="34" charset="0"/>
                <a:ea typeface="Roboto Mono" pitchFamily="34" charset="-122"/>
                <a:cs typeface="Roboto Mono" pitchFamily="34" charset="-120"/>
              </a:rPr>
              <a:t>blockIndex_</a:t>
            </a:r>
            <a:pPr algn="l" indent="0" marL="0">
              <a:lnSpc>
                <a:spcPct val="130000"/>
              </a:lnSpc>
              <a:buNone/>
            </a:pPr>
            <a:r>
              <a:rPr lang="en-US" sz="1200" dirty="0">
                <a:solidFill>
                  <a:srgbClr val="000000"/>
                </a:solidFill>
                <a:latin typeface="Roboto" pitchFamily="34" charset="0"/>
                <a:ea typeface="Roboto" pitchFamily="34" charset="-122"/>
                <a:cs typeface="Roboto" pitchFamily="34" charset="-120"/>
              </a:rPr>
              <a:t>its place in the file</a:t>
            </a:r>
            <a:pPr algn="l" indent="0" marL="0">
              <a:lnSpc>
                <a:spcPct val="130000"/>
              </a:lnSpc>
              <a:buNone/>
            </a:pPr>
            <a:r>
              <a:rPr lang="en-US" sz="1200" dirty="0">
                <a:solidFill>
                  <a:srgbClr val="000000"/>
                </a:solidFill>
                <a:latin typeface="Roboto Mono" pitchFamily="34" charset="0"/>
                <a:ea typeface="Roboto Mono" pitchFamily="34" charset="-122"/>
                <a:cs typeface="Roboto Mono" pitchFamily="34" charset="-120"/>
              </a:rPr>
              <a:t> </a:t>
            </a:r>
            <a:endParaRPr lang="en-US" sz="1200" dirty="0"/>
          </a:p>
        </p:txBody>
      </p:sp>
      <p:sp>
        <p:nvSpPr>
          <p:cNvPr id="9" name="Shape 6"/>
          <p:cNvSpPr/>
          <p:nvPr/>
        </p:nvSpPr>
        <p:spPr>
          <a:xfrm>
            <a:off x="6197600" y="1358900"/>
            <a:ext cx="5334000" cy="1010971"/>
          </a:xfrm>
          <a:prstGeom prst="rect">
            <a:avLst/>
          </a:prstGeom>
          <a:ln w="25400">
            <a:solidFill>
              <a:srgbClr val="000000"/>
            </a:solidFill>
            <a:prstDash val="solid"/>
          </a:ln>
        </p:spPr>
      </p:sp>
      <p:sp>
        <p:nvSpPr>
          <p:cNvPr id="10" name="Text 7"/>
          <p:cNvSpPr txBox="1"/>
          <p:nvPr/>
        </p:nvSpPr>
        <p:spPr>
          <a:xfrm>
            <a:off x="6197600" y="1358900"/>
            <a:ext cx="5334000" cy="267462"/>
          </a:xfrm>
          <a:prstGeom prst="rect">
            <a:avLst/>
          </a:prstGeom>
          <a:noFill/>
          <a:ln/>
        </p:spPr>
        <p:txBody>
          <a:bodyPr wrap="square" lIns="0" tIns="0" rIns="0" bIns="0" rtlCol="0" anchor="t"/>
          <a:lstStyle/>
          <a:p>
            <a:pPr algn="ctr" indent="0" marL="0">
              <a:lnSpc>
                <a:spcPct val="130000"/>
              </a:lnSpc>
              <a:buNone/>
            </a:pPr>
            <a:r>
              <a:rPr lang="en-US" sz="1500" b="1" dirty="0">
                <a:solidFill>
                  <a:srgbClr val="FFFFFF"/>
                </a:solidFill>
                <a:latin typeface="Roboto" pitchFamily="34" charset="0"/>
                <a:ea typeface="Roboto" pitchFamily="34" charset="-122"/>
                <a:cs typeface="Roboto" pitchFamily="34" charset="-120"/>
              </a:rPr>
              <a:t>CompressedRelationMetadata — one per relation</a:t>
            </a:r>
            <a:endParaRPr lang="en-US" sz="1500" dirty="0"/>
          </a:p>
        </p:txBody>
      </p:sp>
      <p:sp>
        <p:nvSpPr>
          <p:cNvPr id="11" name="Text 8"/>
          <p:cNvSpPr txBox="1"/>
          <p:nvPr/>
        </p:nvSpPr>
        <p:spPr>
          <a:xfrm>
            <a:off x="6197600" y="1677162"/>
            <a:ext cx="5334000" cy="641909"/>
          </a:xfrm>
          <a:prstGeom prst="rect">
            <a:avLst/>
          </a:prstGeom>
          <a:noFill/>
          <a:ln/>
        </p:spPr>
        <p:txBody>
          <a:bodyPr wrap="square" lIns="0" tIns="0" rIns="0" bIns="0" rtlCol="0" anchor="t"/>
          <a:lstStyle/>
          <a:p>
            <a:pPr algn="l" indent="0" marL="0">
              <a:lnSpc>
                <a:spcPct val="130000"/>
              </a:lnSpc>
              <a:buNone/>
            </a:pPr>
            <a:r>
              <a:rPr lang="en-US" sz="1200" dirty="0">
                <a:solidFill>
                  <a:srgbClr val="000000"/>
                </a:solidFill>
                <a:latin typeface="Roboto Mono" pitchFamily="34" charset="0"/>
                <a:ea typeface="Roboto Mono" pitchFamily="34" charset="-122"/>
                <a:cs typeface="Roboto Mono" pitchFamily="34" charset="-120"/>
              </a:rPr>
              <a:t> </a:t>
            </a:r>
            <a:pPr algn="l" indent="0" marL="0">
              <a:lnSpc>
                <a:spcPct val="130000"/>
              </a:lnSpc>
              <a:buNone/>
            </a:pPr>
            <a:r>
              <a:rPr lang="en-US" sz="1200" dirty="0">
                <a:solidFill>
                  <a:srgbClr val="000000"/>
                </a:solidFill>
                <a:latin typeface="Roboto Mono" pitchFamily="34" charset="0"/>
                <a:ea typeface="Roboto Mono" pitchFamily="34" charset="-122"/>
                <a:cs typeface="Roboto Mono" pitchFamily="34" charset="-120"/>
              </a:rPr>
              <a:t>col0Id_</a:t>
            </a:r>
            <a:pPr algn="l" indent="0" marL="0">
              <a:lnSpc>
                <a:spcPct val="130000"/>
              </a:lnSpc>
              <a:buNone/>
            </a:pPr>
            <a:r>
              <a:rPr lang="en-US" sz="1200" dirty="0">
                <a:solidFill>
                  <a:srgbClr val="000000"/>
                </a:solidFill>
                <a:latin typeface="Roboto" pitchFamily="34" charset="0"/>
                <a:ea typeface="Roboto" pitchFamily="34" charset="-122"/>
                <a:cs typeface="Roboto" pitchFamily="34" charset="-120"/>
              </a:rPr>
              <a:t>the relation itself</a:t>
            </a:r>
            <a:pPr algn="l" indent="0" marL="0">
              <a:lnSpc>
                <a:spcPct val="130000"/>
              </a:lnSpc>
              <a:buNone/>
            </a:pPr>
            <a:r>
              <a:rPr lang="en-US" sz="1200" dirty="0">
                <a:solidFill>
                  <a:srgbClr val="000000"/>
                </a:solidFill>
                <a:latin typeface="Roboto Mono" pitchFamily="34" charset="0"/>
                <a:ea typeface="Roboto Mono" pitchFamily="34" charset="-122"/>
                <a:cs typeface="Roboto Mono" pitchFamily="34" charset="-120"/>
              </a:rPr>
              <a:t> </a:t>
            </a:r>
            <a:pPr algn="l" indent="0" marL="0">
              <a:lnSpc>
                <a:spcPct val="130000"/>
              </a:lnSpc>
              <a:buNone/>
            </a:pPr>
            <a:r>
              <a:rPr lang="en-US" sz="1200" dirty="0">
                <a:solidFill>
                  <a:srgbClr val="000000"/>
                </a:solidFill>
                <a:latin typeface="Roboto Mono" pitchFamily="34" charset="0"/>
                <a:ea typeface="Roboto Mono" pitchFamily="34" charset="-122"/>
                <a:cs typeface="Roboto Mono" pitchFamily="34" charset="-120"/>
              </a:rPr>
              <a:t>numRows_</a:t>
            </a:r>
            <a:pPr algn="l" indent="0" marL="0">
              <a:lnSpc>
                <a:spcPct val="130000"/>
              </a:lnSpc>
              <a:buNone/>
            </a:pPr>
            <a:r>
              <a:rPr lang="en-US" sz="1200" dirty="0">
                <a:solidFill>
                  <a:srgbClr val="000000"/>
                </a:solidFill>
                <a:latin typeface="Roboto" pitchFamily="34" charset="0"/>
                <a:ea typeface="Roboto" pitchFamily="34" charset="-122"/>
                <a:cs typeface="Roboto" pitchFamily="34" charset="-120"/>
              </a:rPr>
              <a:t>its size</a:t>
            </a:r>
            <a:pPr algn="l" indent="0" marL="0">
              <a:lnSpc>
                <a:spcPct val="130000"/>
              </a:lnSpc>
              <a:buNone/>
            </a:pPr>
            <a:r>
              <a:rPr lang="en-US" sz="1200" dirty="0">
                <a:solidFill>
                  <a:srgbClr val="000000"/>
                </a:solidFill>
                <a:latin typeface="Roboto Mono" pitchFamily="34" charset="0"/>
                <a:ea typeface="Roboto Mono" pitchFamily="34" charset="-122"/>
                <a:cs typeface="Roboto Mono" pitchFamily="34" charset="-120"/>
              </a:rPr>
              <a:t> </a:t>
            </a:r>
            <a:pPr algn="l" indent="0" marL="0">
              <a:lnSpc>
                <a:spcPct val="130000"/>
              </a:lnSpc>
              <a:buNone/>
            </a:pPr>
            <a:r>
              <a:rPr lang="en-US" sz="1200" dirty="0">
                <a:solidFill>
                  <a:srgbClr val="000000"/>
                </a:solidFill>
                <a:latin typeface="Roboto Mono" pitchFamily="34" charset="0"/>
                <a:ea typeface="Roboto Mono" pitchFamily="34" charset="-122"/>
                <a:cs typeface="Roboto Mono" pitchFamily="34" charset="-120"/>
              </a:rPr>
              <a:t>multiplicityCol1_</a:t>
            </a:r>
            <a:pPr algn="l" indent="0" marL="0">
              <a:lnSpc>
                <a:spcPct val="130000"/>
              </a:lnSpc>
              <a:buNone/>
            </a:pPr>
            <a:r>
              <a:rPr lang="en-US" sz="1200" dirty="0">
                <a:solidFill>
                  <a:srgbClr val="000000"/>
                </a:solidFill>
                <a:latin typeface="Roboto" pitchFamily="34" charset="0"/>
                <a:ea typeface="Roboto" pitchFamily="34" charset="-122"/>
                <a:cs typeface="Roboto" pitchFamily="34" charset="-120"/>
              </a:rPr>
              <a:t>1.0 means functional</a:t>
            </a:r>
            <a:pPr algn="l" indent="0" marL="0">
              <a:lnSpc>
                <a:spcPct val="130000"/>
              </a:lnSpc>
              <a:buNone/>
            </a:pPr>
            <a:r>
              <a:rPr lang="en-US" sz="1200" dirty="0">
                <a:solidFill>
                  <a:srgbClr val="000000"/>
                </a:solidFill>
                <a:latin typeface="Roboto Mono" pitchFamily="34" charset="0"/>
                <a:ea typeface="Roboto Mono" pitchFamily="34" charset="-122"/>
                <a:cs typeface="Roboto Mono" pitchFamily="34" charset="-120"/>
              </a:rPr>
              <a:t> </a:t>
            </a:r>
            <a:pPr algn="l" indent="0" marL="0">
              <a:lnSpc>
                <a:spcPct val="130000"/>
              </a:lnSpc>
              <a:buNone/>
            </a:pPr>
            <a:r>
              <a:rPr lang="en-US" sz="1200" dirty="0">
                <a:solidFill>
                  <a:srgbClr val="000000"/>
                </a:solidFill>
                <a:latin typeface="Roboto Mono" pitchFamily="34" charset="0"/>
                <a:ea typeface="Roboto Mono" pitchFamily="34" charset="-122"/>
                <a:cs typeface="Roboto Mono" pitchFamily="34" charset="-120"/>
              </a:rPr>
              <a:t>multiplicityCol2_</a:t>
            </a:r>
            <a:pPr algn="l" indent="0" marL="0">
              <a:lnSpc>
                <a:spcPct val="130000"/>
              </a:lnSpc>
              <a:buNone/>
            </a:pPr>
            <a:r>
              <a:rPr lang="en-US" sz="1200" dirty="0">
                <a:solidFill>
                  <a:srgbClr val="000000"/>
                </a:solidFill>
                <a:latin typeface="Roboto" pitchFamily="34" charset="0"/>
                <a:ea typeface="Roboto" pitchFamily="34" charset="-122"/>
                <a:cs typeface="Roboto" pitchFamily="34" charset="-120"/>
              </a:rPr>
              <a:t>used by the planner</a:t>
            </a:r>
            <a:pPr algn="l" indent="0" marL="0">
              <a:lnSpc>
                <a:spcPct val="130000"/>
              </a:lnSpc>
              <a:buNone/>
            </a:pPr>
            <a:r>
              <a:rPr lang="en-US" sz="1200" dirty="0">
                <a:solidFill>
                  <a:srgbClr val="000000"/>
                </a:solidFill>
                <a:latin typeface="Roboto Mono" pitchFamily="34" charset="0"/>
                <a:ea typeface="Roboto Mono" pitchFamily="34" charset="-122"/>
                <a:cs typeface="Roboto Mono" pitchFamily="34" charset="-120"/>
              </a:rPr>
              <a:t> </a:t>
            </a:r>
            <a:pPr algn="l" indent="0" marL="0">
              <a:lnSpc>
                <a:spcPct val="130000"/>
              </a:lnSpc>
              <a:buNone/>
            </a:pPr>
            <a:r>
              <a:rPr lang="en-US" sz="1200" dirty="0">
                <a:solidFill>
                  <a:srgbClr val="000000"/>
                </a:solidFill>
                <a:latin typeface="Roboto Mono" pitchFamily="34" charset="0"/>
                <a:ea typeface="Roboto Mono" pitchFamily="34" charset="-122"/>
                <a:cs typeface="Roboto Mono" pitchFamily="34" charset="-120"/>
              </a:rPr>
              <a:t>offsetInBlock_</a:t>
            </a:r>
            <a:pPr algn="l" indent="0" marL="0">
              <a:lnSpc>
                <a:spcPct val="130000"/>
              </a:lnSpc>
              <a:buNone/>
            </a:pPr>
            <a:r>
              <a:rPr lang="en-US" sz="1200" dirty="0">
                <a:solidFill>
                  <a:srgbClr val="000000"/>
                </a:solidFill>
                <a:latin typeface="Roboto" pitchFamily="34" charset="0"/>
                <a:ea typeface="Roboto" pitchFamily="34" charset="-122"/>
                <a:cs typeface="Roboto" pitchFamily="34" charset="-120"/>
              </a:rPr>
              <a:t>where it starts inside a shared block</a:t>
            </a:r>
            <a:pPr algn="l" indent="0" marL="0">
              <a:lnSpc>
                <a:spcPct val="130000"/>
              </a:lnSpc>
              <a:buNone/>
            </a:pPr>
            <a:r>
              <a:rPr lang="en-US" sz="1200" dirty="0">
                <a:solidFill>
                  <a:srgbClr val="000000"/>
                </a:solidFill>
                <a:latin typeface="Roboto Mono" pitchFamily="34" charset="0"/>
                <a:ea typeface="Roboto Mono" pitchFamily="34" charset="-122"/>
                <a:cs typeface="Roboto Mono" pitchFamily="34" charset="-120"/>
              </a:rPr>
              <a:t> </a:t>
            </a:r>
            <a:pPr algn="l" indent="0" marL="0">
              <a:lnSpc>
                <a:spcPct val="130000"/>
              </a:lnSpc>
              <a:buNone/>
            </a:pPr>
            <a:r>
              <a:rPr lang="en-US" sz="1200" dirty="0">
                <a:solidFill>
                  <a:srgbClr val="000000"/>
                </a:solidFill>
                <a:latin typeface="Roboto Mono" pitchFamily="34" charset="0"/>
                <a:ea typeface="Roboto Mono" pitchFamily="34" charset="-122"/>
                <a:cs typeface="Roboto Mono" pitchFamily="34" charset="-120"/>
              </a:rPr>
              <a:t>= uint64 max</a:t>
            </a:r>
            <a:pPr algn="l" indent="0" marL="0">
              <a:lnSpc>
                <a:spcPct val="130000"/>
              </a:lnSpc>
              <a:buNone/>
            </a:pPr>
            <a:r>
              <a:rPr lang="en-US" sz="1200" dirty="0">
                <a:solidFill>
                  <a:srgbClr val="000000"/>
                </a:solidFill>
                <a:latin typeface="Roboto" pitchFamily="34" charset="0"/>
                <a:ea typeface="Roboto" pitchFamily="34" charset="-122"/>
                <a:cs typeface="Roboto" pitchFamily="34" charset="-120"/>
              </a:rPr>
              <a:t>means: it owns its blocks</a:t>
            </a:r>
            <a:pPr algn="l" indent="0" marL="0">
              <a:lnSpc>
                <a:spcPct val="130000"/>
              </a:lnSpc>
              <a:buNone/>
            </a:pPr>
            <a:r>
              <a:rPr lang="en-US" sz="1200" dirty="0">
                <a:solidFill>
                  <a:srgbClr val="000000"/>
                </a:solidFill>
                <a:latin typeface="Roboto Mono" pitchFamily="34" charset="0"/>
                <a:ea typeface="Roboto Mono" pitchFamily="34" charset="-122"/>
                <a:cs typeface="Roboto Mono" pitchFamily="34" charset="-120"/>
              </a:rPr>
              <a:t> </a:t>
            </a:r>
            <a:endParaRPr lang="en-US" sz="1200" dirty="0"/>
          </a:p>
        </p:txBody>
      </p:sp>
      <p:sp>
        <p:nvSpPr>
          <p:cNvPr id="12" name="Text 9"/>
          <p:cNvSpPr txBox="1"/>
          <p:nvPr/>
        </p:nvSpPr>
        <p:spPr>
          <a:xfrm>
            <a:off x="660400" y="2723540"/>
            <a:ext cx="10871200" cy="633679"/>
          </a:xfrm>
          <a:prstGeom prst="rect">
            <a:avLst/>
          </a:prstGeom>
          <a:noFill/>
          <a:ln/>
        </p:spPr>
        <p:txBody>
          <a:bodyPr wrap="square" lIns="0" tIns="0" rIns="0" bIns="0" rtlCol="0" anchor="t"/>
          <a:lstStyle/>
          <a:p>
            <a:pPr algn="l" indent="0" marL="0">
              <a:lnSpc>
                <a:spcPct val="140000"/>
              </a:lnSpc>
              <a:buNone/>
            </a:pPr>
            <a:r>
              <a:rPr lang="en-US" sz="1650" b="1" dirty="0">
                <a:solidFill>
                  <a:srgbClr val="000000"/>
                </a:solidFill>
                <a:latin typeface="Roboto" pitchFamily="34" charset="0"/>
                <a:ea typeface="Roboto" pitchFamily="34" charset="-122"/>
                <a:cs typeface="Roboto" pitchFamily="34" charset="-120"/>
              </a:rPr>
              <a:t>Every block’s </a:t>
            </a:r>
            <a:pPr algn="l" indent="0" marL="0">
              <a:lnSpc>
                <a:spcPct val="140000"/>
              </a:lnSpc>
              <a:buNone/>
            </a:pPr>
            <a:r>
              <a:rPr lang="en-US" sz="1650" b="1" dirty="0">
                <a:solidFill>
                  <a:srgbClr val="FF0000"/>
                </a:solidFill>
                <a:latin typeface="Roboto" pitchFamily="34" charset="0"/>
                <a:ea typeface="Roboto" pitchFamily="34" charset="-122"/>
                <a:cs typeface="Roboto" pitchFamily="34" charset="-120"/>
              </a:rPr>
              <a:t>numRows_</a:t>
            </a:r>
            <a:pPr algn="l" indent="0" marL="0">
              <a:lnSpc>
                <a:spcPct val="140000"/>
              </a:lnSpc>
              <a:buNone/>
            </a:pPr>
            <a:r>
              <a:rPr lang="en-US" sz="1650" b="1" dirty="0">
                <a:solidFill>
                  <a:srgbClr val="000000"/>
                </a:solidFill>
                <a:latin typeface="Roboto" pitchFamily="34" charset="0"/>
                <a:ea typeface="Roboto" pitchFamily="34" charset="-122"/>
                <a:cs typeface="Roboto" pitchFamily="34" charset="-120"/>
              </a:rPr>
              <a:t> is </a:t>
            </a:r>
            <a:pPr algn="l" indent="0" marL="0">
              <a:lnSpc>
                <a:spcPct val="140000"/>
              </a:lnSpc>
              <a:buNone/>
            </a:pPr>
            <a:r>
              <a:rPr lang="en-US" sz="1650" b="1" dirty="0">
                <a:solidFill>
                  <a:srgbClr val="38761D"/>
                </a:solidFill>
                <a:latin typeface="Roboto" pitchFamily="34" charset="0"/>
                <a:ea typeface="Roboto" pitchFamily="34" charset="-122"/>
                <a:cs typeface="Roboto" pitchFamily="34" charset="-120"/>
              </a:rPr>
              <a:t>exact and already in memory</a:t>
            </a:r>
            <a:pPr algn="l" indent="0" marL="0">
              <a:lnSpc>
                <a:spcPct val="140000"/>
              </a:lnSpc>
              <a:buNone/>
            </a:pPr>
            <a:r>
              <a:rPr lang="en-US" sz="1650" b="1" dirty="0">
                <a:solidFill>
                  <a:srgbClr val="000000"/>
                </a:solidFill>
                <a:latin typeface="Roboto" pitchFamily="34" charset="0"/>
                <a:ea typeface="Roboto" pitchFamily="34" charset="-122"/>
                <a:cs typeface="Roboto" pitchFamily="34" charset="-120"/>
              </a:rPr>
              <a:t> — the whole offset mechanism rests on that one field.</a:t>
            </a:r>
            <a:endParaRPr lang="en-US" sz="1650" dirty="0"/>
          </a:p>
        </p:txBody>
      </p:sp>
      <p:sp>
        <p:nvSpPr>
          <p:cNvPr id="13" name="Text 10"/>
          <p:cNvSpPr txBox="1"/>
          <p:nvPr/>
        </p:nvSpPr>
        <p:spPr>
          <a:xfrm>
            <a:off x="660400" y="3496920"/>
            <a:ext cx="10871200" cy="268491"/>
          </a:xfrm>
          <a:prstGeom prst="rect">
            <a:avLst/>
          </a:prstGeom>
          <a:noFill/>
          <a:ln/>
        </p:spPr>
        <p:txBody>
          <a:bodyPr wrap="square" lIns="0" tIns="0" rIns="0" bIns="0" rtlCol="0" anchor="t"/>
          <a:lstStyle/>
          <a:p>
            <a:pPr algn="l" indent="0" marL="0">
              <a:lnSpc>
                <a:spcPct val="135000"/>
              </a:lnSpc>
              <a:buNone/>
            </a:pPr>
            <a:r>
              <a:rPr lang="en-US" sz="1450" dirty="0">
                <a:solidFill>
                  <a:srgbClr val="000000"/>
                </a:solidFill>
                <a:latin typeface="Roboto" pitchFamily="34" charset="0"/>
                <a:ea typeface="Roboto" pitchFamily="34" charset="-122"/>
                <a:cs typeface="Roboto" pitchFamily="34" charset="-120"/>
              </a:rPr>
              <a:t>366 blocks for PSO, 234 for SPO, 249 for OPS: a few thousand records for a ten-million-triple index.</a:t>
            </a:r>
            <a:endParaRPr lang="en-US" sz="14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155700"/>
          </a:xfrm>
          <a:prstGeom prst="rect">
            <a:avLst/>
          </a:prstGeom>
          <a:solidFill>
            <a:srgbClr val="0084D1"/>
          </a:solidFill>
          <a:ln/>
        </p:spPr>
      </p:sp>
      <p:sp>
        <p:nvSpPr>
          <p:cNvPr id="3" name="Text 1"/>
          <p:cNvSpPr txBox="1"/>
          <p:nvPr/>
        </p:nvSpPr>
        <p:spPr>
          <a:xfrm>
            <a:off x="0" y="228600"/>
            <a:ext cx="12192000" cy="934720"/>
          </a:xfrm>
          <a:prstGeom prst="rect">
            <a:avLst/>
          </a:prstGeom>
          <a:noFill/>
          <a:ln/>
        </p:spPr>
        <p:txBody>
          <a:bodyPr wrap="square" lIns="0" tIns="0" rIns="0" bIns="0" rtlCol="0" anchor="t"/>
          <a:lstStyle/>
          <a:p>
            <a:pPr algn="ctr" indent="0" marL="0">
              <a:lnSpc>
                <a:spcPct val="110000"/>
              </a:lnSpc>
              <a:buNone/>
            </a:pPr>
            <a:r>
              <a:rPr lang="en-US" sz="4600" b="1" dirty="0">
                <a:solidFill>
                  <a:srgbClr val="FFFFFF"/>
                </a:solidFill>
                <a:latin typeface="Roboto Slab" pitchFamily="34" charset="0"/>
                <a:ea typeface="Roboto Slab" pitchFamily="34" charset="-122"/>
                <a:cs typeface="Roboto Slab" pitchFamily="34" charset="-120"/>
              </a:rPr>
              <a:t>A scan, step by step</a:t>
            </a:r>
            <a:endParaRPr lang="en-US" sz="4600" dirty="0"/>
          </a:p>
        </p:txBody>
      </p:sp>
      <p:sp>
        <p:nvSpPr>
          <p:cNvPr id="4" name="Text 2"/>
          <p:cNvSpPr txBox="1"/>
          <p:nvPr/>
        </p:nvSpPr>
        <p:spPr>
          <a:xfrm>
            <a:off x="10795000" y="6347460"/>
            <a:ext cx="889000" cy="264160"/>
          </a:xfrm>
          <a:prstGeom prst="rect">
            <a:avLst/>
          </a:prstGeom>
          <a:noFill/>
          <a:ln/>
        </p:spPr>
        <p:txBody>
          <a:bodyPr wrap="square" lIns="0" tIns="0" rIns="0" bIns="0" rtlCol="0" anchor="t"/>
          <a:lstStyle/>
          <a:p>
            <a:pPr algn="r" indent="0" marL="0">
              <a:lnSpc>
                <a:spcPct val="120000"/>
              </a:lnSpc>
              <a:buNone/>
            </a:pPr>
            <a:r>
              <a:rPr lang="en-US" sz="1300" dirty="0">
                <a:solidFill>
                  <a:srgbClr val="595959"/>
                </a:solidFill>
                <a:latin typeface="Roboto" pitchFamily="34" charset="0"/>
                <a:ea typeface="Roboto" pitchFamily="34" charset="-122"/>
                <a:cs typeface="Roboto" pitchFamily="34" charset="-120"/>
              </a:rPr>
              <a:t>11</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60400" y="1358900"/>
          <a:ext cx="10871200" cy="914400"/>
        </p:xfrm>
        <a:graphic>
          <a:graphicData uri="http://schemas.openxmlformats.org/drawingml/2006/table">
            <a:tbl>
              <a:tblPr/>
              <a:tblGrid>
                <a:gridCol w="869696"/>
                <a:gridCol w="5218176"/>
                <a:gridCol w="4783328"/>
              </a:tblGrid>
              <a:tr h="0">
                <a:tc>
                  <a:txBody>
                    <a:bodyPr/>
                    <a:lstStyle/>
                    <a:p>
                      <a:pPr algn="l" indent="0" marL="0">
                        <a:buNone/>
                      </a:pPr>
                      <a:r>
                        <a:rPr lang="en-US" sz="1460" b="1" dirty="0">
                          <a:solidFill>
                            <a:srgbClr val="FFFFFF"/>
                          </a:solidFill>
                          <a:latin typeface="Roboto" pitchFamily="34" charset="0"/>
                          <a:ea typeface="Roboto" pitchFamily="34" charset="-122"/>
                          <a:cs typeface="Roboto" pitchFamily="34" charset="-120"/>
                        </a:rPr>
                        <a:t>#</a:t>
                      </a:r>
                      <a:endParaRPr lang="en-US" sz="1460" dirty="0">
                        <a:latin typeface="Roboto" charset="0"/>
                        <a:ea typeface="Roboto" charset="0"/>
                        <a:cs typeface="Roboto" charset="0"/>
                      </a:endParaRPr>
                    </a:p>
                  </a:txBody>
                  <a:tcPr marL="92693" marR="92693" marT="92693" marB="92693"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84D1"/>
                    </a:solidFill>
                  </a:tcPr>
                </a:tc>
                <a:tc>
                  <a:txBody>
                    <a:bodyPr/>
                    <a:lstStyle/>
                    <a:p>
                      <a:pPr algn="l" indent="0" marL="0">
                        <a:buNone/>
                      </a:pPr>
                      <a:r>
                        <a:rPr lang="en-US" sz="1460" b="1" dirty="0">
                          <a:solidFill>
                            <a:srgbClr val="FFFFFF"/>
                          </a:solidFill>
                          <a:latin typeface="Roboto" pitchFamily="34" charset="0"/>
                          <a:ea typeface="Roboto" pitchFamily="34" charset="-122"/>
                          <a:cs typeface="Roboto" pitchFamily="34" charset="-120"/>
                        </a:rPr>
                        <a:t>what happens</a:t>
                      </a:r>
                      <a:endParaRPr lang="en-US" sz="1460" dirty="0">
                        <a:latin typeface="Roboto" charset="0"/>
                        <a:ea typeface="Roboto" charset="0"/>
                        <a:cs typeface="Roboto" charset="0"/>
                      </a:endParaRPr>
                    </a:p>
                  </a:txBody>
                  <a:tcPr marL="92693" marR="92693" marT="92693" marB="92693"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84D1"/>
                    </a:solidFill>
                  </a:tcPr>
                </a:tc>
                <a:tc>
                  <a:txBody>
                    <a:bodyPr/>
                    <a:lstStyle/>
                    <a:p>
                      <a:pPr algn="l" indent="0" marL="0">
                        <a:buNone/>
                      </a:pPr>
                      <a:r>
                        <a:rPr lang="en-US" sz="1460" b="1" dirty="0">
                          <a:solidFill>
                            <a:srgbClr val="FFFFFF"/>
                          </a:solidFill>
                          <a:latin typeface="Roboto" pitchFamily="34" charset="0"/>
                          <a:ea typeface="Roboto" pitchFamily="34" charset="-122"/>
                          <a:cs typeface="Roboto" pitchFamily="34" charset="-120"/>
                        </a:rPr>
                        <a:t>cost</a:t>
                      </a:r>
                      <a:endParaRPr lang="en-US" sz="1460" dirty="0">
                        <a:latin typeface="Roboto" charset="0"/>
                        <a:ea typeface="Roboto" charset="0"/>
                        <a:cs typeface="Roboto" charset="0"/>
                      </a:endParaRPr>
                    </a:p>
                  </a:txBody>
                  <a:tcPr marL="92693" marR="92693" marT="92693" marB="92693"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84D1"/>
                    </a:solidFill>
                  </a:tcPr>
                </a:tc>
              </a:tr>
              <a:tr h="0">
                <a:tc>
                  <a:txBody>
                    <a:bodyPr/>
                    <a:lstStyle/>
                    <a:p>
                      <a:pPr algn="l" indent="0" marL="0">
                        <a:buNone/>
                      </a:pPr>
                      <a:r>
                        <a:rPr lang="en-US" sz="1460" b="1" dirty="0">
                          <a:solidFill>
                            <a:srgbClr val="000000"/>
                          </a:solidFill>
                          <a:latin typeface="Roboto" pitchFamily="34" charset="0"/>
                          <a:ea typeface="Roboto" pitchFamily="34" charset="-122"/>
                          <a:cs typeface="Roboto" pitchFamily="34" charset="-120"/>
                        </a:rPr>
                        <a:t>1</a:t>
                      </a:r>
                      <a:endParaRPr lang="en-US" sz="1460" dirty="0">
                        <a:latin typeface="Roboto" charset="0"/>
                        <a:ea typeface="Roboto" charset="0"/>
                        <a:cs typeface="Roboto" charset="0"/>
                      </a:endParaRPr>
                    </a:p>
                  </a:txBody>
                  <a:tcPr marL="92693" marR="92693" marT="92693" marB="92693"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460" dirty="0">
                          <a:solidFill>
                            <a:srgbClr val="000000"/>
                          </a:solidFill>
                          <a:latin typeface="Roboto" pitchFamily="34" charset="0"/>
                          <a:ea typeface="Roboto" pitchFamily="34" charset="-122"/>
                          <a:cs typeface="Roboto" pitchFamily="34" charset="-120"/>
                        </a:rPr>
                        <a:t>Resolve each bound component to an </a:t>
                      </a:r>
                      <a:pPr algn="l" indent="0" marL="0">
                        <a:buNone/>
                      </a:pPr>
                      <a:r>
                        <a:rPr lang="en-US" sz="1460" b="1" dirty="0">
                          <a:solidFill>
                            <a:srgbClr val="000000"/>
                          </a:solidFill>
                          <a:latin typeface="Roboto" pitchFamily="34" charset="0"/>
                          <a:ea typeface="Roboto" pitchFamily="34" charset="-122"/>
                          <a:cs typeface="Roboto" pitchFamily="34" charset="-120"/>
                        </a:rPr>
                        <a:t>Id</a:t>
                      </a:r>
                      <a:pPr algn="l" indent="0" marL="0">
                        <a:buNone/>
                      </a:pPr>
                      <a:r>
                        <a:rPr lang="en-US" sz="1460" dirty="0">
                          <a:solidFill>
                            <a:srgbClr val="000000"/>
                          </a:solidFill>
                          <a:latin typeface="Roboto" pitchFamily="34" charset="0"/>
                          <a:ea typeface="Roboto" pitchFamily="34" charset="-122"/>
                          <a:cs typeface="Roboto" pitchFamily="34" charset="-120"/>
                        </a:rPr>
                        <a:t> in the vocabulary</a:t>
                      </a:r>
                      <a:endParaRPr lang="en-US" sz="1460" dirty="0">
                        <a:latin typeface="Roboto" charset="0"/>
                        <a:ea typeface="Roboto" charset="0"/>
                        <a:cs typeface="Roboto" charset="0"/>
                      </a:endParaRPr>
                    </a:p>
                  </a:txBody>
                  <a:tcPr marL="92693" marR="92693" marT="92693" marB="92693"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460" dirty="0">
                          <a:solidFill>
                            <a:srgbClr val="38761D"/>
                          </a:solidFill>
                          <a:latin typeface="Roboto" pitchFamily="34" charset="0"/>
                          <a:ea typeface="Roboto" pitchFamily="34" charset="-122"/>
                          <a:cs typeface="Roboto" pitchFamily="34" charset="-120"/>
                        </a:rPr>
                        <a:t>a lookup</a:t>
                      </a:r>
                      <a:endParaRPr lang="en-US" sz="1460" dirty="0">
                        <a:latin typeface="Roboto" charset="0"/>
                        <a:ea typeface="Roboto" charset="0"/>
                        <a:cs typeface="Roboto" charset="0"/>
                      </a:endParaRPr>
                    </a:p>
                  </a:txBody>
                  <a:tcPr marL="92693" marR="92693" marT="92693" marB="92693"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0">
                <a:tc>
                  <a:txBody>
                    <a:bodyPr/>
                    <a:lstStyle/>
                    <a:p>
                      <a:pPr algn="l" indent="0" marL="0">
                        <a:buNone/>
                      </a:pPr>
                      <a:r>
                        <a:rPr lang="en-US" sz="1460" b="1" dirty="0">
                          <a:solidFill>
                            <a:srgbClr val="000000"/>
                          </a:solidFill>
                          <a:latin typeface="Roboto" pitchFamily="34" charset="0"/>
                          <a:ea typeface="Roboto" pitchFamily="34" charset="-122"/>
                          <a:cs typeface="Roboto" pitchFamily="34" charset="-120"/>
                        </a:rPr>
                        <a:t>2</a:t>
                      </a:r>
                      <a:endParaRPr lang="en-US" sz="1460" dirty="0">
                        <a:latin typeface="Roboto" charset="0"/>
                        <a:ea typeface="Roboto" charset="0"/>
                        <a:cs typeface="Roboto" charset="0"/>
                      </a:endParaRPr>
                    </a:p>
                  </a:txBody>
                  <a:tcPr marL="92693" marR="92693" marT="92693" marB="92693"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460" dirty="0">
                          <a:solidFill>
                            <a:srgbClr val="000000"/>
                          </a:solidFill>
                          <a:latin typeface="Roboto" pitchFamily="34" charset="0"/>
                          <a:ea typeface="Roboto" pitchFamily="34" charset="-122"/>
                          <a:cs typeface="Roboto" pitchFamily="34" charset="-120"/>
                        </a:rPr>
                        <a:t>Pick the permutation whose key order puts them first</a:t>
                      </a:r>
                      <a:endParaRPr lang="en-US" sz="1460" dirty="0">
                        <a:latin typeface="Roboto" charset="0"/>
                        <a:ea typeface="Roboto" charset="0"/>
                        <a:cs typeface="Roboto" charset="0"/>
                      </a:endParaRPr>
                    </a:p>
                  </a:txBody>
                  <a:tcPr marL="92693" marR="92693" marT="92693" marB="92693"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460" dirty="0">
                          <a:solidFill>
                            <a:srgbClr val="38761D"/>
                          </a:solidFill>
                          <a:latin typeface="Roboto" pitchFamily="34" charset="0"/>
                          <a:ea typeface="Roboto" pitchFamily="34" charset="-122"/>
                          <a:cs typeface="Roboto" pitchFamily="34" charset="-120"/>
                        </a:rPr>
                        <a:t>free</a:t>
                      </a:r>
                      <a:endParaRPr lang="en-US" sz="1460" dirty="0">
                        <a:latin typeface="Roboto" charset="0"/>
                        <a:ea typeface="Roboto" charset="0"/>
                        <a:cs typeface="Roboto" charset="0"/>
                      </a:endParaRPr>
                    </a:p>
                  </a:txBody>
                  <a:tcPr marL="92693" marR="92693" marT="92693" marB="92693"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0">
                <a:tc>
                  <a:txBody>
                    <a:bodyPr/>
                    <a:lstStyle/>
                    <a:p>
                      <a:pPr algn="l" indent="0" marL="0">
                        <a:buNone/>
                      </a:pPr>
                      <a:r>
                        <a:rPr lang="en-US" sz="1460" b="1" dirty="0">
                          <a:solidFill>
                            <a:srgbClr val="000000"/>
                          </a:solidFill>
                          <a:latin typeface="Roboto" pitchFamily="34" charset="0"/>
                          <a:ea typeface="Roboto" pitchFamily="34" charset="-122"/>
                          <a:cs typeface="Roboto" pitchFamily="34" charset="-120"/>
                        </a:rPr>
                        <a:t>3</a:t>
                      </a:r>
                      <a:endParaRPr lang="en-US" sz="1460" dirty="0">
                        <a:latin typeface="Roboto" charset="0"/>
                        <a:ea typeface="Roboto" charset="0"/>
                        <a:cs typeface="Roboto" charset="0"/>
                      </a:endParaRPr>
                    </a:p>
                  </a:txBody>
                  <a:tcPr marL="92693" marR="92693" marT="92693" marB="92693"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460" dirty="0">
                          <a:solidFill>
                            <a:srgbClr val="000000"/>
                          </a:solidFill>
                          <a:latin typeface="Roboto" pitchFamily="34" charset="0"/>
                          <a:ea typeface="Roboto" pitchFamily="34" charset="-122"/>
                          <a:cs typeface="Roboto" pitchFamily="34" charset="-120"/>
                        </a:rPr>
                        <a:t>Binary-search </a:t>
                      </a:r>
                      <a:pPr algn="l" indent="0" marL="0">
                        <a:buNone/>
                      </a:pPr>
                      <a:r>
                        <a:rPr lang="en-US" sz="1460" dirty="0">
                          <a:solidFill>
                            <a:srgbClr val="000000"/>
                          </a:solidFill>
                          <a:latin typeface="Roboto Mono" pitchFamily="34" charset="0"/>
                          <a:ea typeface="Roboto Mono" pitchFamily="34" charset="-122"/>
                          <a:cs typeface="Roboto Mono" pitchFamily="34" charset="-120"/>
                        </a:rPr>
                        <a:t>firstTriple_</a:t>
                      </a:r>
                      <a:pPr algn="l" indent="0" marL="0">
                        <a:buNone/>
                      </a:pPr>
                      <a:r>
                        <a:rPr lang="en-US" sz="1460" dirty="0">
                          <a:solidFill>
                            <a:srgbClr val="000000"/>
                          </a:solidFill>
                          <a:latin typeface="Roboto" pitchFamily="34" charset="0"/>
                          <a:ea typeface="Roboto" pitchFamily="34" charset="-122"/>
                          <a:cs typeface="Roboto" pitchFamily="34" charset="-120"/>
                        </a:rPr>
                        <a:t> / </a:t>
                      </a:r>
                      <a:pPr algn="l" indent="0" marL="0">
                        <a:buNone/>
                      </a:pPr>
                      <a:r>
                        <a:rPr lang="en-US" sz="1460" dirty="0">
                          <a:solidFill>
                            <a:srgbClr val="000000"/>
                          </a:solidFill>
                          <a:latin typeface="Roboto Mono" pitchFamily="34" charset="0"/>
                          <a:ea typeface="Roboto Mono" pitchFamily="34" charset="-122"/>
                          <a:cs typeface="Roboto Mono" pitchFamily="34" charset="-120"/>
                        </a:rPr>
                        <a:t>lastTriple_</a:t>
                      </a:r>
                      <a:pPr algn="l" indent="0" marL="0">
                        <a:buNone/>
                      </a:pPr>
                      <a:r>
                        <a:rPr lang="en-US" sz="1460" dirty="0">
                          <a:solidFill>
                            <a:srgbClr val="000000"/>
                          </a:solidFill>
                          <a:latin typeface="Roboto" pitchFamily="34" charset="0"/>
                          <a:ea typeface="Roboto" pitchFamily="34" charset="-122"/>
                          <a:cs typeface="Roboto" pitchFamily="34" charset="-120"/>
                        </a:rPr>
                        <a:t> for the block range</a:t>
                      </a:r>
                      <a:endParaRPr lang="en-US" sz="1460" dirty="0">
                        <a:latin typeface="Roboto" charset="0"/>
                        <a:ea typeface="Roboto" charset="0"/>
                        <a:cs typeface="Roboto" charset="0"/>
                      </a:endParaRPr>
                    </a:p>
                  </a:txBody>
                  <a:tcPr marL="92693" marR="92693" marT="92693" marB="92693"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460" dirty="0">
                          <a:solidFill>
                            <a:srgbClr val="38761D"/>
                          </a:solidFill>
                          <a:latin typeface="Roboto" pitchFamily="34" charset="0"/>
                          <a:ea typeface="Roboto" pitchFamily="34" charset="-122"/>
                          <a:cs typeface="Roboto" pitchFamily="34" charset="-120"/>
                        </a:rPr>
                        <a:t>in RAM, no I/O</a:t>
                      </a:r>
                      <a:endParaRPr lang="en-US" sz="1460" dirty="0">
                        <a:latin typeface="Roboto" charset="0"/>
                        <a:ea typeface="Roboto" charset="0"/>
                        <a:cs typeface="Roboto" charset="0"/>
                      </a:endParaRPr>
                    </a:p>
                  </a:txBody>
                  <a:tcPr marL="92693" marR="92693" marT="92693" marB="92693"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0">
                <a:tc>
                  <a:txBody>
                    <a:bodyPr/>
                    <a:lstStyle/>
                    <a:p>
                      <a:pPr algn="l" indent="0" marL="0">
                        <a:buNone/>
                      </a:pPr>
                      <a:r>
                        <a:rPr lang="en-US" sz="1460" b="1" dirty="0">
                          <a:solidFill>
                            <a:srgbClr val="000000"/>
                          </a:solidFill>
                          <a:latin typeface="Roboto" pitchFamily="34" charset="0"/>
                          <a:ea typeface="Roboto" pitchFamily="34" charset="-122"/>
                          <a:cs typeface="Roboto" pitchFamily="34" charset="-120"/>
                        </a:rPr>
                        <a:t>4</a:t>
                      </a:r>
                      <a:endParaRPr lang="en-US" sz="1460" dirty="0">
                        <a:latin typeface="Roboto" charset="0"/>
                        <a:ea typeface="Roboto" charset="0"/>
                        <a:cs typeface="Roboto" charset="0"/>
                      </a:endParaRPr>
                    </a:p>
                  </a:txBody>
                  <a:tcPr marL="92693" marR="92693" marT="92693" marB="92693"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2CC"/>
                    </a:solidFill>
                  </a:tcPr>
                </a:tc>
                <a:tc>
                  <a:txBody>
                    <a:bodyPr/>
                    <a:lstStyle/>
                    <a:p>
                      <a:pPr algn="l" indent="0" marL="0">
                        <a:buNone/>
                      </a:pPr>
                      <a:r>
                        <a:rPr lang="en-US" sz="1460" b="1" dirty="0">
                          <a:solidFill>
                            <a:srgbClr val="000000"/>
                          </a:solidFill>
                          <a:latin typeface="Roboto" pitchFamily="34" charset="0"/>
                          <a:ea typeface="Roboto" pitchFamily="34" charset="-122"/>
                          <a:cs typeface="Roboto" pitchFamily="34" charset="-120"/>
                        </a:rPr>
                        <a:t>Walk </a:t>
                      </a:r>
                      <a:pPr algn="l" indent="0" marL="0">
                        <a:buNone/>
                      </a:pPr>
                      <a:r>
                        <a:rPr lang="en-US" sz="1460" b="1" dirty="0">
                          <a:solidFill>
                            <a:srgbClr val="000000"/>
                          </a:solidFill>
                          <a:latin typeface="Roboto Mono" pitchFamily="34" charset="0"/>
                          <a:ea typeface="Roboto Mono" pitchFamily="34" charset="-122"/>
                          <a:cs typeface="Roboto Mono" pitchFamily="34" charset="-120"/>
                        </a:rPr>
                        <a:t>numRows_</a:t>
                      </a:r>
                      <a:pPr algn="l" indent="0" marL="0">
                        <a:buNone/>
                      </a:pPr>
                      <a:r>
                        <a:rPr lang="en-US" sz="1460" b="1" dirty="0">
                          <a:solidFill>
                            <a:srgbClr val="000000"/>
                          </a:solidFill>
                          <a:latin typeface="Roboto" pitchFamily="34" charset="0"/>
                          <a:ea typeface="Roboto" pitchFamily="34" charset="-122"/>
                          <a:cs typeface="Roboto" pitchFamily="34" charset="-120"/>
                        </a:rPr>
                        <a:t> to the block holding the offset</a:t>
                      </a:r>
                      <a:endParaRPr lang="en-US" sz="1460" dirty="0">
                        <a:latin typeface="Roboto" charset="0"/>
                        <a:ea typeface="Roboto" charset="0"/>
                        <a:cs typeface="Roboto" charset="0"/>
                      </a:endParaRPr>
                    </a:p>
                  </a:txBody>
                  <a:tcPr marL="92693" marR="92693" marT="92693" marB="92693"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2CC"/>
                    </a:solidFill>
                  </a:tcPr>
                </a:tc>
                <a:tc>
                  <a:txBody>
                    <a:bodyPr/>
                    <a:lstStyle/>
                    <a:p>
                      <a:pPr algn="l" indent="0" marL="0">
                        <a:buNone/>
                      </a:pPr>
                      <a:r>
                        <a:rPr lang="en-US" sz="1460" b="1" dirty="0">
                          <a:solidFill>
                            <a:srgbClr val="000000"/>
                          </a:solidFill>
                          <a:latin typeface="Roboto" pitchFamily="34" charset="0"/>
                          <a:ea typeface="Roboto" pitchFamily="34" charset="-122"/>
                          <a:cs typeface="Roboto" pitchFamily="34" charset="-120"/>
                        </a:rPr>
                        <a:t>in RAM — this is the patch</a:t>
                      </a:r>
                      <a:endParaRPr lang="en-US" sz="1460" dirty="0">
                        <a:latin typeface="Roboto" charset="0"/>
                        <a:ea typeface="Roboto" charset="0"/>
                        <a:cs typeface="Roboto" charset="0"/>
                      </a:endParaRPr>
                    </a:p>
                  </a:txBody>
                  <a:tcPr marL="92693" marR="92693" marT="92693" marB="92693"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2CC"/>
                    </a:solidFill>
                  </a:tcPr>
                </a:tc>
              </a:tr>
              <a:tr h="0">
                <a:tc>
                  <a:txBody>
                    <a:bodyPr/>
                    <a:lstStyle/>
                    <a:p>
                      <a:pPr algn="l" indent="0" marL="0">
                        <a:buNone/>
                      </a:pPr>
                      <a:r>
                        <a:rPr lang="en-US" sz="1460" b="1" dirty="0">
                          <a:solidFill>
                            <a:srgbClr val="000000"/>
                          </a:solidFill>
                          <a:latin typeface="Roboto" pitchFamily="34" charset="0"/>
                          <a:ea typeface="Roboto" pitchFamily="34" charset="-122"/>
                          <a:cs typeface="Roboto" pitchFamily="34" charset="-120"/>
                        </a:rPr>
                        <a:t>5</a:t>
                      </a:r>
                      <a:endParaRPr lang="en-US" sz="1460" dirty="0">
                        <a:latin typeface="Roboto" charset="0"/>
                        <a:ea typeface="Roboto" charset="0"/>
                        <a:cs typeface="Roboto" charset="0"/>
                      </a:endParaRPr>
                    </a:p>
                  </a:txBody>
                  <a:tcPr marL="92693" marR="92693" marT="92693" marB="92693"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460" dirty="0">
                          <a:solidFill>
                            <a:srgbClr val="000000"/>
                          </a:solidFill>
                          <a:latin typeface="Roboto" pitchFamily="34" charset="0"/>
                          <a:ea typeface="Roboto" pitchFamily="34" charset="-122"/>
                          <a:cs typeface="Roboto" pitchFamily="34" charset="-120"/>
                        </a:rPr>
                        <a:t>Read and </a:t>
                      </a:r>
                      <a:pPr algn="l" indent="0" marL="0">
                        <a:buNone/>
                      </a:pPr>
                      <a:r>
                        <a:rPr lang="en-US" sz="1460" b="1" dirty="0">
                          <a:solidFill>
                            <a:srgbClr val="000000"/>
                          </a:solidFill>
                          <a:latin typeface="Roboto" pitchFamily="34" charset="0"/>
                          <a:ea typeface="Roboto" pitchFamily="34" charset="-122"/>
                          <a:cs typeface="Roboto" pitchFamily="34" charset="-120"/>
                        </a:rPr>
                        <a:t>decompress</a:t>
                      </a:r>
                      <a:pPr algn="l" indent="0" marL="0">
                        <a:buNone/>
                      </a:pPr>
                      <a:r>
                        <a:rPr lang="en-US" sz="1460" dirty="0">
                          <a:solidFill>
                            <a:srgbClr val="000000"/>
                          </a:solidFill>
                          <a:latin typeface="Roboto" pitchFamily="34" charset="0"/>
                          <a:ea typeface="Roboto" pitchFamily="34" charset="-122"/>
                          <a:cs typeface="Roboto" pitchFamily="34" charset="-120"/>
                        </a:rPr>
                        <a:t> that block’s needed columns</a:t>
                      </a:r>
                      <a:endParaRPr lang="en-US" sz="1460" dirty="0">
                        <a:latin typeface="Roboto" charset="0"/>
                        <a:ea typeface="Roboto" charset="0"/>
                        <a:cs typeface="Roboto" charset="0"/>
                      </a:endParaRPr>
                    </a:p>
                  </a:txBody>
                  <a:tcPr marL="92693" marR="92693" marT="92693" marB="92693"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460" dirty="0">
                          <a:solidFill>
                            <a:srgbClr val="FF0000"/>
                          </a:solidFill>
                          <a:latin typeface="Roboto" pitchFamily="34" charset="0"/>
                          <a:ea typeface="Roboto" pitchFamily="34" charset="-122"/>
                          <a:cs typeface="Roboto" pitchFamily="34" charset="-120"/>
                        </a:rPr>
                        <a:t>one block, every time</a:t>
                      </a:r>
                      <a:endParaRPr lang="en-US" sz="1460" dirty="0">
                        <a:latin typeface="Roboto" charset="0"/>
                        <a:ea typeface="Roboto" charset="0"/>
                        <a:cs typeface="Roboto" charset="0"/>
                      </a:endParaRPr>
                    </a:p>
                  </a:txBody>
                  <a:tcPr marL="92693" marR="92693" marT="92693" marB="92693"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0">
                <a:tc>
                  <a:txBody>
                    <a:bodyPr/>
                    <a:lstStyle/>
                    <a:p>
                      <a:pPr algn="l" indent="0" marL="0">
                        <a:buNone/>
                      </a:pPr>
                      <a:r>
                        <a:rPr lang="en-US" sz="1460" b="1" dirty="0">
                          <a:solidFill>
                            <a:srgbClr val="000000"/>
                          </a:solidFill>
                          <a:latin typeface="Roboto" pitchFamily="34" charset="0"/>
                          <a:ea typeface="Roboto" pitchFamily="34" charset="-122"/>
                          <a:cs typeface="Roboto" pitchFamily="34" charset="-120"/>
                        </a:rPr>
                        <a:t>6</a:t>
                      </a:r>
                      <a:endParaRPr lang="en-US" sz="1460" dirty="0">
                        <a:latin typeface="Roboto" charset="0"/>
                        <a:ea typeface="Roboto" charset="0"/>
                        <a:cs typeface="Roboto" charset="0"/>
                      </a:endParaRPr>
                    </a:p>
                  </a:txBody>
                  <a:tcPr marL="92693" marR="92693" marT="92693" marB="92693"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460" dirty="0">
                          <a:solidFill>
                            <a:srgbClr val="000000"/>
                          </a:solidFill>
                          <a:latin typeface="Roboto" pitchFamily="34" charset="0"/>
                          <a:ea typeface="Roboto" pitchFamily="34" charset="-122"/>
                          <a:cs typeface="Roboto" pitchFamily="34" charset="-120"/>
                        </a:rPr>
                        <a:t>Trim the first and last block, which may be partial</a:t>
                      </a:r>
                      <a:endParaRPr lang="en-US" sz="1460" dirty="0">
                        <a:latin typeface="Roboto" charset="0"/>
                        <a:ea typeface="Roboto" charset="0"/>
                        <a:cs typeface="Roboto" charset="0"/>
                      </a:endParaRPr>
                    </a:p>
                  </a:txBody>
                  <a:tcPr marL="92693" marR="92693" marT="92693" marB="92693"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460" dirty="0">
                          <a:solidFill>
                            <a:srgbClr val="000000"/>
                          </a:solidFill>
                          <a:latin typeface="Roboto" pitchFamily="34" charset="0"/>
                          <a:ea typeface="Roboto" pitchFamily="34" charset="-122"/>
                          <a:cs typeface="Roboto" pitchFamily="34" charset="-120"/>
                        </a:rPr>
                        <a:t>a scan of the block</a:t>
                      </a:r>
                      <a:endParaRPr lang="en-US" sz="1460" dirty="0">
                        <a:latin typeface="Roboto" charset="0"/>
                        <a:ea typeface="Roboto" charset="0"/>
                        <a:cs typeface="Roboto" charset="0"/>
                      </a:endParaRPr>
                    </a:p>
                  </a:txBody>
                  <a:tcPr marL="92693" marR="92693" marT="92693" marB="92693"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0">
                <a:tc>
                  <a:txBody>
                    <a:bodyPr/>
                    <a:lstStyle/>
                    <a:p>
                      <a:pPr algn="l" indent="0" marL="0">
                        <a:buNone/>
                      </a:pPr>
                      <a:r>
                        <a:rPr lang="en-US" sz="1460" b="1" dirty="0">
                          <a:solidFill>
                            <a:srgbClr val="000000"/>
                          </a:solidFill>
                          <a:latin typeface="Roboto" pitchFamily="34" charset="0"/>
                          <a:ea typeface="Roboto" pitchFamily="34" charset="-122"/>
                          <a:cs typeface="Roboto" pitchFamily="34" charset="-120"/>
                        </a:rPr>
                        <a:t>7</a:t>
                      </a:r>
                      <a:endParaRPr lang="en-US" sz="1460" dirty="0">
                        <a:latin typeface="Roboto" charset="0"/>
                        <a:ea typeface="Roboto" charset="0"/>
                        <a:cs typeface="Roboto" charset="0"/>
                      </a:endParaRPr>
                    </a:p>
                  </a:txBody>
                  <a:tcPr marL="92693" marR="92693" marT="92693" marB="92693"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460" dirty="0">
                          <a:solidFill>
                            <a:srgbClr val="000000"/>
                          </a:solidFill>
                          <a:latin typeface="Roboto" pitchFamily="34" charset="0"/>
                          <a:ea typeface="Roboto" pitchFamily="34" charset="-122"/>
                          <a:cs typeface="Roboto" pitchFamily="34" charset="-120"/>
                        </a:rPr>
                        <a:t>Stream the blocks in between, ~20 in flight</a:t>
                      </a:r>
                      <a:endParaRPr lang="en-US" sz="1460" dirty="0">
                        <a:latin typeface="Roboto" charset="0"/>
                        <a:ea typeface="Roboto" charset="0"/>
                        <a:cs typeface="Roboto" charset="0"/>
                      </a:endParaRPr>
                    </a:p>
                  </a:txBody>
                  <a:tcPr marL="92693" marR="92693" marT="92693" marB="92693"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460" dirty="0">
                          <a:solidFill>
                            <a:srgbClr val="38761D"/>
                          </a:solidFill>
                          <a:latin typeface="Roboto" pitchFamily="34" charset="0"/>
                          <a:ea typeface="Roboto" pitchFamily="34" charset="-122"/>
                          <a:cs typeface="Roboto" pitchFamily="34" charset="-120"/>
                        </a:rPr>
                        <a:t>fast and parallel</a:t>
                      </a:r>
                      <a:endParaRPr lang="en-US" sz="1460" dirty="0">
                        <a:latin typeface="Roboto" charset="0"/>
                        <a:ea typeface="Roboto" charset="0"/>
                        <a:cs typeface="Roboto" charset="0"/>
                      </a:endParaRPr>
                    </a:p>
                  </a:txBody>
                  <a:tcPr marL="92693" marR="92693" marT="92693" marB="92693"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660400" y="5758731"/>
            <a:ext cx="10871200" cy="616669"/>
          </a:xfrm>
          <a:prstGeom prst="rect">
            <a:avLst/>
          </a:prstGeom>
          <a:noFill/>
          <a:ln/>
        </p:spPr>
        <p:txBody>
          <a:bodyPr wrap="square" lIns="0" tIns="0" rIns="0" bIns="0" rtlCol="0" anchor="t"/>
          <a:lstStyle/>
          <a:p>
            <a:pPr algn="l" indent="0" marL="0">
              <a:lnSpc>
                <a:spcPct val="140000"/>
              </a:lnSpc>
              <a:buNone/>
            </a:pPr>
            <a:r>
              <a:rPr lang="en-US" sz="1606" b="1" dirty="0">
                <a:solidFill>
                  <a:srgbClr val="000000"/>
                </a:solidFill>
                <a:latin typeface="Roboto" pitchFamily="34" charset="0"/>
                <a:ea typeface="Roboto" pitchFamily="34" charset="-122"/>
                <a:cs typeface="Roboto" pitchFamily="34" charset="-120"/>
              </a:rPr>
              <a:t>Steps 1–4 are free. </a:t>
            </a:r>
            <a:pPr algn="l" indent="0" marL="0">
              <a:lnSpc>
                <a:spcPct val="140000"/>
              </a:lnSpc>
              <a:buNone/>
            </a:pPr>
            <a:r>
              <a:rPr lang="en-US" sz="1606" b="1" dirty="0">
                <a:solidFill>
                  <a:srgbClr val="FF0000"/>
                </a:solidFill>
                <a:latin typeface="Roboto" pitchFamily="34" charset="0"/>
                <a:ea typeface="Roboto" pitchFamily="34" charset="-122"/>
                <a:cs typeface="Roboto" pitchFamily="34" charset="-120"/>
              </a:rPr>
              <a:t>Step 5 is the whole cost of opening a scan</a:t>
            </a:r>
            <a:pPr algn="l" indent="0" marL="0">
              <a:lnSpc>
                <a:spcPct val="140000"/>
              </a:lnSpc>
              <a:buNone/>
            </a:pPr>
            <a:r>
              <a:rPr lang="en-US" sz="1606" b="1" dirty="0">
                <a:solidFill>
                  <a:srgbClr val="000000"/>
                </a:solidFill>
                <a:latin typeface="Roboto" pitchFamily="34" charset="0"/>
                <a:ea typeface="Roboto" pitchFamily="34" charset="-122"/>
                <a:cs typeface="Roboto" pitchFamily="34" charset="-120"/>
              </a:rPr>
              <a:t>, and it does not depend on how many rows you then read.</a:t>
            </a:r>
            <a:endParaRPr lang="en-US" sz="1606"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155700"/>
          </a:xfrm>
          <a:prstGeom prst="rect">
            <a:avLst/>
          </a:prstGeom>
          <a:solidFill>
            <a:srgbClr val="0084D1"/>
          </a:solidFill>
          <a:ln/>
        </p:spPr>
      </p:sp>
      <p:sp>
        <p:nvSpPr>
          <p:cNvPr id="3" name="Text 1"/>
          <p:cNvSpPr txBox="1"/>
          <p:nvPr/>
        </p:nvSpPr>
        <p:spPr>
          <a:xfrm>
            <a:off x="0" y="228600"/>
            <a:ext cx="12192000" cy="934720"/>
          </a:xfrm>
          <a:prstGeom prst="rect">
            <a:avLst/>
          </a:prstGeom>
          <a:noFill/>
          <a:ln/>
        </p:spPr>
        <p:txBody>
          <a:bodyPr wrap="square" lIns="0" tIns="0" rIns="0" bIns="0" rtlCol="0" anchor="t"/>
          <a:lstStyle/>
          <a:p>
            <a:pPr algn="ctr" indent="0" marL="0">
              <a:lnSpc>
                <a:spcPct val="110000"/>
              </a:lnSpc>
              <a:buNone/>
            </a:pPr>
            <a:r>
              <a:rPr lang="en-US" sz="4600" b="1" dirty="0">
                <a:solidFill>
                  <a:srgbClr val="FFFFFF"/>
                </a:solidFill>
                <a:latin typeface="Roboto Slab" pitchFamily="34" charset="0"/>
                <a:ea typeface="Roboto Slab" pitchFamily="34" charset="-122"/>
                <a:cs typeface="Roboto Slab" pitchFamily="34" charset="-120"/>
              </a:rPr>
              <a:t>Compatible anyway</a:t>
            </a:r>
            <a:endParaRPr lang="en-US" sz="4600" dirty="0"/>
          </a:p>
        </p:txBody>
      </p:sp>
      <p:sp>
        <p:nvSpPr>
          <p:cNvPr id="4" name="Text 2"/>
          <p:cNvSpPr txBox="1"/>
          <p:nvPr/>
        </p:nvSpPr>
        <p:spPr>
          <a:xfrm>
            <a:off x="10795000" y="6322060"/>
            <a:ext cx="889000" cy="264160"/>
          </a:xfrm>
          <a:prstGeom prst="rect">
            <a:avLst/>
          </a:prstGeom>
          <a:noFill/>
          <a:ln/>
        </p:spPr>
        <p:txBody>
          <a:bodyPr wrap="square" lIns="0" tIns="0" rIns="0" bIns="0" rtlCol="0" anchor="t"/>
          <a:lstStyle/>
          <a:p>
            <a:pPr algn="r" indent="0" marL="0">
              <a:lnSpc>
                <a:spcPct val="120000"/>
              </a:lnSpc>
              <a:buNone/>
            </a:pPr>
            <a:r>
              <a:rPr lang="en-US" sz="1300" dirty="0">
                <a:solidFill>
                  <a:srgbClr val="595959"/>
                </a:solidFill>
                <a:latin typeface="Roboto" pitchFamily="34" charset="0"/>
                <a:ea typeface="Roboto" pitchFamily="34" charset="-122"/>
                <a:cs typeface="Roboto" pitchFamily="34" charset="-120"/>
              </a:rPr>
              <a:t>12</a:t>
            </a:r>
            <a:endParaRPr lang="en-US" sz="1300" dirty="0"/>
          </a:p>
        </p:txBody>
      </p:sp>
      <p:sp>
        <p:nvSpPr>
          <p:cNvPr id="6" name="Text 3"/>
          <p:cNvSpPr txBox="1"/>
          <p:nvPr/>
        </p:nvSpPr>
        <p:spPr>
          <a:xfrm>
            <a:off x="660400" y="1447800"/>
            <a:ext cx="10871200" cy="459156"/>
          </a:xfrm>
          <a:prstGeom prst="rect">
            <a:avLst/>
          </a:prstGeom>
          <a:noFill/>
          <a:ln/>
        </p:spPr>
        <p:txBody>
          <a:bodyPr wrap="square" lIns="0" tIns="0" rIns="0" bIns="0" rtlCol="0" anchor="t"/>
          <a:lstStyle/>
          <a:p>
            <a:pPr indent="0" marL="0">
              <a:lnSpc>
                <a:spcPct val="140000"/>
              </a:lnSpc>
              <a:buNone/>
            </a:pPr>
            <a:r>
              <a:rPr lang="en-US" sz="1942" dirty="0">
                <a:solidFill>
                  <a:srgbClr val="000000"/>
                </a:solidFill>
                <a:latin typeface="Roboto" pitchFamily="34" charset="0"/>
                <a:ea typeface="Roboto" pitchFamily="34" charset="-122"/>
                <a:cs typeface="Roboto" pitchFamily="34" charset="-120"/>
              </a:rPr>
              <a:t>• </a:t>
            </a:r>
            <a:pPr indent="0" marL="0">
              <a:lnSpc>
                <a:spcPct val="140000"/>
              </a:lnSpc>
              <a:buNone/>
            </a:pPr>
            <a:r>
              <a:rPr lang="en-US" sz="1942" b="1" dirty="0">
                <a:solidFill>
                  <a:srgbClr val="000000"/>
                </a:solidFill>
                <a:latin typeface="Roboto" pitchFamily="34" charset="0"/>
                <a:ea typeface="Roboto" pitchFamily="34" charset="-122"/>
                <a:cs typeface="Roboto" pitchFamily="34" charset="-120"/>
              </a:rPr>
              <a:t>The block index holds </a:t>
            </a:r>
            <a:pPr indent="0" marL="0">
              <a:lnSpc>
                <a:spcPct val="140000"/>
              </a:lnSpc>
              <a:buNone/>
            </a:pPr>
            <a:r>
              <a:rPr lang="en-US" sz="1942" b="1" dirty="0">
                <a:solidFill>
                  <a:srgbClr val="38761D"/>
                </a:solidFill>
                <a:latin typeface="Roboto" pitchFamily="34" charset="0"/>
                <a:ea typeface="Roboto" pitchFamily="34" charset="-122"/>
                <a:cs typeface="Roboto" pitchFamily="34" charset="-120"/>
              </a:rPr>
              <a:t>exact row counts</a:t>
            </a:r>
            <a:pPr indent="0" marL="0">
              <a:lnSpc>
                <a:spcPct val="140000"/>
              </a:lnSpc>
              <a:buNone/>
            </a:pPr>
            <a:r>
              <a:rPr lang="en-US" sz="1942" b="1" dirty="0">
                <a:solidFill>
                  <a:srgbClr val="000000"/>
                </a:solidFill>
                <a:latin typeface="Roboto" pitchFamily="34" charset="0"/>
                <a:ea typeface="Roboto" pitchFamily="34" charset="-122"/>
                <a:cs typeface="Roboto" pitchFamily="34" charset="-120"/>
              </a:rPr>
              <a:t>, in RAM</a:t>
            </a:r>
            <a:endParaRPr lang="en-US" sz="1942" dirty="0"/>
          </a:p>
        </p:txBody>
      </p:sp>
      <p:sp>
        <p:nvSpPr>
          <p:cNvPr id="7" name="Text 4"/>
          <p:cNvSpPr txBox="1"/>
          <p:nvPr/>
        </p:nvSpPr>
        <p:spPr>
          <a:xfrm>
            <a:off x="1153586" y="2052670"/>
            <a:ext cx="10378014" cy="396544"/>
          </a:xfrm>
          <a:prstGeom prst="rect">
            <a:avLst/>
          </a:prstGeom>
          <a:noFill/>
          <a:ln/>
        </p:spPr>
        <p:txBody>
          <a:bodyPr wrap="square" lIns="0" tIns="0" rIns="0" bIns="0" rtlCol="0" anchor="t"/>
          <a:lstStyle/>
          <a:p>
            <a:pPr indent="0" marL="0">
              <a:lnSpc>
                <a:spcPct val="140000"/>
              </a:lnSpc>
              <a:buNone/>
            </a:pPr>
            <a:r>
              <a:rPr lang="en-US" sz="1677" dirty="0">
                <a:solidFill>
                  <a:srgbClr val="000000"/>
                </a:solidFill>
                <a:latin typeface="Roboto" pitchFamily="34" charset="0"/>
                <a:ea typeface="Roboto" pitchFamily="34" charset="-122"/>
                <a:cs typeface="Roboto" pitchFamily="34" charset="-120"/>
              </a:rPr>
              <a:t>• </a:t>
            </a:r>
            <a:pPr indent="0" marL="0">
              <a:lnSpc>
                <a:spcPct val="140000"/>
              </a:lnSpc>
              <a:buNone/>
            </a:pPr>
            <a:r>
              <a:rPr lang="en-US" sz="1677" dirty="0">
                <a:solidFill>
                  <a:srgbClr val="000000"/>
                </a:solidFill>
                <a:latin typeface="Roboto" pitchFamily="34" charset="0"/>
                <a:ea typeface="Roboto" pitchFamily="34" charset="-122"/>
                <a:cs typeface="Roboto" pitchFamily="34" charset="-120"/>
              </a:rPr>
              <a:t>an offset resolves </a:t>
            </a:r>
            <a:pPr indent="0" marL="0">
              <a:lnSpc>
                <a:spcPct val="140000"/>
              </a:lnSpc>
              <a:buNone/>
            </a:pPr>
            <a:r>
              <a:rPr lang="en-US" sz="1677" b="1" dirty="0">
                <a:solidFill>
                  <a:srgbClr val="000000"/>
                </a:solidFill>
                <a:latin typeface="Roboto" pitchFamily="34" charset="0"/>
                <a:ea typeface="Roboto" pitchFamily="34" charset="-122"/>
                <a:cs typeface="Roboto" pitchFamily="34" charset="-120"/>
              </a:rPr>
              <a:t>before any block is read</a:t>
            </a:r>
            <a:endParaRPr lang="en-US" sz="1677" dirty="0"/>
          </a:p>
        </p:txBody>
      </p:sp>
      <p:sp>
        <p:nvSpPr>
          <p:cNvPr id="8" name="Text 5"/>
          <p:cNvSpPr txBox="1"/>
          <p:nvPr/>
        </p:nvSpPr>
        <p:spPr>
          <a:xfrm>
            <a:off x="660400" y="2594927"/>
            <a:ext cx="10871200" cy="459156"/>
          </a:xfrm>
          <a:prstGeom prst="rect">
            <a:avLst/>
          </a:prstGeom>
          <a:noFill/>
          <a:ln/>
        </p:spPr>
        <p:txBody>
          <a:bodyPr wrap="square" lIns="0" tIns="0" rIns="0" bIns="0" rtlCol="0" anchor="t"/>
          <a:lstStyle/>
          <a:p>
            <a:pPr indent="0" marL="0">
              <a:lnSpc>
                <a:spcPct val="140000"/>
              </a:lnSpc>
              <a:buNone/>
            </a:pPr>
            <a:r>
              <a:rPr lang="en-US" sz="1942" dirty="0">
                <a:solidFill>
                  <a:srgbClr val="000000"/>
                </a:solidFill>
                <a:latin typeface="Roboto" pitchFamily="34" charset="0"/>
                <a:ea typeface="Roboto" pitchFamily="34" charset="-122"/>
                <a:cs typeface="Roboto" pitchFamily="34" charset="-120"/>
              </a:rPr>
              <a:t>• </a:t>
            </a:r>
            <a:pPr indent="0" marL="0">
              <a:lnSpc>
                <a:spcPct val="140000"/>
              </a:lnSpc>
              <a:buNone/>
            </a:pPr>
            <a:r>
              <a:rPr lang="en-US" sz="1942" b="1" dirty="0">
                <a:solidFill>
                  <a:srgbClr val="000000"/>
                </a:solidFill>
                <a:latin typeface="Roboto" pitchFamily="34" charset="0"/>
                <a:ea typeface="Roboto" pitchFamily="34" charset="-122"/>
                <a:cs typeface="Roboto" pitchFamily="34" charset="-120"/>
              </a:rPr>
              <a:t>An exact cardinality exists too</a:t>
            </a:r>
            <a:endParaRPr lang="en-US" sz="1942" dirty="0"/>
          </a:p>
        </p:txBody>
      </p:sp>
      <p:sp>
        <p:nvSpPr>
          <p:cNvPr id="9" name="Text 6"/>
          <p:cNvSpPr txBox="1"/>
          <p:nvPr/>
        </p:nvSpPr>
        <p:spPr>
          <a:xfrm>
            <a:off x="1153586" y="3199797"/>
            <a:ext cx="10378014" cy="396544"/>
          </a:xfrm>
          <a:prstGeom prst="rect">
            <a:avLst/>
          </a:prstGeom>
          <a:noFill/>
          <a:ln/>
        </p:spPr>
        <p:txBody>
          <a:bodyPr wrap="square" lIns="0" tIns="0" rIns="0" bIns="0" rtlCol="0" anchor="t"/>
          <a:lstStyle/>
          <a:p>
            <a:pPr indent="0" marL="0">
              <a:lnSpc>
                <a:spcPct val="140000"/>
              </a:lnSpc>
              <a:buNone/>
            </a:pPr>
            <a:r>
              <a:rPr lang="en-US" sz="1677" dirty="0">
                <a:solidFill>
                  <a:srgbClr val="000000"/>
                </a:solidFill>
                <a:latin typeface="Roboto" pitchFamily="34" charset="0"/>
                <a:ea typeface="Roboto" pitchFamily="34" charset="-122"/>
                <a:cs typeface="Roboto" pitchFamily="34" charset="-120"/>
              </a:rPr>
              <a:t>• </a:t>
            </a:r>
            <a:pPr indent="0" marL="0">
              <a:lnSpc>
                <a:spcPct val="140000"/>
              </a:lnSpc>
              <a:buNone/>
            </a:pPr>
            <a:r>
              <a:rPr lang="en-US" sz="1677" dirty="0">
                <a:solidFill>
                  <a:srgbClr val="000000"/>
                </a:solidFill>
                <a:latin typeface="Roboto" pitchFamily="34" charset="0"/>
                <a:ea typeface="Roboto" pitchFamily="34" charset="-122"/>
                <a:cs typeface="Roboto" pitchFamily="34" charset="-120"/>
              </a:rPr>
              <a:t>it decompresses the two boundary blocks — correct, not free</a:t>
            </a:r>
            <a:endParaRPr lang="en-US" sz="1677" dirty="0"/>
          </a:p>
        </p:txBody>
      </p:sp>
      <p:sp>
        <p:nvSpPr>
          <p:cNvPr id="10" name="Text 7"/>
          <p:cNvSpPr txBox="1"/>
          <p:nvPr/>
        </p:nvSpPr>
        <p:spPr>
          <a:xfrm>
            <a:off x="660400" y="3742055"/>
            <a:ext cx="10871200" cy="459156"/>
          </a:xfrm>
          <a:prstGeom prst="rect">
            <a:avLst/>
          </a:prstGeom>
          <a:noFill/>
          <a:ln/>
        </p:spPr>
        <p:txBody>
          <a:bodyPr wrap="square" lIns="0" tIns="0" rIns="0" bIns="0" rtlCol="0" anchor="t"/>
          <a:lstStyle/>
          <a:p>
            <a:pPr indent="0" marL="0">
              <a:lnSpc>
                <a:spcPct val="140000"/>
              </a:lnSpc>
              <a:buNone/>
            </a:pPr>
            <a:r>
              <a:rPr lang="en-US" sz="1942" dirty="0">
                <a:solidFill>
                  <a:srgbClr val="000000"/>
                </a:solidFill>
                <a:latin typeface="Roboto" pitchFamily="34" charset="0"/>
                <a:ea typeface="Roboto" pitchFamily="34" charset="-122"/>
                <a:cs typeface="Roboto" pitchFamily="34" charset="-120"/>
              </a:rPr>
              <a:t>• </a:t>
            </a:r>
            <a:pPr indent="0" marL="0">
              <a:lnSpc>
                <a:spcPct val="140000"/>
              </a:lnSpc>
              <a:buNone/>
            </a:pPr>
            <a:r>
              <a:rPr lang="en-US" sz="1942" b="1" dirty="0">
                <a:solidFill>
                  <a:srgbClr val="000000"/>
                </a:solidFill>
                <a:latin typeface="Roboto" pitchFamily="34" charset="0"/>
                <a:ea typeface="Roboto" pitchFamily="34" charset="-122"/>
                <a:cs typeface="Roboto" pitchFamily="34" charset="-120"/>
              </a:rPr>
              <a:t>177 lines of QLever, </a:t>
            </a:r>
            <a:pPr indent="0" marL="0">
              <a:lnSpc>
                <a:spcPct val="140000"/>
              </a:lnSpc>
              <a:buNone/>
            </a:pPr>
            <a:r>
              <a:rPr lang="en-US" sz="1942" b="1" dirty="0">
                <a:solidFill>
                  <a:srgbClr val="38761D"/>
                </a:solidFill>
                <a:latin typeface="Roboto" pitchFamily="34" charset="0"/>
                <a:ea typeface="Roboto" pitchFamily="34" charset="-122"/>
                <a:cs typeface="Roboto" pitchFamily="34" charset="-120"/>
              </a:rPr>
              <a:t>nothing in the index format</a:t>
            </a:r>
            <a:endParaRPr lang="en-US" sz="1942" dirty="0"/>
          </a:p>
        </p:txBody>
      </p:sp>
      <p:sp>
        <p:nvSpPr>
          <p:cNvPr id="11" name="Text 8"/>
          <p:cNvSpPr txBox="1"/>
          <p:nvPr/>
        </p:nvSpPr>
        <p:spPr>
          <a:xfrm>
            <a:off x="1153586" y="4346925"/>
            <a:ext cx="10378014" cy="396544"/>
          </a:xfrm>
          <a:prstGeom prst="rect">
            <a:avLst/>
          </a:prstGeom>
          <a:noFill/>
          <a:ln/>
        </p:spPr>
        <p:txBody>
          <a:bodyPr wrap="square" lIns="0" tIns="0" rIns="0" bIns="0" rtlCol="0" anchor="t"/>
          <a:lstStyle/>
          <a:p>
            <a:pPr indent="0" marL="0">
              <a:lnSpc>
                <a:spcPct val="140000"/>
              </a:lnSpc>
              <a:buNone/>
            </a:pPr>
            <a:r>
              <a:rPr lang="en-US" sz="1677" dirty="0">
                <a:solidFill>
                  <a:srgbClr val="000000"/>
                </a:solidFill>
                <a:latin typeface="Roboto" pitchFamily="34" charset="0"/>
                <a:ea typeface="Roboto" pitchFamily="34" charset="-122"/>
                <a:cs typeface="Roboto" pitchFamily="34" charset="-120"/>
              </a:rPr>
              <a:t>• </a:t>
            </a:r>
            <a:pPr indent="0" marL="0">
              <a:lnSpc>
                <a:spcPct val="140000"/>
              </a:lnSpc>
              <a:buNone/>
            </a:pPr>
            <a:r>
              <a:rPr lang="en-US" sz="1677" dirty="0">
                <a:solidFill>
                  <a:srgbClr val="000000"/>
                </a:solidFill>
                <a:latin typeface="Roboto" pitchFamily="34" charset="0"/>
                <a:ea typeface="Roboto" pitchFamily="34" charset="-122"/>
                <a:cs typeface="Roboto" pitchFamily="34" charset="-120"/>
              </a:rPr>
              <a:t>the offset skipping is unconditional; the block cache is the part that is off by default</a:t>
            </a:r>
            <a:endParaRPr lang="en-US" sz="1677" dirty="0"/>
          </a:p>
        </p:txBody>
      </p:sp>
      <p:sp>
        <p:nvSpPr>
          <p:cNvPr id="12" name="Text 9"/>
          <p:cNvSpPr txBox="1"/>
          <p:nvPr/>
        </p:nvSpPr>
        <p:spPr>
          <a:xfrm>
            <a:off x="660400" y="4889182"/>
            <a:ext cx="9906000" cy="1132749"/>
          </a:xfrm>
          <a:prstGeom prst="rect">
            <a:avLst/>
          </a:prstGeom>
          <a:noFill/>
          <a:ln w="38100">
            <a:solidFill>
              <a:srgbClr val="FF0000"/>
            </a:solidFill>
          </a:ln>
        </p:spPr>
        <p:txBody>
          <a:bodyPr wrap="square" lIns="190500" tIns="190500" rIns="190500" bIns="190500" rtlCol="0" anchor="t"/>
          <a:lstStyle/>
          <a:p>
            <a:pPr algn="ctr" indent="0" marL="0">
              <a:lnSpc>
                <a:spcPct val="135000"/>
              </a:lnSpc>
              <a:buNone/>
            </a:pPr>
            <a:r>
              <a:rPr lang="en-US" sz="2030" dirty="0">
                <a:solidFill>
                  <a:srgbClr val="000000"/>
                </a:solidFill>
                <a:latin typeface="Roboto" pitchFamily="34" charset="0"/>
                <a:ea typeface="Roboto" pitchFamily="34" charset="-122"/>
                <a:cs typeface="Roboto" pitchFamily="34" charset="-120"/>
              </a:rPr>
              <a:t>Everything a continuation depends on stays exact.</a:t>
            </a:r>
            <a:pPr algn="ctr" indent="0" marL="0">
              <a:lnSpc>
                <a:spcPct val="135000"/>
              </a:lnSpc>
              <a:buNone/>
            </a:pPr>
            <a:endParaRPr lang="en-US" sz="2030" dirty="0"/>
          </a:p>
          <a:p>
            <a:pPr algn="ctr" indent="0" marL="0">
              <a:lnSpc>
                <a:spcPct val="135000"/>
              </a:lnSpc>
              <a:buNone/>
            </a:pPr>
            <a:r>
              <a:rPr lang="en-US" sz="2030" dirty="0">
                <a:solidFill>
                  <a:srgbClr val="000000"/>
                </a:solidFill>
                <a:latin typeface="Roboto" pitchFamily="34" charset="0"/>
                <a:ea typeface="Roboto" pitchFamily="34" charset="-122"/>
                <a:cs typeface="Roboto" pitchFamily="34" charset="-120"/>
              </a:rPr>
              <a:t>What changes is the price, not the correctness.</a:t>
            </a:r>
            <a:endParaRPr lang="en-US" sz="203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155700"/>
          </a:xfrm>
          <a:prstGeom prst="rect">
            <a:avLst/>
          </a:prstGeom>
          <a:solidFill>
            <a:srgbClr val="0084D1"/>
          </a:solidFill>
          <a:ln/>
        </p:spPr>
      </p:sp>
      <p:sp>
        <p:nvSpPr>
          <p:cNvPr id="3" name="Text 1"/>
          <p:cNvSpPr txBox="1"/>
          <p:nvPr/>
        </p:nvSpPr>
        <p:spPr>
          <a:xfrm>
            <a:off x="0" y="228600"/>
            <a:ext cx="12192000" cy="934720"/>
          </a:xfrm>
          <a:prstGeom prst="rect">
            <a:avLst/>
          </a:prstGeom>
          <a:noFill/>
          <a:ln/>
        </p:spPr>
        <p:txBody>
          <a:bodyPr wrap="square" lIns="0" tIns="0" rIns="0" bIns="0" rtlCol="0" anchor="t"/>
          <a:lstStyle/>
          <a:p>
            <a:pPr algn="ctr" indent="0" marL="0">
              <a:lnSpc>
                <a:spcPct val="110000"/>
              </a:lnSpc>
              <a:buNone/>
            </a:pPr>
            <a:r>
              <a:rPr lang="en-US" sz="4600" b="1" dirty="0">
                <a:solidFill>
                  <a:srgbClr val="FFFFFF"/>
                </a:solidFill>
                <a:latin typeface="Roboto Slab" pitchFamily="34" charset="0"/>
                <a:ea typeface="Roboto Slab" pitchFamily="34" charset="-122"/>
                <a:cs typeface="Roboto Slab" pitchFamily="34" charset="-120"/>
              </a:rPr>
              <a:t>What it costs instead</a:t>
            </a:r>
            <a:endParaRPr lang="en-US" sz="4600" dirty="0"/>
          </a:p>
        </p:txBody>
      </p:sp>
      <p:sp>
        <p:nvSpPr>
          <p:cNvPr id="4" name="Text 2"/>
          <p:cNvSpPr txBox="1"/>
          <p:nvPr/>
        </p:nvSpPr>
        <p:spPr>
          <a:xfrm>
            <a:off x="10795000" y="6322060"/>
            <a:ext cx="889000" cy="264160"/>
          </a:xfrm>
          <a:prstGeom prst="rect">
            <a:avLst/>
          </a:prstGeom>
          <a:noFill/>
          <a:ln/>
        </p:spPr>
        <p:txBody>
          <a:bodyPr wrap="square" lIns="0" tIns="0" rIns="0" bIns="0" rtlCol="0" anchor="t"/>
          <a:lstStyle/>
          <a:p>
            <a:pPr algn="r" indent="0" marL="0">
              <a:lnSpc>
                <a:spcPct val="120000"/>
              </a:lnSpc>
              <a:buNone/>
            </a:pPr>
            <a:r>
              <a:rPr lang="en-US" sz="1300" dirty="0">
                <a:solidFill>
                  <a:srgbClr val="595959"/>
                </a:solidFill>
                <a:latin typeface="Roboto" pitchFamily="34" charset="0"/>
                <a:ea typeface="Roboto" pitchFamily="34" charset="-122"/>
                <a:cs typeface="Roboto" pitchFamily="34" charset="-120"/>
              </a:rPr>
              <a:t>13</a:t>
            </a:r>
            <a:endParaRPr lang="en-US" sz="13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60400" y="1409700"/>
          <a:ext cx="10871200" cy="914400"/>
        </p:xfrm>
        <a:graphic>
          <a:graphicData uri="http://schemas.openxmlformats.org/drawingml/2006/table">
            <a:tbl>
              <a:tblPr/>
              <a:tblGrid>
                <a:gridCol w="5435600"/>
                <a:gridCol w="2717800"/>
                <a:gridCol w="2717800"/>
              </a:tblGrid>
              <a:tr h="0">
                <a:tc>
                  <a:txBody>
                    <a:bodyPr/>
                    <a:lstStyle/>
                    <a:p>
                      <a:pPr algn="l" indent="0" marL="0">
                        <a:buNone/>
                      </a:pPr>
                      <a:r>
                        <a:rPr lang="en-US" sz="1700" b="1" dirty="0">
                          <a:solidFill>
                            <a:srgbClr val="FFFFFF"/>
                          </a:solidFill>
                          <a:latin typeface="Roboto" pitchFamily="34" charset="0"/>
                          <a:ea typeface="Roboto" pitchFamily="34" charset="-122"/>
                          <a:cs typeface="Roboto" pitchFamily="34" charset="-120"/>
                        </a:rPr>
                        <a:t>QLever, per call</a:t>
                      </a:r>
                      <a:endParaRPr lang="en-US" sz="1700" dirty="0">
                        <a:latin typeface="Roboto" charset="0"/>
                        <a:ea typeface="Roboto" charset="0"/>
                        <a:cs typeface="Roboto" charset="0"/>
                      </a:endParaRPr>
                    </a:p>
                  </a:txBody>
                  <a:tcPr marL="114300" marR="114300" marT="114300" marB="1143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84D1"/>
                    </a:solidFill>
                  </a:tcPr>
                </a:tc>
                <a:tc>
                  <a:txBody>
                    <a:bodyPr/>
                    <a:lstStyle/>
                    <a:p>
                      <a:pPr algn="r" indent="0" marL="0">
                        <a:buNone/>
                      </a:pPr>
                      <a:r>
                        <a:rPr lang="en-US" sz="1700" b="1" dirty="0">
                          <a:solidFill>
                            <a:srgbClr val="FFFFFF"/>
                          </a:solidFill>
                          <a:latin typeface="Roboto" pitchFamily="34" charset="0"/>
                          <a:ea typeface="Roboto" pitchFamily="34" charset="-122"/>
                          <a:cs typeface="Roboto" pitchFamily="34" charset="-120"/>
                        </a:rPr>
                        <a:t>?s ?p ?o</a:t>
                      </a:r>
                      <a:endParaRPr lang="en-US" sz="1700" dirty="0">
                        <a:latin typeface="Roboto" charset="0"/>
                        <a:ea typeface="Roboto" charset="0"/>
                        <a:cs typeface="Roboto" charset="0"/>
                      </a:endParaRPr>
                    </a:p>
                  </a:txBody>
                  <a:tcPr marL="114300" marR="114300" marT="114300" marB="1143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84D1"/>
                    </a:solidFill>
                  </a:tcPr>
                </a:tc>
                <a:tc>
                  <a:txBody>
                    <a:bodyPr/>
                    <a:lstStyle/>
                    <a:p>
                      <a:pPr algn="r" indent="0" marL="0">
                        <a:buNone/>
                      </a:pPr>
                      <a:r>
                        <a:rPr lang="en-US" sz="1700" b="1" dirty="0">
                          <a:solidFill>
                            <a:srgbClr val="FFFFFF"/>
                          </a:solidFill>
                          <a:latin typeface="Roboto" pitchFamily="34" charset="0"/>
                          <a:ea typeface="Roboto" pitchFamily="34" charset="-122"/>
                          <a:cs typeface="Roboto" pitchFamily="34" charset="-120"/>
                        </a:rPr>
                        <a:t>?s a ?c</a:t>
                      </a:r>
                      <a:endParaRPr lang="en-US" sz="1700" dirty="0">
                        <a:latin typeface="Roboto" charset="0"/>
                        <a:ea typeface="Roboto" charset="0"/>
                        <a:cs typeface="Roboto" charset="0"/>
                      </a:endParaRPr>
                    </a:p>
                  </a:txBody>
                  <a:tcPr marL="114300" marR="114300" marT="114300" marB="1143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84D1"/>
                    </a:solidFill>
                  </a:tcPr>
                </a:tc>
              </a:tr>
              <a:tr h="0">
                <a:tc>
                  <a:txBody>
                    <a:bodyPr/>
                    <a:lstStyle/>
                    <a:p>
                      <a:pPr algn="l" indent="0" marL="0">
                        <a:buNone/>
                      </a:pPr>
                      <a:r>
                        <a:rPr lang="en-US" sz="1700" dirty="0">
                          <a:solidFill>
                            <a:srgbClr val="000000"/>
                          </a:solidFill>
                          <a:latin typeface="Roboto" pitchFamily="34" charset="0"/>
                          <a:ea typeface="Roboto" pitchFamily="34" charset="-122"/>
                          <a:cs typeface="Roboto" pitchFamily="34" charset="-120"/>
                        </a:rPr>
                        <a:t>exact cardinality, no block cache</a:t>
                      </a:r>
                      <a:endParaRPr lang="en-US" sz="1700" dirty="0">
                        <a:latin typeface="Roboto" charset="0"/>
                        <a:ea typeface="Roboto" charset="0"/>
                        <a:cs typeface="Roboto" charset="0"/>
                      </a:endParaRPr>
                    </a:p>
                  </a:txBody>
                  <a:tcPr marL="114300" marR="114300" marT="114300" marB="1143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1700" dirty="0">
                          <a:solidFill>
                            <a:srgbClr val="000000"/>
                          </a:solidFill>
                          <a:latin typeface="Roboto" pitchFamily="34" charset="0"/>
                          <a:ea typeface="Roboto" pitchFamily="34" charset="-122"/>
                          <a:cs typeface="Roboto" pitchFamily="34" charset="-120"/>
                        </a:rPr>
                        <a:t>1,047 µs</a:t>
                      </a:r>
                      <a:endParaRPr lang="en-US" sz="1700" dirty="0">
                        <a:latin typeface="Roboto" charset="0"/>
                        <a:ea typeface="Roboto" charset="0"/>
                        <a:cs typeface="Roboto" charset="0"/>
                      </a:endParaRPr>
                    </a:p>
                  </a:txBody>
                  <a:tcPr marL="114300" marR="114300" marT="114300" marB="1143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1700" dirty="0">
                          <a:solidFill>
                            <a:srgbClr val="000000"/>
                          </a:solidFill>
                          <a:latin typeface="Roboto" pitchFamily="34" charset="0"/>
                          <a:ea typeface="Roboto" pitchFamily="34" charset="-122"/>
                          <a:cs typeface="Roboto" pitchFamily="34" charset="-120"/>
                        </a:rPr>
                        <a:t>766 µs</a:t>
                      </a:r>
                      <a:endParaRPr lang="en-US" sz="1700" dirty="0">
                        <a:latin typeface="Roboto" charset="0"/>
                        <a:ea typeface="Roboto" charset="0"/>
                        <a:cs typeface="Roboto" charset="0"/>
                      </a:endParaRPr>
                    </a:p>
                  </a:txBody>
                  <a:tcPr marL="114300" marR="114300" marT="114300" marB="1143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0">
                <a:tc>
                  <a:txBody>
                    <a:bodyPr/>
                    <a:lstStyle/>
                    <a:p>
                      <a:pPr algn="l" indent="0" marL="0">
                        <a:buNone/>
                      </a:pPr>
                      <a:r>
                        <a:rPr lang="en-US" sz="1700" dirty="0">
                          <a:solidFill>
                            <a:srgbClr val="000000"/>
                          </a:solidFill>
                          <a:latin typeface="Roboto" pitchFamily="34" charset="0"/>
                          <a:ea typeface="Roboto" pitchFamily="34" charset="-122"/>
                          <a:cs typeface="Roboto" pitchFamily="34" charset="-120"/>
                        </a:rPr>
                        <a:t>exact cardinality, cache of 16</a:t>
                      </a:r>
                      <a:endParaRPr lang="en-US" sz="1700" dirty="0">
                        <a:latin typeface="Roboto" charset="0"/>
                        <a:ea typeface="Roboto" charset="0"/>
                        <a:cs typeface="Roboto" charset="0"/>
                      </a:endParaRPr>
                    </a:p>
                  </a:txBody>
                  <a:tcPr marL="114300" marR="114300" marT="114300" marB="1143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1700" dirty="0">
                          <a:solidFill>
                            <a:srgbClr val="000000"/>
                          </a:solidFill>
                          <a:latin typeface="Roboto" pitchFamily="34" charset="0"/>
                          <a:ea typeface="Roboto" pitchFamily="34" charset="-122"/>
                          <a:cs typeface="Roboto" pitchFamily="34" charset="-120"/>
                        </a:rPr>
                        <a:t>33 µs</a:t>
                      </a:r>
                      <a:endParaRPr lang="en-US" sz="1700" dirty="0">
                        <a:latin typeface="Roboto" charset="0"/>
                        <a:ea typeface="Roboto" charset="0"/>
                        <a:cs typeface="Roboto" charset="0"/>
                      </a:endParaRPr>
                    </a:p>
                  </a:txBody>
                  <a:tcPr marL="114300" marR="114300" marT="114300" marB="1143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1700" dirty="0">
                          <a:solidFill>
                            <a:srgbClr val="000000"/>
                          </a:solidFill>
                          <a:latin typeface="Roboto" pitchFamily="34" charset="0"/>
                          <a:ea typeface="Roboto" pitchFamily="34" charset="-122"/>
                          <a:cs typeface="Roboto" pitchFamily="34" charset="-120"/>
                        </a:rPr>
                        <a:t>14 µs</a:t>
                      </a:r>
                      <a:endParaRPr lang="en-US" sz="1700" dirty="0">
                        <a:latin typeface="Roboto" charset="0"/>
                        <a:ea typeface="Roboto" charset="0"/>
                        <a:cs typeface="Roboto" charset="0"/>
                      </a:endParaRPr>
                    </a:p>
                  </a:txBody>
                  <a:tcPr marL="114300" marR="114300" marT="114300" marB="1143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0">
                <a:tc>
                  <a:txBody>
                    <a:bodyPr/>
                    <a:lstStyle/>
                    <a:p>
                      <a:pPr algn="l" indent="0" marL="0">
                        <a:buNone/>
                      </a:pPr>
                      <a:r>
                        <a:rPr lang="en-US" sz="1700" dirty="0">
                          <a:solidFill>
                            <a:srgbClr val="000000"/>
                          </a:solidFill>
                          <a:latin typeface="Roboto" pitchFamily="34" charset="0"/>
                          <a:ea typeface="Roboto" pitchFamily="34" charset="-122"/>
                          <a:cs typeface="Roboto" pitchFamily="34" charset="-120"/>
                        </a:rPr>
                        <a:t>the metadata estimate</a:t>
                      </a:r>
                      <a:endParaRPr lang="en-US" sz="1700" dirty="0">
                        <a:latin typeface="Roboto" charset="0"/>
                        <a:ea typeface="Roboto" charset="0"/>
                        <a:cs typeface="Roboto" charset="0"/>
                      </a:endParaRPr>
                    </a:p>
                  </a:txBody>
                  <a:tcPr marL="114300" marR="114300" marT="114300" marB="1143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1700" b="1" dirty="0">
                          <a:solidFill>
                            <a:srgbClr val="38761D"/>
                          </a:solidFill>
                          <a:latin typeface="Roboto" pitchFamily="34" charset="0"/>
                          <a:ea typeface="Roboto" pitchFamily="34" charset="-122"/>
                          <a:cs typeface="Roboto" pitchFamily="34" charset="-120"/>
                        </a:rPr>
                        <a:t>0.9 µs</a:t>
                      </a:r>
                      <a:endParaRPr lang="en-US" sz="1700" dirty="0">
                        <a:latin typeface="Roboto" charset="0"/>
                        <a:ea typeface="Roboto" charset="0"/>
                        <a:cs typeface="Roboto" charset="0"/>
                      </a:endParaRPr>
                    </a:p>
                  </a:txBody>
                  <a:tcPr marL="114300" marR="114300" marT="114300" marB="1143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1700" b="1" dirty="0">
                          <a:solidFill>
                            <a:srgbClr val="38761D"/>
                          </a:solidFill>
                          <a:latin typeface="Roboto" pitchFamily="34" charset="0"/>
                          <a:ea typeface="Roboto" pitchFamily="34" charset="-122"/>
                          <a:cs typeface="Roboto" pitchFamily="34" charset="-120"/>
                        </a:rPr>
                        <a:t>0.2 µs</a:t>
                      </a:r>
                      <a:endParaRPr lang="en-US" sz="1700" dirty="0">
                        <a:latin typeface="Roboto" charset="0"/>
                        <a:ea typeface="Roboto" charset="0"/>
                        <a:cs typeface="Roboto" charset="0"/>
                      </a:endParaRPr>
                    </a:p>
                  </a:txBody>
                  <a:tcPr marL="114300" marR="114300" marT="114300" marB="1143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0">
                <a:tc>
                  <a:txBody>
                    <a:bodyPr/>
                    <a:lstStyle/>
                    <a:p>
                      <a:pPr algn="l" indent="0" marL="0">
                        <a:buNone/>
                      </a:pPr>
                      <a:r>
                        <a:rPr lang="en-US" sz="1700" dirty="0">
                          <a:solidFill>
                            <a:srgbClr val="000000"/>
                          </a:solidFill>
                          <a:latin typeface="Roboto" pitchFamily="34" charset="0"/>
                          <a:ea typeface="Roboto" pitchFamily="34" charset="-122"/>
                          <a:cs typeface="Roboto" pitchFamily="34" charset="-120"/>
                        </a:rPr>
                        <a:t>re-enter at an </a:t>
                      </a:r>
                      <a:pPr algn="l" indent="0" marL="0">
                        <a:buNone/>
                      </a:pPr>
                      <a:r>
                        <a:rPr lang="en-US" sz="1700" b="1" dirty="0">
                          <a:solidFill>
                            <a:srgbClr val="000000"/>
                          </a:solidFill>
                          <a:latin typeface="Roboto" pitchFamily="34" charset="0"/>
                          <a:ea typeface="Roboto" pitchFamily="34" charset="-122"/>
                          <a:cs typeface="Roboto" pitchFamily="34" charset="-120"/>
                        </a:rPr>
                        <a:t>advancing</a:t>
                      </a:r>
                      <a:pPr algn="l" indent="0" marL="0">
                        <a:buNone/>
                      </a:pPr>
                      <a:r>
                        <a:rPr lang="en-US" sz="1700" dirty="0">
                          <a:solidFill>
                            <a:srgbClr val="000000"/>
                          </a:solidFill>
                          <a:latin typeface="Roboto" pitchFamily="34" charset="0"/>
                          <a:ea typeface="Roboto" pitchFamily="34" charset="-122"/>
                          <a:cs typeface="Roboto" pitchFamily="34" charset="-120"/>
                        </a:rPr>
                        <a:t> offset</a:t>
                      </a:r>
                      <a:endParaRPr lang="en-US" sz="1700" dirty="0">
                        <a:latin typeface="Roboto" charset="0"/>
                        <a:ea typeface="Roboto" charset="0"/>
                        <a:cs typeface="Roboto" charset="0"/>
                      </a:endParaRPr>
                    </a:p>
                  </a:txBody>
                  <a:tcPr marL="114300" marR="114300" marT="114300" marB="1143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1700" dirty="0">
                          <a:solidFill>
                            <a:srgbClr val="000000"/>
                          </a:solidFill>
                          <a:latin typeface="Roboto" pitchFamily="34" charset="0"/>
                          <a:ea typeface="Roboto" pitchFamily="34" charset="-122"/>
                          <a:cs typeface="Roboto" pitchFamily="34" charset="-120"/>
                        </a:rPr>
                        <a:t>1,812 µs</a:t>
                      </a:r>
                      <a:endParaRPr lang="en-US" sz="1700" dirty="0">
                        <a:latin typeface="Roboto" charset="0"/>
                        <a:ea typeface="Roboto" charset="0"/>
                        <a:cs typeface="Roboto" charset="0"/>
                      </a:endParaRPr>
                    </a:p>
                  </a:txBody>
                  <a:tcPr marL="114300" marR="114300" marT="114300" marB="1143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1700" b="1" dirty="0">
                          <a:solidFill>
                            <a:srgbClr val="38761D"/>
                          </a:solidFill>
                          <a:latin typeface="Roboto" pitchFamily="34" charset="0"/>
                          <a:ea typeface="Roboto" pitchFamily="34" charset="-122"/>
                          <a:cs typeface="Roboto" pitchFamily="34" charset="-120"/>
                        </a:rPr>
                        <a:t>14 µs</a:t>
                      </a:r>
                      <a:endParaRPr lang="en-US" sz="1700" dirty="0">
                        <a:latin typeface="Roboto" charset="0"/>
                        <a:ea typeface="Roboto" charset="0"/>
                        <a:cs typeface="Roboto" charset="0"/>
                      </a:endParaRPr>
                    </a:p>
                  </a:txBody>
                  <a:tcPr marL="114300" marR="114300" marT="114300" marB="1143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0">
                <a:tc>
                  <a:txBody>
                    <a:bodyPr/>
                    <a:lstStyle/>
                    <a:p>
                      <a:pPr algn="l" indent="0" marL="0">
                        <a:buNone/>
                      </a:pPr>
                      <a:r>
                        <a:rPr lang="en-US" sz="1700" dirty="0">
                          <a:solidFill>
                            <a:srgbClr val="000000"/>
                          </a:solidFill>
                          <a:latin typeface="Roboto" pitchFamily="34" charset="0"/>
                          <a:ea typeface="Roboto" pitchFamily="34" charset="-122"/>
                          <a:cs typeface="Roboto" pitchFamily="34" charset="-120"/>
                        </a:rPr>
                        <a:t>re-enter at a </a:t>
                      </a:r>
                      <a:pPr algn="l" indent="0" marL="0">
                        <a:buNone/>
                      </a:pPr>
                      <a:r>
                        <a:rPr lang="en-US" sz="1700" b="1" dirty="0">
                          <a:solidFill>
                            <a:srgbClr val="000000"/>
                          </a:solidFill>
                          <a:latin typeface="Roboto" pitchFamily="34" charset="0"/>
                          <a:ea typeface="Roboto" pitchFamily="34" charset="-122"/>
                          <a:cs typeface="Roboto" pitchFamily="34" charset="-120"/>
                        </a:rPr>
                        <a:t>scattered</a:t>
                      </a:r>
                      <a:pPr algn="l" indent="0" marL="0">
                        <a:buNone/>
                      </a:pPr>
                      <a:r>
                        <a:rPr lang="en-US" sz="1700" dirty="0">
                          <a:solidFill>
                            <a:srgbClr val="000000"/>
                          </a:solidFill>
                          <a:latin typeface="Roboto" pitchFamily="34" charset="0"/>
                          <a:ea typeface="Roboto" pitchFamily="34" charset="-122"/>
                          <a:cs typeface="Roboto" pitchFamily="34" charset="-120"/>
                        </a:rPr>
                        <a:t> offset</a:t>
                      </a:r>
                      <a:endParaRPr lang="en-US" sz="1700" dirty="0">
                        <a:latin typeface="Roboto" charset="0"/>
                        <a:ea typeface="Roboto" charset="0"/>
                        <a:cs typeface="Roboto" charset="0"/>
                      </a:endParaRPr>
                    </a:p>
                  </a:txBody>
                  <a:tcPr marL="114300" marR="114300" marT="114300" marB="1143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1700" dirty="0">
                          <a:solidFill>
                            <a:srgbClr val="000000"/>
                          </a:solidFill>
                          <a:latin typeface="Roboto" pitchFamily="34" charset="0"/>
                          <a:ea typeface="Roboto" pitchFamily="34" charset="-122"/>
                          <a:cs typeface="Roboto" pitchFamily="34" charset="-120"/>
                        </a:rPr>
                        <a:t>3,063 µs</a:t>
                      </a:r>
                      <a:endParaRPr lang="en-US" sz="1700" dirty="0">
                        <a:latin typeface="Roboto" charset="0"/>
                        <a:ea typeface="Roboto" charset="0"/>
                        <a:cs typeface="Roboto" charset="0"/>
                      </a:endParaRPr>
                    </a:p>
                  </a:txBody>
                  <a:tcPr marL="114300" marR="114300" marT="114300" marB="1143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1700" b="1" dirty="0">
                          <a:solidFill>
                            <a:srgbClr val="FF0000"/>
                          </a:solidFill>
                          <a:latin typeface="Roboto" pitchFamily="34" charset="0"/>
                          <a:ea typeface="Roboto" pitchFamily="34" charset="-122"/>
                          <a:cs typeface="Roboto" pitchFamily="34" charset="-120"/>
                        </a:rPr>
                        <a:t>476 µs</a:t>
                      </a:r>
                      <a:endParaRPr lang="en-US" sz="1700" dirty="0">
                        <a:latin typeface="Roboto" charset="0"/>
                        <a:ea typeface="Roboto" charset="0"/>
                        <a:cs typeface="Roboto" charset="0"/>
                      </a:endParaRPr>
                    </a:p>
                  </a:txBody>
                  <a:tcPr marL="114300" marR="114300" marT="114300" marB="1143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0">
                <a:tc>
                  <a:txBody>
                    <a:bodyPr/>
                    <a:lstStyle/>
                    <a:p>
                      <a:pPr algn="l" indent="0" marL="0">
                        <a:buNone/>
                      </a:pPr>
                      <a:r>
                        <a:rPr lang="en-US" sz="1700" dirty="0">
                          <a:solidFill>
                            <a:srgbClr val="000000"/>
                          </a:solidFill>
                          <a:latin typeface="Roboto" pitchFamily="34" charset="0"/>
                          <a:ea typeface="Roboto" pitchFamily="34" charset="-122"/>
                          <a:cs typeface="Roboto" pitchFamily="34" charset="-120"/>
                        </a:rPr>
                        <a:t>one uniform draw</a:t>
                      </a:r>
                      <a:endParaRPr lang="en-US" sz="1700" dirty="0">
                        <a:latin typeface="Roboto" charset="0"/>
                        <a:ea typeface="Roboto" charset="0"/>
                        <a:cs typeface="Roboto" charset="0"/>
                      </a:endParaRPr>
                    </a:p>
                  </a:txBody>
                  <a:tcPr marL="114300" marR="114300" marT="114300" marB="1143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1700" b="1" dirty="0">
                          <a:solidFill>
                            <a:srgbClr val="FF0000"/>
                          </a:solidFill>
                          <a:latin typeface="Roboto" pitchFamily="34" charset="0"/>
                          <a:ea typeface="Roboto" pitchFamily="34" charset="-122"/>
                          <a:cs typeface="Roboto" pitchFamily="34" charset="-120"/>
                        </a:rPr>
                        <a:t>2,725 µs</a:t>
                      </a:r>
                      <a:endParaRPr lang="en-US" sz="1700" dirty="0">
                        <a:latin typeface="Roboto" charset="0"/>
                        <a:ea typeface="Roboto" charset="0"/>
                        <a:cs typeface="Roboto" charset="0"/>
                      </a:endParaRPr>
                    </a:p>
                  </a:txBody>
                  <a:tcPr marL="114300" marR="114300" marT="114300" marB="1143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1700" b="1" dirty="0">
                          <a:solidFill>
                            <a:srgbClr val="FF0000"/>
                          </a:solidFill>
                          <a:latin typeface="Roboto" pitchFamily="34" charset="0"/>
                          <a:ea typeface="Roboto" pitchFamily="34" charset="-122"/>
                          <a:cs typeface="Roboto" pitchFamily="34" charset="-120"/>
                        </a:rPr>
                        <a:t>500 µs</a:t>
                      </a:r>
                      <a:endParaRPr lang="en-US" sz="1700" dirty="0">
                        <a:latin typeface="Roboto" charset="0"/>
                        <a:ea typeface="Roboto" charset="0"/>
                        <a:cs typeface="Roboto" charset="0"/>
                      </a:endParaRPr>
                    </a:p>
                  </a:txBody>
                  <a:tcPr marL="114300" marR="114300" marT="114300" marB="1143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660400" y="5480050"/>
            <a:ext cx="10871200" cy="259232"/>
          </a:xfrm>
          <a:prstGeom prst="rect">
            <a:avLst/>
          </a:prstGeom>
          <a:noFill/>
          <a:ln/>
        </p:spPr>
        <p:txBody>
          <a:bodyPr wrap="square" lIns="0" tIns="0" rIns="0" bIns="0" rtlCol="0" anchor="t"/>
          <a:lstStyle/>
          <a:p>
            <a:pPr algn="l" indent="0" marL="0">
              <a:lnSpc>
                <a:spcPct val="135000"/>
              </a:lnSpc>
              <a:buNone/>
            </a:pPr>
            <a:r>
              <a:rPr lang="en-US" sz="1400" dirty="0">
                <a:solidFill>
                  <a:srgbClr val="595959"/>
                </a:solidFill>
                <a:latin typeface="Roboto" pitchFamily="34" charset="0"/>
                <a:ea typeface="Roboto" pitchFamily="34" charset="-122"/>
                <a:cs typeface="Roboto" pitchFamily="34" charset="-120"/>
              </a:rPr>
              <a:t>WatDiv 10M · 10,916,457 and 136,215 matches · 100 calls each · skip is lazy, so every row reads a component afterwards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155700"/>
          </a:xfrm>
          <a:prstGeom prst="rect">
            <a:avLst/>
          </a:prstGeom>
          <a:solidFill>
            <a:srgbClr val="0084D1"/>
          </a:solidFill>
          <a:ln/>
        </p:spPr>
      </p:sp>
      <p:sp>
        <p:nvSpPr>
          <p:cNvPr id="3" name="Text 1"/>
          <p:cNvSpPr txBox="1"/>
          <p:nvPr/>
        </p:nvSpPr>
        <p:spPr>
          <a:xfrm>
            <a:off x="0" y="228600"/>
            <a:ext cx="12192000" cy="853440"/>
          </a:xfrm>
          <a:prstGeom prst="rect">
            <a:avLst/>
          </a:prstGeom>
          <a:noFill/>
          <a:ln/>
        </p:spPr>
        <p:txBody>
          <a:bodyPr wrap="square" lIns="0" tIns="0" rIns="0" bIns="0" rtlCol="0" anchor="t"/>
          <a:lstStyle/>
          <a:p>
            <a:pPr algn="ctr" indent="0" marL="0">
              <a:lnSpc>
                <a:spcPct val="110000"/>
              </a:lnSpc>
              <a:buNone/>
            </a:pPr>
            <a:r>
              <a:rPr lang="en-US" sz="4200" b="1" dirty="0">
                <a:solidFill>
                  <a:srgbClr val="FFFFFF"/>
                </a:solidFill>
                <a:latin typeface="Roboto Slab" pitchFamily="34" charset="0"/>
                <a:ea typeface="Roboto Slab" pitchFamily="34" charset="-122"/>
                <a:cs typeface="Roboto Slab" pitchFamily="34" charset="-120"/>
              </a:rPr>
              <a:t>What the patch buys</a:t>
            </a:r>
            <a:endParaRPr lang="en-US" sz="4200" dirty="0"/>
          </a:p>
        </p:txBody>
      </p:sp>
      <p:sp>
        <p:nvSpPr>
          <p:cNvPr id="4" name="Text 2"/>
          <p:cNvSpPr txBox="1"/>
          <p:nvPr/>
        </p:nvSpPr>
        <p:spPr>
          <a:xfrm>
            <a:off x="10795000" y="6322060"/>
            <a:ext cx="889000" cy="264160"/>
          </a:xfrm>
          <a:prstGeom prst="rect">
            <a:avLst/>
          </a:prstGeom>
          <a:noFill/>
          <a:ln/>
        </p:spPr>
        <p:txBody>
          <a:bodyPr wrap="square" lIns="0" tIns="0" rIns="0" bIns="0" rtlCol="0" anchor="t"/>
          <a:lstStyle/>
          <a:p>
            <a:pPr algn="r" indent="0" marL="0">
              <a:lnSpc>
                <a:spcPct val="120000"/>
              </a:lnSpc>
              <a:buNone/>
            </a:pPr>
            <a:r>
              <a:rPr lang="en-US" sz="1300" dirty="0">
                <a:solidFill>
                  <a:srgbClr val="595959"/>
                </a:solidFill>
                <a:latin typeface="Roboto" pitchFamily="34" charset="0"/>
                <a:ea typeface="Roboto" pitchFamily="34" charset="-122"/>
                <a:cs typeface="Roboto" pitchFamily="34" charset="-120"/>
              </a:rPr>
              <a:t>14</a:t>
            </a:r>
            <a:endParaRPr lang="en-US" sz="1300" dirty="0"/>
          </a:p>
        </p:txBody>
      </p:sp>
      <p:sp>
        <p:nvSpPr>
          <p:cNvPr id="6" name="Text 3"/>
          <p:cNvSpPr txBox="1"/>
          <p:nvPr/>
        </p:nvSpPr>
        <p:spPr>
          <a:xfrm>
            <a:off x="660400" y="1358900"/>
            <a:ext cx="10566400" cy="326441"/>
          </a:xfrm>
          <a:prstGeom prst="rect">
            <a:avLst/>
          </a:prstGeom>
          <a:noFill/>
          <a:ln/>
        </p:spPr>
        <p:txBody>
          <a:bodyPr wrap="square" lIns="0" tIns="0" rIns="0" bIns="0" rtlCol="0" anchor="t"/>
          <a:lstStyle/>
          <a:p>
            <a:pPr algn="l" indent="0" marL="0">
              <a:lnSpc>
                <a:spcPct val="140000"/>
              </a:lnSpc>
              <a:buNone/>
            </a:pPr>
            <a:r>
              <a:rPr lang="en-US" sz="1700" dirty="0">
                <a:solidFill>
                  <a:srgbClr val="000000"/>
                </a:solidFill>
                <a:latin typeface="Roboto" pitchFamily="34" charset="0"/>
                <a:ea typeface="Roboto" pitchFamily="34" charset="-122"/>
                <a:cs typeface="Roboto" pitchFamily="34" charset="-120"/>
              </a:rPr>
              <a:t>Same tree, block skipping compiled out, so the two runs differ in exactly one function:</a:t>
            </a:r>
            <a:endParaRPr lang="en-US" sz="17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60400" y="1850441"/>
          <a:ext cx="10871200" cy="914400"/>
        </p:xfrm>
        <a:graphic>
          <a:graphicData uri="http://schemas.openxmlformats.org/drawingml/2006/table">
            <a:tbl>
              <a:tblPr/>
              <a:tblGrid>
                <a:gridCol w="4783328"/>
                <a:gridCol w="3043936"/>
                <a:gridCol w="3043936"/>
              </a:tblGrid>
              <a:tr h="0">
                <a:tc>
                  <a:txBody>
                    <a:bodyPr/>
                    <a:lstStyle/>
                    <a:p>
                      <a:pPr algn="l" indent="0" marL="0">
                        <a:buNone/>
                      </a:pPr>
                      <a:r>
                        <a:rPr lang="en-US" sz="1800" b="1" dirty="0">
                          <a:solidFill>
                            <a:srgbClr val="FFFFFF"/>
                          </a:solidFill>
                          <a:latin typeface="Roboto" pitchFamily="34" charset="0"/>
                          <a:ea typeface="Roboto" pitchFamily="34" charset="-122"/>
                          <a:cs typeface="Roboto" pitchFamily="34" charset="-120"/>
                        </a:rPr>
                        <a:t>OFFSET into ?s ?p ?o</a:t>
                      </a:r>
                      <a:endParaRPr lang="en-US" sz="1800" dirty="0">
                        <a:latin typeface="Roboto" charset="0"/>
                        <a:ea typeface="Roboto" charset="0"/>
                        <a:cs typeface="Roboto" charset="0"/>
                      </a:endParaRPr>
                    </a:p>
                  </a:txBody>
                  <a:tcPr marL="114300" marR="114300" marT="114300" marB="1143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84D1"/>
                    </a:solidFill>
                  </a:tcPr>
                </a:tc>
                <a:tc>
                  <a:txBody>
                    <a:bodyPr/>
                    <a:lstStyle/>
                    <a:p>
                      <a:pPr algn="r" indent="0" marL="0">
                        <a:buNone/>
                      </a:pPr>
                      <a:r>
                        <a:rPr lang="en-US" sz="1800" b="1" dirty="0">
                          <a:solidFill>
                            <a:srgbClr val="FFFFFF"/>
                          </a:solidFill>
                          <a:latin typeface="Roboto" pitchFamily="34" charset="0"/>
                          <a:ea typeface="Roboto" pitchFamily="34" charset="-122"/>
                          <a:cs typeface="Roboto" pitchFamily="34" charset="-120"/>
                        </a:rPr>
                        <a:t>patched</a:t>
                      </a:r>
                      <a:endParaRPr lang="en-US" sz="1800" dirty="0">
                        <a:latin typeface="Roboto" charset="0"/>
                        <a:ea typeface="Roboto" charset="0"/>
                        <a:cs typeface="Roboto" charset="0"/>
                      </a:endParaRPr>
                    </a:p>
                  </a:txBody>
                  <a:tcPr marL="114300" marR="114300" marT="114300" marB="1143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84D1"/>
                    </a:solidFill>
                  </a:tcPr>
                </a:tc>
                <a:tc>
                  <a:txBody>
                    <a:bodyPr/>
                    <a:lstStyle/>
                    <a:p>
                      <a:pPr algn="r" indent="0" marL="0">
                        <a:buNone/>
                      </a:pPr>
                      <a:r>
                        <a:rPr lang="en-US" sz="1800" b="1" dirty="0">
                          <a:solidFill>
                            <a:srgbClr val="FFFFFF"/>
                          </a:solidFill>
                          <a:latin typeface="Roboto" pitchFamily="34" charset="0"/>
                          <a:ea typeface="Roboto" pitchFamily="34" charset="-122"/>
                          <a:cs typeface="Roboto" pitchFamily="34" charset="-120"/>
                        </a:rPr>
                        <a:t>stock QLever</a:t>
                      </a:r>
                      <a:endParaRPr lang="en-US" sz="1800" dirty="0">
                        <a:latin typeface="Roboto" charset="0"/>
                        <a:ea typeface="Roboto" charset="0"/>
                        <a:cs typeface="Roboto" charset="0"/>
                      </a:endParaRPr>
                    </a:p>
                  </a:txBody>
                  <a:tcPr marL="114300" marR="114300" marT="114300" marB="1143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84D1"/>
                    </a:solidFill>
                  </a:tcPr>
                </a:tc>
              </a:tr>
              <a:tr h="0">
                <a:tc>
                  <a:txBody>
                    <a:bodyPr/>
                    <a:lstStyle/>
                    <a:p>
                      <a:pPr algn="l" indent="0" marL="0">
                        <a:buNone/>
                      </a:pPr>
                      <a:r>
                        <a:rPr lang="en-US" sz="1800" dirty="0">
                          <a:solidFill>
                            <a:srgbClr val="000000"/>
                          </a:solidFill>
                          <a:latin typeface="Roboto" pitchFamily="34" charset="0"/>
                          <a:ea typeface="Roboto" pitchFamily="34" charset="-122"/>
                          <a:cs typeface="Roboto" pitchFamily="34" charset="-120"/>
                        </a:rPr>
                        <a:t>1,000,000</a:t>
                      </a:r>
                      <a:endParaRPr lang="en-US" sz="1800" dirty="0">
                        <a:latin typeface="Roboto" charset="0"/>
                        <a:ea typeface="Roboto" charset="0"/>
                        <a:cs typeface="Roboto" charset="0"/>
                      </a:endParaRPr>
                    </a:p>
                  </a:txBody>
                  <a:tcPr marL="114300" marR="114300" marT="114300" marB="1143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1800" dirty="0">
                          <a:solidFill>
                            <a:srgbClr val="000000"/>
                          </a:solidFill>
                          <a:latin typeface="Roboto" pitchFamily="34" charset="0"/>
                          <a:ea typeface="Roboto" pitchFamily="34" charset="-122"/>
                          <a:cs typeface="Roboto" pitchFamily="34" charset="-120"/>
                        </a:rPr>
                        <a:t>4 ms</a:t>
                      </a:r>
                      <a:endParaRPr lang="en-US" sz="1800" dirty="0">
                        <a:latin typeface="Roboto" charset="0"/>
                        <a:ea typeface="Roboto" charset="0"/>
                        <a:cs typeface="Roboto" charset="0"/>
                      </a:endParaRPr>
                    </a:p>
                  </a:txBody>
                  <a:tcPr marL="114300" marR="114300" marT="114300" marB="1143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1800" dirty="0">
                          <a:solidFill>
                            <a:srgbClr val="000000"/>
                          </a:solidFill>
                          <a:latin typeface="Roboto" pitchFamily="34" charset="0"/>
                          <a:ea typeface="Roboto" pitchFamily="34" charset="-122"/>
                          <a:cs typeface="Roboto" pitchFamily="34" charset="-120"/>
                        </a:rPr>
                        <a:t>7 ms</a:t>
                      </a:r>
                      <a:endParaRPr lang="en-US" sz="1800" dirty="0">
                        <a:latin typeface="Roboto" charset="0"/>
                        <a:ea typeface="Roboto" charset="0"/>
                        <a:cs typeface="Roboto" charset="0"/>
                      </a:endParaRPr>
                    </a:p>
                  </a:txBody>
                  <a:tcPr marL="114300" marR="114300" marT="114300" marB="1143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0">
                <a:tc>
                  <a:txBody>
                    <a:bodyPr/>
                    <a:lstStyle/>
                    <a:p>
                      <a:pPr algn="l" indent="0" marL="0">
                        <a:buNone/>
                      </a:pPr>
                      <a:r>
                        <a:rPr lang="en-US" sz="1800" dirty="0">
                          <a:solidFill>
                            <a:srgbClr val="000000"/>
                          </a:solidFill>
                          <a:latin typeface="Roboto" pitchFamily="34" charset="0"/>
                          <a:ea typeface="Roboto" pitchFamily="34" charset="-122"/>
                          <a:cs typeface="Roboto" pitchFamily="34" charset="-120"/>
                        </a:rPr>
                        <a:t>5,000,000</a:t>
                      </a:r>
                      <a:endParaRPr lang="en-US" sz="1800" dirty="0">
                        <a:latin typeface="Roboto" charset="0"/>
                        <a:ea typeface="Roboto" charset="0"/>
                        <a:cs typeface="Roboto" charset="0"/>
                      </a:endParaRPr>
                    </a:p>
                  </a:txBody>
                  <a:tcPr marL="114300" marR="114300" marT="114300" marB="1143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1800" dirty="0">
                          <a:solidFill>
                            <a:srgbClr val="000000"/>
                          </a:solidFill>
                          <a:latin typeface="Roboto" pitchFamily="34" charset="0"/>
                          <a:ea typeface="Roboto" pitchFamily="34" charset="-122"/>
                          <a:cs typeface="Roboto" pitchFamily="34" charset="-120"/>
                        </a:rPr>
                        <a:t>5 ms</a:t>
                      </a:r>
                      <a:endParaRPr lang="en-US" sz="1800" dirty="0">
                        <a:latin typeface="Roboto" charset="0"/>
                        <a:ea typeface="Roboto" charset="0"/>
                        <a:cs typeface="Roboto" charset="0"/>
                      </a:endParaRPr>
                    </a:p>
                  </a:txBody>
                  <a:tcPr marL="114300" marR="114300" marT="114300" marB="1143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1800" dirty="0">
                          <a:solidFill>
                            <a:srgbClr val="000000"/>
                          </a:solidFill>
                          <a:latin typeface="Roboto" pitchFamily="34" charset="0"/>
                          <a:ea typeface="Roboto" pitchFamily="34" charset="-122"/>
                          <a:cs typeface="Roboto" pitchFamily="34" charset="-120"/>
                        </a:rPr>
                        <a:t>20 ms</a:t>
                      </a:r>
                      <a:endParaRPr lang="en-US" sz="1800" dirty="0">
                        <a:latin typeface="Roboto" charset="0"/>
                        <a:ea typeface="Roboto" charset="0"/>
                        <a:cs typeface="Roboto" charset="0"/>
                      </a:endParaRPr>
                    </a:p>
                  </a:txBody>
                  <a:tcPr marL="114300" marR="114300" marT="114300" marB="1143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0">
                <a:tc>
                  <a:txBody>
                    <a:bodyPr/>
                    <a:lstStyle/>
                    <a:p>
                      <a:pPr algn="l" indent="0" marL="0">
                        <a:buNone/>
                      </a:pPr>
                      <a:r>
                        <a:rPr lang="en-US" sz="1800" dirty="0">
                          <a:solidFill>
                            <a:srgbClr val="000000"/>
                          </a:solidFill>
                          <a:latin typeface="Roboto" pitchFamily="34" charset="0"/>
                          <a:ea typeface="Roboto" pitchFamily="34" charset="-122"/>
                          <a:cs typeface="Roboto" pitchFamily="34" charset="-120"/>
                        </a:rPr>
                        <a:t>10,000,000</a:t>
                      </a:r>
                      <a:endParaRPr lang="en-US" sz="1800" dirty="0">
                        <a:latin typeface="Roboto" charset="0"/>
                        <a:ea typeface="Roboto" charset="0"/>
                        <a:cs typeface="Roboto" charset="0"/>
                      </a:endParaRPr>
                    </a:p>
                  </a:txBody>
                  <a:tcPr marL="114300" marR="114300" marT="114300" marB="1143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1800" b="1" dirty="0">
                          <a:solidFill>
                            <a:srgbClr val="000000"/>
                          </a:solidFill>
                          <a:latin typeface="Roboto" pitchFamily="34" charset="0"/>
                          <a:ea typeface="Roboto" pitchFamily="34" charset="-122"/>
                          <a:cs typeface="Roboto" pitchFamily="34" charset="-120"/>
                        </a:rPr>
                        <a:t>4 ms</a:t>
                      </a:r>
                      <a:endParaRPr lang="en-US" sz="1800" dirty="0">
                        <a:latin typeface="Roboto" charset="0"/>
                        <a:ea typeface="Roboto" charset="0"/>
                        <a:cs typeface="Roboto" charset="0"/>
                      </a:endParaRPr>
                    </a:p>
                  </a:txBody>
                  <a:tcPr marL="114300" marR="114300" marT="114300" marB="1143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1800" b="1" dirty="0">
                          <a:solidFill>
                            <a:srgbClr val="FF0000"/>
                          </a:solidFill>
                          <a:latin typeface="Roboto" pitchFamily="34" charset="0"/>
                          <a:ea typeface="Roboto" pitchFamily="34" charset="-122"/>
                          <a:cs typeface="Roboto" pitchFamily="34" charset="-120"/>
                        </a:rPr>
                        <a:t>38 ms</a:t>
                      </a:r>
                      <a:endParaRPr lang="en-US" sz="1800" dirty="0">
                        <a:latin typeface="Roboto" charset="0"/>
                        <a:ea typeface="Roboto" charset="0"/>
                        <a:cs typeface="Roboto" charset="0"/>
                      </a:endParaRPr>
                    </a:p>
                  </a:txBody>
                  <a:tcPr marL="114300" marR="114300" marT="114300" marB="1143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bl>
          </a:graphicData>
        </a:graphic>
      </p:graphicFrame>
      <p:sp>
        <p:nvSpPr>
          <p:cNvPr id="8" name="Text 4"/>
          <p:cNvSpPr txBox="1"/>
          <p:nvPr/>
        </p:nvSpPr>
        <p:spPr>
          <a:xfrm>
            <a:off x="660400" y="4301541"/>
            <a:ext cx="9906000" cy="1096264"/>
          </a:xfrm>
          <a:prstGeom prst="rect">
            <a:avLst/>
          </a:prstGeom>
          <a:noFill/>
          <a:ln w="38100">
            <a:solidFill>
              <a:srgbClr val="FF0000"/>
            </a:solidFill>
          </a:ln>
        </p:spPr>
        <p:txBody>
          <a:bodyPr wrap="square" lIns="177800" tIns="177800" rIns="177800" bIns="177800" rtlCol="0" anchor="t"/>
          <a:lstStyle/>
          <a:p>
            <a:pPr algn="ctr" indent="0" marL="0">
              <a:lnSpc>
                <a:spcPct val="135000"/>
              </a:lnSpc>
              <a:buNone/>
            </a:pPr>
            <a:r>
              <a:rPr lang="en-US" sz="2000" dirty="0">
                <a:solidFill>
                  <a:srgbClr val="000000"/>
                </a:solidFill>
                <a:latin typeface="Roboto" pitchFamily="34" charset="0"/>
                <a:ea typeface="Roboto" pitchFamily="34" charset="-122"/>
                <a:cs typeface="Roboto" pitchFamily="34" charset="-120"/>
              </a:rPr>
              <a:t>Extrapolated, one resumption at 10</a:t>
            </a:r>
            <a:pPr algn="ctr" indent="0" marL="0">
              <a:lnSpc>
                <a:spcPct val="135000"/>
              </a:lnSpc>
              <a:buNone/>
            </a:pPr>
            <a:r>
              <a:rPr lang="en-US" sz="2000" dirty="0">
                <a:solidFill>
                  <a:srgbClr val="000000"/>
                </a:solidFill>
                <a:latin typeface="Roboto" pitchFamily="34" charset="0"/>
                <a:ea typeface="Roboto" pitchFamily="34" charset="-122"/>
                <a:cs typeface="Roboto" pitchFamily="34" charset="-120"/>
              </a:rPr>
              <a:t>9</a:t>
            </a:r>
            <a:pPr algn="ctr" indent="0" marL="0">
              <a:lnSpc>
                <a:spcPct val="135000"/>
              </a:lnSpc>
              <a:buNone/>
            </a:pPr>
            <a:r>
              <a:rPr lang="en-US" sz="2000" dirty="0">
                <a:solidFill>
                  <a:srgbClr val="000000"/>
                </a:solidFill>
                <a:latin typeface="Roboto" pitchFamily="34" charset="0"/>
                <a:ea typeface="Roboto" pitchFamily="34" charset="-122"/>
                <a:cs typeface="Roboto" pitchFamily="34" charset="-120"/>
              </a:rPr>
              <a:t> costs </a:t>
            </a:r>
            <a:pPr algn="ctr" indent="0" marL="0">
              <a:lnSpc>
                <a:spcPct val="135000"/>
              </a:lnSpc>
              <a:buNone/>
            </a:pPr>
            <a:r>
              <a:rPr lang="en-US" sz="2000" b="1" dirty="0">
                <a:solidFill>
                  <a:srgbClr val="000000"/>
                </a:solidFill>
                <a:latin typeface="Roboto" pitchFamily="34" charset="0"/>
                <a:ea typeface="Roboto" pitchFamily="34" charset="-122"/>
                <a:cs typeface="Roboto" pitchFamily="34" charset="-120"/>
              </a:rPr>
              <a:t>1.6 – 3.5 s</a:t>
            </a:r>
            <a:pPr algn="ctr" indent="0" marL="0">
              <a:lnSpc>
                <a:spcPct val="135000"/>
              </a:lnSpc>
              <a:buNone/>
            </a:pPr>
            <a:r>
              <a:rPr lang="en-US" sz="2000" dirty="0">
                <a:solidFill>
                  <a:srgbClr val="000000"/>
                </a:solidFill>
                <a:latin typeface="Roboto" pitchFamily="34" charset="0"/>
                <a:ea typeface="Roboto" pitchFamily="34" charset="-122"/>
                <a:cs typeface="Roboto" pitchFamily="34" charset="-120"/>
              </a:rPr>
              <a:t>.</a:t>
            </a:r>
            <a:pPr algn="ctr" indent="0" marL="0">
              <a:lnSpc>
                <a:spcPct val="135000"/>
              </a:lnSpc>
              <a:buNone/>
            </a:pPr>
            <a:endParaRPr lang="en-US" sz="2000" dirty="0"/>
          </a:p>
          <a:p>
            <a:pPr algn="ctr" indent="0" marL="0">
              <a:lnSpc>
                <a:spcPct val="135000"/>
              </a:lnSpc>
              <a:buNone/>
            </a:pPr>
            <a:r>
              <a:rPr lang="en-US" sz="2000" dirty="0">
                <a:solidFill>
                  <a:srgbClr val="000000"/>
                </a:solidFill>
                <a:latin typeface="Roboto" pitchFamily="34" charset="0"/>
                <a:ea typeface="Roboto" pitchFamily="34" charset="-122"/>
                <a:cs typeface="Roboto" pitchFamily="34" charset="-120"/>
              </a:rPr>
              <a:t>Passage terminates only if each continuation </a:t>
            </a:r>
            <a:pPr algn="ctr" indent="0" marL="0">
              <a:lnSpc>
                <a:spcPct val="135000"/>
              </a:lnSpc>
              <a:buNone/>
            </a:pPr>
            <a:r>
              <a:rPr lang="en-US" sz="2000" b="1" dirty="0">
                <a:solidFill>
                  <a:srgbClr val="000000"/>
                </a:solidFill>
                <a:latin typeface="Roboto" pitchFamily="34" charset="0"/>
                <a:ea typeface="Roboto" pitchFamily="34" charset="-122"/>
                <a:cs typeface="Roboto" pitchFamily="34" charset="-120"/>
              </a:rPr>
              <a:t>makes progress</a:t>
            </a:r>
            <a:pPr algn="ctr" indent="0" marL="0">
              <a:lnSpc>
                <a:spcPct val="135000"/>
              </a:lnSpc>
              <a:buNone/>
            </a:pPr>
            <a:r>
              <a:rPr lang="en-US" sz="2000" dirty="0">
                <a:solidFill>
                  <a:srgbClr val="000000"/>
                </a:solidFill>
                <a:latin typeface="Roboto" pitchFamily="34" charset="0"/>
                <a:ea typeface="Roboto" pitchFamily="34" charset="-122"/>
                <a:cs typeface="Roboto" pitchFamily="34" charset="-120"/>
              </a:rPr>
              <a:t>.</a:t>
            </a:r>
            <a:endParaRPr lang="en-US" sz="2000" dirty="0"/>
          </a:p>
        </p:txBody>
      </p:sp>
      <p:sp>
        <p:nvSpPr>
          <p:cNvPr id="9" name="Text 5"/>
          <p:cNvSpPr txBox="1"/>
          <p:nvPr/>
        </p:nvSpPr>
        <p:spPr>
          <a:xfrm>
            <a:off x="660400" y="5562905"/>
            <a:ext cx="10566400" cy="652882"/>
          </a:xfrm>
          <a:prstGeom prst="rect">
            <a:avLst/>
          </a:prstGeom>
          <a:noFill/>
          <a:ln/>
        </p:spPr>
        <p:txBody>
          <a:bodyPr wrap="square" lIns="0" tIns="0" rIns="0" bIns="0" rtlCol="0" anchor="t"/>
          <a:lstStyle/>
          <a:p>
            <a:pPr algn="l" indent="0" marL="0">
              <a:lnSpc>
                <a:spcPct val="140000"/>
              </a:lnSpc>
              <a:buNone/>
            </a:pPr>
            <a:r>
              <a:rPr lang="en-US" sz="1700" dirty="0">
                <a:solidFill>
                  <a:srgbClr val="000000"/>
                </a:solidFill>
                <a:latin typeface="Roboto" pitchFamily="34" charset="0"/>
                <a:ea typeface="Roboto" pitchFamily="34" charset="-122"/>
                <a:cs typeface="Roboto" pitchFamily="34" charset="-120"/>
              </a:rPr>
              <a:t>Past the quota the engine does not slow down, it </a:t>
            </a:r>
            <a:pPr algn="l" indent="0" marL="0">
              <a:lnSpc>
                <a:spcPct val="140000"/>
              </a:lnSpc>
              <a:buNone/>
            </a:pPr>
            <a:r>
              <a:rPr lang="en-US" sz="1700" b="1" dirty="0">
                <a:solidFill>
                  <a:srgbClr val="000000"/>
                </a:solidFill>
                <a:latin typeface="Roboto" pitchFamily="34" charset="0"/>
                <a:ea typeface="Roboto" pitchFamily="34" charset="-122"/>
                <a:cs typeface="Roboto" pitchFamily="34" charset="-120"/>
              </a:rPr>
              <a:t>stops terminating</a:t>
            </a:r>
            <a:pPr algn="l" indent="0" marL="0">
              <a:lnSpc>
                <a:spcPct val="140000"/>
              </a:lnSpc>
              <a:buNone/>
            </a:pPr>
            <a:r>
              <a:rPr lang="en-US" sz="1700" dirty="0">
                <a:solidFill>
                  <a:srgbClr val="000000"/>
                </a:solidFill>
                <a:latin typeface="Roboto" pitchFamily="34" charset="0"/>
                <a:ea typeface="Roboto" pitchFamily="34" charset="-122"/>
                <a:cs typeface="Roboto" pitchFamily="34" charset="-120"/>
              </a:rPr>
              <a:t>. Worth a factor of two on ten million triples; on UniProt's </a:t>
            </a:r>
            <a:pPr algn="l" indent="0" marL="0">
              <a:lnSpc>
                <a:spcPct val="140000"/>
              </a:lnSpc>
              <a:buNone/>
            </a:pPr>
            <a:r>
              <a:rPr lang="en-US" sz="1700" b="1" dirty="0">
                <a:solidFill>
                  <a:srgbClr val="000000"/>
                </a:solidFill>
                <a:latin typeface="Roboto" pitchFamily="34" charset="0"/>
                <a:ea typeface="Roboto" pitchFamily="34" charset="-122"/>
                <a:cs typeface="Roboto" pitchFamily="34" charset="-120"/>
              </a:rPr>
              <a:t>245 billion</a:t>
            </a:r>
            <a:pPr algn="l" indent="0" marL="0">
              <a:lnSpc>
                <a:spcPct val="140000"/>
              </a:lnSpc>
              <a:buNone/>
            </a:pPr>
            <a:r>
              <a:rPr lang="en-US" sz="1700" dirty="0">
                <a:solidFill>
                  <a:srgbClr val="000000"/>
                </a:solidFill>
                <a:latin typeface="Roboto" pitchFamily="34" charset="0"/>
                <a:ea typeface="Roboto" pitchFamily="34" charset="-122"/>
                <a:cs typeface="Roboto" pitchFamily="34" charset="-120"/>
              </a:rPr>
              <a:t>, the difference between terminating and not.</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155700"/>
          </a:xfrm>
          <a:prstGeom prst="rect">
            <a:avLst/>
          </a:prstGeom>
          <a:solidFill>
            <a:srgbClr val="0084D1"/>
          </a:solidFill>
          <a:ln/>
        </p:spPr>
      </p:sp>
      <p:sp>
        <p:nvSpPr>
          <p:cNvPr id="3" name="Text 1"/>
          <p:cNvSpPr txBox="1"/>
          <p:nvPr/>
        </p:nvSpPr>
        <p:spPr>
          <a:xfrm>
            <a:off x="0" y="228600"/>
            <a:ext cx="12192000" cy="853440"/>
          </a:xfrm>
          <a:prstGeom prst="rect">
            <a:avLst/>
          </a:prstGeom>
          <a:noFill/>
          <a:ln/>
        </p:spPr>
        <p:txBody>
          <a:bodyPr wrap="square" lIns="0" tIns="0" rIns="0" bIns="0" rtlCol="0" anchor="t"/>
          <a:lstStyle/>
          <a:p>
            <a:pPr algn="ctr" indent="0" marL="0">
              <a:lnSpc>
                <a:spcPct val="110000"/>
              </a:lnSpc>
              <a:buNone/>
            </a:pPr>
            <a:r>
              <a:rPr lang="en-US" sz="4200" b="1" dirty="0">
                <a:solidFill>
                  <a:srgbClr val="FFFFFF"/>
                </a:solidFill>
                <a:latin typeface="Roboto Slab" pitchFamily="34" charset="0"/>
                <a:ea typeface="Roboto Slab" pitchFamily="34" charset="-122"/>
                <a:cs typeface="Roboto Slab" pitchFamily="34" charset="-120"/>
              </a:rPr>
              <a:t>The finding: a cache of decompressed blocks</a:t>
            </a:r>
            <a:endParaRPr lang="en-US" sz="4200" dirty="0"/>
          </a:p>
        </p:txBody>
      </p:sp>
      <p:sp>
        <p:nvSpPr>
          <p:cNvPr id="4" name="Text 2"/>
          <p:cNvSpPr txBox="1"/>
          <p:nvPr/>
        </p:nvSpPr>
        <p:spPr>
          <a:xfrm>
            <a:off x="10795000" y="6322060"/>
            <a:ext cx="889000" cy="264160"/>
          </a:xfrm>
          <a:prstGeom prst="rect">
            <a:avLst/>
          </a:prstGeom>
          <a:noFill/>
          <a:ln/>
        </p:spPr>
        <p:txBody>
          <a:bodyPr wrap="square" lIns="0" tIns="0" rIns="0" bIns="0" rtlCol="0" anchor="t"/>
          <a:lstStyle/>
          <a:p>
            <a:pPr algn="r" indent="0" marL="0">
              <a:lnSpc>
                <a:spcPct val="120000"/>
              </a:lnSpc>
              <a:buNone/>
            </a:pPr>
            <a:r>
              <a:rPr lang="en-US" sz="1300" dirty="0">
                <a:solidFill>
                  <a:srgbClr val="595959"/>
                </a:solidFill>
                <a:latin typeface="Roboto" pitchFamily="34" charset="0"/>
                <a:ea typeface="Roboto" pitchFamily="34" charset="-122"/>
                <a:cs typeface="Roboto" pitchFamily="34" charset="-120"/>
              </a:rPr>
              <a:t>15</a:t>
            </a:r>
            <a:endParaRPr lang="en-US" sz="1300" dirty="0"/>
          </a:p>
        </p:txBody>
      </p:sp>
      <p:sp>
        <p:nvSpPr>
          <p:cNvPr id="6" name="Text 3"/>
          <p:cNvSpPr txBox="1"/>
          <p:nvPr/>
        </p:nvSpPr>
        <p:spPr>
          <a:xfrm>
            <a:off x="660400" y="1358900"/>
            <a:ext cx="10566400" cy="582043"/>
          </a:xfrm>
          <a:prstGeom prst="rect">
            <a:avLst/>
          </a:prstGeom>
          <a:noFill/>
          <a:ln/>
        </p:spPr>
        <p:txBody>
          <a:bodyPr wrap="square" lIns="0" tIns="0" rIns="0" bIns="0" rtlCol="0" anchor="t"/>
          <a:lstStyle/>
          <a:p>
            <a:pPr algn="l" indent="0" marL="0">
              <a:lnSpc>
                <a:spcPct val="140000"/>
              </a:lnSpc>
              <a:buNone/>
            </a:pPr>
            <a:r>
              <a:rPr lang="en-US" sz="1516" dirty="0">
                <a:solidFill>
                  <a:srgbClr val="000000"/>
                </a:solidFill>
                <a:latin typeface="Roboto" pitchFamily="34" charset="0"/>
                <a:ea typeface="Roboto" pitchFamily="34" charset="-122"/>
                <a:cs typeface="Roboto" pitchFamily="34" charset="-120"/>
              </a:rPr>
              <a:t>Opening a scan decompresses a block and </a:t>
            </a:r>
            <a:pPr algn="l" indent="0" marL="0">
              <a:lnSpc>
                <a:spcPct val="140000"/>
              </a:lnSpc>
              <a:buNone/>
            </a:pPr>
            <a:r>
              <a:rPr lang="en-US" sz="1516" b="1" dirty="0">
                <a:solidFill>
                  <a:srgbClr val="000000"/>
                </a:solidFill>
                <a:latin typeface="Roboto" pitchFamily="34" charset="0"/>
                <a:ea typeface="Roboto" pitchFamily="34" charset="-122"/>
                <a:cs typeface="Roboto" pitchFamily="34" charset="-120"/>
              </a:rPr>
              <a:t>nothing keeps it</a:t>
            </a:r>
            <a:pPr algn="l" indent="0" marL="0">
              <a:lnSpc>
                <a:spcPct val="140000"/>
              </a:lnSpc>
              <a:buNone/>
            </a:pPr>
            <a:r>
              <a:rPr lang="en-US" sz="1516" dirty="0">
                <a:solidFill>
                  <a:srgbClr val="000000"/>
                </a:solidFill>
                <a:latin typeface="Roboto" pitchFamily="34" charset="0"/>
                <a:ea typeface="Roboto" pitchFamily="34" charset="-122"/>
                <a:cs typeface="Roboto" pitchFamily="34" charset="-120"/>
              </a:rPr>
              <a:t>. A nested-loop join opens one scan per outer solution and lands in the same block thousands of times running.</a:t>
            </a:r>
            <a:endParaRPr lang="en-US" sz="1516"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60400" y="2079952"/>
          <a:ext cx="10871200" cy="914400"/>
        </p:xfrm>
        <a:graphic>
          <a:graphicData uri="http://schemas.openxmlformats.org/drawingml/2006/table">
            <a:tbl>
              <a:tblPr/>
              <a:tblGrid>
                <a:gridCol w="5435600"/>
                <a:gridCol w="5435600"/>
              </a:tblGrid>
              <a:tr h="0">
                <a:tc>
                  <a:txBody>
                    <a:bodyPr/>
                    <a:lstStyle/>
                    <a:p>
                      <a:pPr algn="l" indent="0" marL="0">
                        <a:buNone/>
                      </a:pPr>
                      <a:r>
                        <a:rPr lang="en-US" sz="1516" b="1" dirty="0">
                          <a:solidFill>
                            <a:srgbClr val="FFFFFF"/>
                          </a:solidFill>
                          <a:latin typeface="Roboto" pitchFamily="34" charset="0"/>
                          <a:ea typeface="Roboto" pitchFamily="34" charset="-122"/>
                          <a:cs typeface="Roboto" pitchFamily="34" charset="-120"/>
                        </a:rPr>
                        <a:t>blocks kept per thread</a:t>
                      </a:r>
                      <a:endParaRPr lang="en-US" sz="1516" dirty="0">
                        <a:latin typeface="Roboto" charset="0"/>
                        <a:ea typeface="Roboto" charset="0"/>
                        <a:cs typeface="Roboto" charset="0"/>
                      </a:endParaRPr>
                    </a:p>
                  </a:txBody>
                  <a:tcPr marL="96237" marR="96237" marT="96237" marB="96237"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84D1"/>
                    </a:solidFill>
                  </a:tcPr>
                </a:tc>
                <a:tc>
                  <a:txBody>
                    <a:bodyPr/>
                    <a:lstStyle/>
                    <a:p>
                      <a:pPr algn="r" indent="0" marL="0">
                        <a:buNone/>
                      </a:pPr>
                      <a:r>
                        <a:rPr lang="en-US" sz="1516" b="1" dirty="0">
                          <a:solidFill>
                            <a:srgbClr val="FFFFFF"/>
                          </a:solidFill>
                          <a:latin typeface="Roboto" pitchFamily="34" charset="0"/>
                          <a:ea typeface="Roboto" pitchFamily="34" charset="-122"/>
                          <a:cs typeface="Roboto" pitchFamily="34" charset="-120"/>
                        </a:rPr>
                        <a:t>join, solutions/s</a:t>
                      </a:r>
                      <a:endParaRPr lang="en-US" sz="1516" dirty="0">
                        <a:latin typeface="Roboto" charset="0"/>
                        <a:ea typeface="Roboto" charset="0"/>
                        <a:cs typeface="Roboto" charset="0"/>
                      </a:endParaRPr>
                    </a:p>
                  </a:txBody>
                  <a:tcPr marL="96237" marR="96237" marT="96237" marB="96237"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84D1"/>
                    </a:solidFill>
                  </a:tcPr>
                </a:tc>
              </a:tr>
              <a:tr h="0">
                <a:tc>
                  <a:txBody>
                    <a:bodyPr/>
                    <a:lstStyle/>
                    <a:p>
                      <a:pPr algn="l" indent="0" marL="0">
                        <a:buNone/>
                      </a:pPr>
                      <a:r>
                        <a:rPr lang="en-US" sz="1516" dirty="0">
                          <a:solidFill>
                            <a:srgbClr val="000000"/>
                          </a:solidFill>
                          <a:latin typeface="Roboto" pitchFamily="34" charset="0"/>
                          <a:ea typeface="Roboto" pitchFamily="34" charset="-122"/>
                          <a:cs typeface="Roboto" pitchFamily="34" charset="-120"/>
                        </a:rPr>
                        <a:t>0 — QLever's default</a:t>
                      </a:r>
                      <a:endParaRPr lang="en-US" sz="1516" dirty="0">
                        <a:latin typeface="Roboto" charset="0"/>
                        <a:ea typeface="Roboto" charset="0"/>
                        <a:cs typeface="Roboto" charset="0"/>
                      </a:endParaRPr>
                    </a:p>
                  </a:txBody>
                  <a:tcPr marL="96237" marR="96237" marT="96237" marB="96237"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1516" dirty="0">
                          <a:solidFill>
                            <a:srgbClr val="000000"/>
                          </a:solidFill>
                          <a:latin typeface="Roboto" pitchFamily="34" charset="0"/>
                          <a:ea typeface="Roboto" pitchFamily="34" charset="-122"/>
                          <a:cs typeface="Roboto" pitchFamily="34" charset="-120"/>
                        </a:rPr>
                        <a:t>24,384</a:t>
                      </a:r>
                      <a:endParaRPr lang="en-US" sz="1516" dirty="0">
                        <a:latin typeface="Roboto" charset="0"/>
                        <a:ea typeface="Roboto" charset="0"/>
                        <a:cs typeface="Roboto" charset="0"/>
                      </a:endParaRPr>
                    </a:p>
                  </a:txBody>
                  <a:tcPr marL="96237" marR="96237" marT="96237" marB="96237"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0">
                <a:tc>
                  <a:txBody>
                    <a:bodyPr/>
                    <a:lstStyle/>
                    <a:p>
                      <a:pPr algn="l" indent="0" marL="0">
                        <a:buNone/>
                      </a:pPr>
                      <a:r>
                        <a:rPr lang="en-US" sz="1516" dirty="0">
                          <a:solidFill>
                            <a:srgbClr val="000000"/>
                          </a:solidFill>
                          <a:latin typeface="Roboto" pitchFamily="34" charset="0"/>
                          <a:ea typeface="Roboto" pitchFamily="34" charset="-122"/>
                          <a:cs typeface="Roboto" pitchFamily="34" charset="-120"/>
                        </a:rPr>
                        <a:t>1</a:t>
                      </a:r>
                      <a:endParaRPr lang="en-US" sz="1516" dirty="0">
                        <a:latin typeface="Roboto" charset="0"/>
                        <a:ea typeface="Roboto" charset="0"/>
                        <a:cs typeface="Roboto" charset="0"/>
                      </a:endParaRPr>
                    </a:p>
                  </a:txBody>
                  <a:tcPr marL="96237" marR="96237" marT="96237" marB="96237"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1516" dirty="0">
                          <a:solidFill>
                            <a:srgbClr val="000000"/>
                          </a:solidFill>
                          <a:latin typeface="Roboto" pitchFamily="34" charset="0"/>
                          <a:ea typeface="Roboto" pitchFamily="34" charset="-122"/>
                          <a:cs typeface="Roboto" pitchFamily="34" charset="-120"/>
                        </a:rPr>
                        <a:t>1,081,081</a:t>
                      </a:r>
                      <a:endParaRPr lang="en-US" sz="1516" dirty="0">
                        <a:latin typeface="Roboto" charset="0"/>
                        <a:ea typeface="Roboto" charset="0"/>
                        <a:cs typeface="Roboto" charset="0"/>
                      </a:endParaRPr>
                    </a:p>
                  </a:txBody>
                  <a:tcPr marL="96237" marR="96237" marT="96237" marB="96237"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0">
                <a:tc>
                  <a:txBody>
                    <a:bodyPr/>
                    <a:lstStyle/>
                    <a:p>
                      <a:pPr algn="l" indent="0" marL="0">
                        <a:buNone/>
                      </a:pPr>
                      <a:r>
                        <a:rPr lang="en-US" sz="1516" b="1" dirty="0">
                          <a:solidFill>
                            <a:srgbClr val="000000"/>
                          </a:solidFill>
                          <a:latin typeface="Roboto" pitchFamily="34" charset="0"/>
                          <a:ea typeface="Roboto" pitchFamily="34" charset="-122"/>
                          <a:cs typeface="Roboto" pitchFamily="34" charset="-120"/>
                        </a:rPr>
                        <a:t>16</a:t>
                      </a:r>
                      <a:endParaRPr lang="en-US" sz="1516" dirty="0">
                        <a:latin typeface="Roboto" charset="0"/>
                        <a:ea typeface="Roboto" charset="0"/>
                        <a:cs typeface="Roboto" charset="0"/>
                      </a:endParaRPr>
                    </a:p>
                  </a:txBody>
                  <a:tcPr marL="96237" marR="96237" marT="96237" marB="96237"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1516" b="1" dirty="0">
                          <a:solidFill>
                            <a:srgbClr val="38761D"/>
                          </a:solidFill>
                          <a:latin typeface="Roboto" pitchFamily="34" charset="0"/>
                          <a:ea typeface="Roboto" pitchFamily="34" charset="-122"/>
                          <a:cs typeface="Roboto" pitchFamily="34" charset="-120"/>
                        </a:rPr>
                        <a:t>1,418,439</a:t>
                      </a:r>
                      <a:endParaRPr lang="en-US" sz="1516" dirty="0">
                        <a:latin typeface="Roboto" charset="0"/>
                        <a:ea typeface="Roboto" charset="0"/>
                        <a:cs typeface="Roboto" charset="0"/>
                      </a:endParaRPr>
                    </a:p>
                  </a:txBody>
                  <a:tcPr marL="96237" marR="96237" marT="96237" marB="96237"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bl>
          </a:graphicData>
        </a:graphic>
      </p:graphicFrame>
      <p:sp>
        <p:nvSpPr>
          <p:cNvPr id="8" name="Text 4"/>
          <p:cNvSpPr txBox="1"/>
          <p:nvPr/>
        </p:nvSpPr>
        <p:spPr>
          <a:xfrm>
            <a:off x="660400" y="4143707"/>
            <a:ext cx="10566400" cy="291022"/>
          </a:xfrm>
          <a:prstGeom prst="rect">
            <a:avLst/>
          </a:prstGeom>
          <a:noFill/>
          <a:ln/>
        </p:spPr>
        <p:txBody>
          <a:bodyPr wrap="square" lIns="0" tIns="0" rIns="0" bIns="0" rtlCol="0" anchor="t"/>
          <a:lstStyle/>
          <a:p>
            <a:pPr algn="l" indent="0" marL="0">
              <a:lnSpc>
                <a:spcPct val="140000"/>
              </a:lnSpc>
              <a:buNone/>
            </a:pPr>
            <a:r>
              <a:rPr lang="en-US" sz="1516" b="1" dirty="0">
                <a:solidFill>
                  <a:srgbClr val="000000"/>
                </a:solidFill>
                <a:latin typeface="Roboto" pitchFamily="34" charset="0"/>
                <a:ea typeface="Roboto" pitchFamily="34" charset="-122"/>
                <a:cs typeface="Roboto" pitchFamily="34" charset="-120"/>
              </a:rPr>
              <a:t>Fifty-eight times</a:t>
            </a:r>
            <a:pPr algn="l" indent="0" marL="0">
              <a:lnSpc>
                <a:spcPct val="140000"/>
              </a:lnSpc>
              <a:buNone/>
            </a:pPr>
            <a:r>
              <a:rPr lang="en-US" sz="1516" dirty="0">
                <a:solidFill>
                  <a:srgbClr val="000000"/>
                </a:solidFill>
                <a:latin typeface="Roboto" pitchFamily="34" charset="0"/>
                <a:ea typeface="Roboto" pitchFamily="34" charset="-122"/>
                <a:cs typeface="Roboto" pitchFamily="34" charset="-120"/>
              </a:rPr>
              <a:t>, and one block is enough for most of it. Per scan opened, 0.866 ms becomes 0.023 ms.</a:t>
            </a:r>
            <a:endParaRPr lang="en-US" sz="1516" dirty="0"/>
          </a:p>
        </p:txBody>
      </p:sp>
      <p:sp>
        <p:nvSpPr>
          <p:cNvPr id="9" name="Text 5"/>
          <p:cNvSpPr txBox="1"/>
          <p:nvPr/>
        </p:nvSpPr>
        <p:spPr>
          <a:xfrm>
            <a:off x="660400" y="4573738"/>
            <a:ext cx="10566400" cy="824561"/>
          </a:xfrm>
          <a:prstGeom prst="rect">
            <a:avLst/>
          </a:prstGeom>
          <a:noFill/>
          <a:ln/>
        </p:spPr>
        <p:txBody>
          <a:bodyPr wrap="square" lIns="0" tIns="0" rIns="0" bIns="0" rtlCol="0" anchor="t"/>
          <a:lstStyle/>
          <a:p>
            <a:pPr algn="l" indent="0" marL="0">
              <a:lnSpc>
                <a:spcPct val="140000"/>
              </a:lnSpc>
              <a:buNone/>
            </a:pPr>
            <a:r>
              <a:rPr lang="en-US" sz="1431" dirty="0">
                <a:solidFill>
                  <a:srgbClr val="000000"/>
                </a:solidFill>
                <a:latin typeface="Roboto" pitchFamily="34" charset="0"/>
                <a:ea typeface="Roboto" pitchFamily="34" charset="-122"/>
                <a:cs typeface="Roboto" pitchFamily="34" charset="-120"/>
              </a:rPr>
              <a:t>It is not an oversight upstream: a </a:t>
            </a:r>
            <a:pPr algn="l" indent="0" marL="0">
              <a:lnSpc>
                <a:spcPct val="140000"/>
              </a:lnSpc>
              <a:buNone/>
            </a:pPr>
            <a:r>
              <a:rPr lang="en-US" sz="1431" b="1" dirty="0">
                <a:solidFill>
                  <a:srgbClr val="000000"/>
                </a:solidFill>
                <a:latin typeface="Roboto" pitchFamily="34" charset="0"/>
                <a:ea typeface="Roboto" pitchFamily="34" charset="-122"/>
                <a:cs typeface="Roboto" pitchFamily="34" charset="-120"/>
              </a:rPr>
              <a:t>merge join never returns to a block</a:t>
            </a:r>
            <a:pPr algn="l" indent="0" marL="0">
              <a:lnSpc>
                <a:spcPct val="140000"/>
              </a:lnSpc>
              <a:buNone/>
            </a:pPr>
            <a:r>
              <a:rPr lang="en-US" sz="1431" dirty="0">
                <a:solidFill>
                  <a:srgbClr val="000000"/>
                </a:solidFill>
                <a:latin typeface="Roboto" pitchFamily="34" charset="0"/>
                <a:ea typeface="Roboto" pitchFamily="34" charset="-122"/>
                <a:cs typeface="Roboto" pitchFamily="34" charset="-120"/>
              </a:rPr>
              <a:t>, so for QLever's own engine a cache would be pure overhead, and large blocks are the right trade for the sequential throughput it wants. Passage cannot merge-join — a continuation has to stop mid-join and resume.</a:t>
            </a:r>
            <a:endParaRPr lang="en-US" sz="1431" dirty="0"/>
          </a:p>
        </p:txBody>
      </p:sp>
      <p:sp>
        <p:nvSpPr>
          <p:cNvPr id="10" name="Text 6"/>
          <p:cNvSpPr txBox="1"/>
          <p:nvPr/>
        </p:nvSpPr>
        <p:spPr>
          <a:xfrm>
            <a:off x="660400" y="5537308"/>
            <a:ext cx="9906000" cy="569837"/>
          </a:xfrm>
          <a:prstGeom prst="rect">
            <a:avLst/>
          </a:prstGeom>
          <a:solidFill>
            <a:srgbClr val="F2F8FD"/>
          </a:solidFill>
          <a:ln/>
        </p:spPr>
        <p:txBody>
          <a:bodyPr wrap="square" lIns="152400" tIns="152400" rIns="152400" bIns="152400" rtlCol="0" anchor="t"/>
          <a:lstStyle/>
          <a:p>
            <a:pPr algn="ctr" indent="0" marL="0">
              <a:lnSpc>
                <a:spcPct val="135000"/>
              </a:lnSpc>
              <a:buNone/>
            </a:pPr>
            <a:r>
              <a:rPr lang="en-US" sz="1431" b="1" dirty="0">
                <a:solidFill>
                  <a:srgbClr val="000000"/>
                </a:solidFill>
                <a:latin typeface="Roboto" pitchFamily="34" charset="0"/>
                <a:ea typeface="Roboto" pitchFamily="34" charset="-122"/>
                <a:cs typeface="Roboto" pitchFamily="34" charset="-120"/>
              </a:rPr>
              <a:t>The access pattern, not the engine, is what the storage was tuned against.</a:t>
            </a:r>
            <a:endParaRPr lang="en-US" sz="1431"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155700"/>
          </a:xfrm>
          <a:prstGeom prst="rect">
            <a:avLst/>
          </a:prstGeom>
          <a:solidFill>
            <a:srgbClr val="0084D1"/>
          </a:solidFill>
          <a:ln/>
        </p:spPr>
      </p:sp>
      <p:sp>
        <p:nvSpPr>
          <p:cNvPr id="3" name="Text 1"/>
          <p:cNvSpPr txBox="1"/>
          <p:nvPr/>
        </p:nvSpPr>
        <p:spPr>
          <a:xfrm>
            <a:off x="0" y="228600"/>
            <a:ext cx="12192000" cy="853440"/>
          </a:xfrm>
          <a:prstGeom prst="rect">
            <a:avLst/>
          </a:prstGeom>
          <a:noFill/>
          <a:ln/>
        </p:spPr>
        <p:txBody>
          <a:bodyPr wrap="square" lIns="0" tIns="0" rIns="0" bIns="0" rtlCol="0" anchor="t"/>
          <a:lstStyle/>
          <a:p>
            <a:pPr algn="ctr" indent="0" marL="0">
              <a:lnSpc>
                <a:spcPct val="110000"/>
              </a:lnSpc>
              <a:buNone/>
            </a:pPr>
            <a:r>
              <a:rPr lang="en-US" sz="4200" b="1" dirty="0">
                <a:solidFill>
                  <a:srgbClr val="FFFFFF"/>
                </a:solidFill>
                <a:latin typeface="Roboto Slab" pitchFamily="34" charset="0"/>
                <a:ea typeface="Roboto Slab" pitchFamily="34" charset="-122"/>
                <a:cs typeface="Roboto Slab" pitchFamily="34" charset="-120"/>
              </a:rPr>
              <a:t>Against Blazegraph, on WatDiv 10M</a:t>
            </a:r>
            <a:endParaRPr lang="en-US" sz="4200" dirty="0"/>
          </a:p>
        </p:txBody>
      </p:sp>
      <p:sp>
        <p:nvSpPr>
          <p:cNvPr id="4" name="Text 2"/>
          <p:cNvSpPr txBox="1"/>
          <p:nvPr/>
        </p:nvSpPr>
        <p:spPr>
          <a:xfrm>
            <a:off x="10795000" y="6322060"/>
            <a:ext cx="889000" cy="264160"/>
          </a:xfrm>
          <a:prstGeom prst="rect">
            <a:avLst/>
          </a:prstGeom>
          <a:noFill/>
          <a:ln/>
        </p:spPr>
        <p:txBody>
          <a:bodyPr wrap="square" lIns="0" tIns="0" rIns="0" bIns="0" rtlCol="0" anchor="t"/>
          <a:lstStyle/>
          <a:p>
            <a:pPr algn="r" indent="0" marL="0">
              <a:lnSpc>
                <a:spcPct val="120000"/>
              </a:lnSpc>
              <a:buNone/>
            </a:pPr>
            <a:r>
              <a:rPr lang="en-US" sz="1300" dirty="0">
                <a:solidFill>
                  <a:srgbClr val="595959"/>
                </a:solidFill>
                <a:latin typeface="Roboto" pitchFamily="34" charset="0"/>
                <a:ea typeface="Roboto" pitchFamily="34" charset="-122"/>
                <a:cs typeface="Roboto" pitchFamily="34" charset="-120"/>
              </a:rPr>
              <a:t>16</a:t>
            </a:r>
            <a:endParaRPr lang="en-US" sz="1300" dirty="0"/>
          </a:p>
        </p:txBody>
      </p:sp>
      <p:sp>
        <p:nvSpPr>
          <p:cNvPr id="6" name="Text 3"/>
          <p:cNvSpPr txBox="1"/>
          <p:nvPr/>
        </p:nvSpPr>
        <p:spPr>
          <a:xfrm>
            <a:off x="660400" y="1358900"/>
            <a:ext cx="10566400" cy="579567"/>
          </a:xfrm>
          <a:prstGeom prst="rect">
            <a:avLst/>
          </a:prstGeom>
          <a:noFill/>
          <a:ln/>
        </p:spPr>
        <p:txBody>
          <a:bodyPr wrap="square" lIns="0" tIns="0" rIns="0" bIns="0" rtlCol="0" anchor="t"/>
          <a:lstStyle/>
          <a:p>
            <a:pPr algn="l" indent="0" marL="0">
              <a:lnSpc>
                <a:spcPct val="140000"/>
              </a:lnSpc>
              <a:buNone/>
            </a:pPr>
            <a:r>
              <a:rPr lang="en-US" sz="1509" dirty="0">
                <a:solidFill>
                  <a:srgbClr val="000000"/>
                </a:solidFill>
                <a:latin typeface="Roboto" pitchFamily="34" charset="0"/>
                <a:ea typeface="Roboto" pitchFamily="34" charset="-122"/>
                <a:cs typeface="Roboto" pitchFamily="34" charset="-120"/>
              </a:rPr>
              <a:t>The same 10,916,457 triples on both sides, driving the </a:t>
            </a:r>
            <a:pPr algn="l" indent="0" marL="0">
              <a:lnSpc>
                <a:spcPct val="140000"/>
              </a:lnSpc>
              <a:buNone/>
            </a:pPr>
            <a:r>
              <a:rPr lang="en-US" sz="1509" b="1" dirty="0">
                <a:solidFill>
                  <a:srgbClr val="000000"/>
                </a:solidFill>
                <a:latin typeface="Roboto" pitchFamily="34" charset="0"/>
                <a:ea typeface="Roboto" pitchFamily="34" charset="-122"/>
                <a:cs typeface="Roboto" pitchFamily="34" charset="-120"/>
              </a:rPr>
              <a:t>same engine</a:t>
            </a:r>
            <a:pPr algn="l" indent="0" marL="0">
              <a:lnSpc>
                <a:spcPct val="140000"/>
              </a:lnSpc>
              <a:buNone/>
            </a:pPr>
            <a:r>
              <a:rPr lang="en-US" sz="1509" dirty="0">
                <a:solidFill>
                  <a:srgbClr val="000000"/>
                </a:solidFill>
                <a:latin typeface="Roboto" pitchFamily="34" charset="0"/>
                <a:ea typeface="Roboto" pitchFamily="34" charset="-122"/>
                <a:cs typeface="Roboto" pitchFamily="34" charset="-120"/>
              </a:rPr>
              <a:t>, each backend warmed to its plateau. First 200,000 solutions, median of five.</a:t>
            </a:r>
            <a:endParaRPr lang="en-US" sz="1509"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60400" y="2073754"/>
          <a:ext cx="10871200" cy="914400"/>
        </p:xfrm>
        <a:graphic>
          <a:graphicData uri="http://schemas.openxmlformats.org/drawingml/2006/table">
            <a:tbl>
              <a:tblPr/>
              <a:tblGrid>
                <a:gridCol w="3696208"/>
                <a:gridCol w="2500376"/>
                <a:gridCol w="2500376"/>
                <a:gridCol w="2174240"/>
              </a:tblGrid>
              <a:tr h="0">
                <a:tc>
                  <a:txBody>
                    <a:bodyPr/>
                    <a:lstStyle/>
                    <a:p>
                      <a:pPr algn="l" indent="0" marL="0">
                        <a:buNone/>
                      </a:pPr>
                      <a:r>
                        <a:rPr lang="en-US" sz="1509" b="1" dirty="0">
                          <a:solidFill>
                            <a:srgbClr val="FFFFFF"/>
                          </a:solidFill>
                          <a:latin typeface="Roboto" pitchFamily="34" charset="0"/>
                          <a:ea typeface="Roboto" pitchFamily="34" charset="-122"/>
                          <a:cs typeface="Roboto" pitchFamily="34" charset="-120"/>
                        </a:rPr>
                        <a:t>solutions/s</a:t>
                      </a:r>
                      <a:endParaRPr lang="en-US" sz="1509" dirty="0">
                        <a:latin typeface="Roboto" charset="0"/>
                        <a:ea typeface="Roboto" charset="0"/>
                        <a:cs typeface="Roboto" charset="0"/>
                      </a:endParaRPr>
                    </a:p>
                  </a:txBody>
                  <a:tcPr marL="90191" marR="90191" marT="90191" marB="90191"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84D1"/>
                    </a:solidFill>
                  </a:tcPr>
                </a:tc>
                <a:tc>
                  <a:txBody>
                    <a:bodyPr/>
                    <a:lstStyle/>
                    <a:p>
                      <a:pPr algn="r" indent="0" marL="0">
                        <a:buNone/>
                      </a:pPr>
                      <a:r>
                        <a:rPr lang="en-US" sz="1509" b="1" dirty="0">
                          <a:solidFill>
                            <a:srgbClr val="FFFFFF"/>
                          </a:solidFill>
                          <a:latin typeface="Roboto" pitchFamily="34" charset="0"/>
                          <a:ea typeface="Roboto" pitchFamily="34" charset="-122"/>
                          <a:cs typeface="Roboto" pitchFamily="34" charset="-120"/>
                        </a:rPr>
                        <a:t>QLever</a:t>
                      </a:r>
                      <a:endParaRPr lang="en-US" sz="1509" dirty="0">
                        <a:latin typeface="Roboto" charset="0"/>
                        <a:ea typeface="Roboto" charset="0"/>
                        <a:cs typeface="Roboto" charset="0"/>
                      </a:endParaRPr>
                    </a:p>
                  </a:txBody>
                  <a:tcPr marL="90191" marR="90191" marT="90191" marB="90191"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84D1"/>
                    </a:solidFill>
                  </a:tcPr>
                </a:tc>
                <a:tc>
                  <a:txBody>
                    <a:bodyPr/>
                    <a:lstStyle/>
                    <a:p>
                      <a:pPr algn="r" indent="0" marL="0">
                        <a:buNone/>
                      </a:pPr>
                      <a:r>
                        <a:rPr lang="en-US" sz="1509" b="1" dirty="0">
                          <a:solidFill>
                            <a:srgbClr val="FFFFFF"/>
                          </a:solidFill>
                          <a:latin typeface="Roboto" pitchFamily="34" charset="0"/>
                          <a:ea typeface="Roboto" pitchFamily="34" charset="-122"/>
                          <a:cs typeface="Roboto" pitchFamily="34" charset="-120"/>
                        </a:rPr>
                        <a:t>Blazegraph</a:t>
                      </a:r>
                      <a:endParaRPr lang="en-US" sz="1509" dirty="0">
                        <a:latin typeface="Roboto" charset="0"/>
                        <a:ea typeface="Roboto" charset="0"/>
                        <a:cs typeface="Roboto" charset="0"/>
                      </a:endParaRPr>
                    </a:p>
                  </a:txBody>
                  <a:tcPr marL="90191" marR="90191" marT="90191" marB="90191"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84D1"/>
                    </a:solidFill>
                  </a:tcPr>
                </a:tc>
                <a:tc>
                  <a:txBody>
                    <a:bodyPr/>
                    <a:lstStyle/>
                    <a:p>
                      <a:pPr algn="r" indent="0" marL="0">
                        <a:buNone/>
                      </a:pPr>
                      <a:endParaRPr lang="en-US" sz="1509" dirty="0">
                        <a:latin typeface="Roboto" charset="0"/>
                        <a:ea typeface="Roboto" charset="0"/>
                        <a:cs typeface="Roboto" charset="0"/>
                      </a:endParaRPr>
                    </a:p>
                  </a:txBody>
                  <a:tcPr marL="90191" marR="90191" marT="90191" marB="90191"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84D1"/>
                    </a:solidFill>
                  </a:tcPr>
                </a:tc>
              </a:tr>
              <a:tr h="0">
                <a:tc>
                  <a:txBody>
                    <a:bodyPr/>
                    <a:lstStyle/>
                    <a:p>
                      <a:pPr algn="l" indent="0" marL="0">
                        <a:buNone/>
                      </a:pPr>
                      <a:r>
                        <a:rPr lang="en-US" sz="1509" dirty="0">
                          <a:solidFill>
                            <a:srgbClr val="000000"/>
                          </a:solidFill>
                          <a:latin typeface="Roboto" pitchFamily="34" charset="0"/>
                          <a:ea typeface="Roboto" pitchFamily="34" charset="-122"/>
                          <a:cs typeface="Roboto" pitchFamily="34" charset="-120"/>
                        </a:rPr>
                        <a:t>?s ?p ?o</a:t>
                      </a:r>
                      <a:endParaRPr lang="en-US" sz="1509" dirty="0">
                        <a:latin typeface="Roboto" charset="0"/>
                        <a:ea typeface="Roboto" charset="0"/>
                        <a:cs typeface="Roboto" charset="0"/>
                      </a:endParaRPr>
                    </a:p>
                  </a:txBody>
                  <a:tcPr marL="90191" marR="90191" marT="90191" marB="90191"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1509" b="1" dirty="0">
                          <a:solidFill>
                            <a:srgbClr val="000000"/>
                          </a:solidFill>
                          <a:latin typeface="Roboto" pitchFamily="34" charset="0"/>
                          <a:ea typeface="Roboto" pitchFamily="34" charset="-122"/>
                          <a:cs typeface="Roboto" pitchFamily="34" charset="-120"/>
                        </a:rPr>
                        <a:t>5,405,405</a:t>
                      </a:r>
                      <a:endParaRPr lang="en-US" sz="1509" dirty="0">
                        <a:latin typeface="Roboto" charset="0"/>
                        <a:ea typeface="Roboto" charset="0"/>
                        <a:cs typeface="Roboto" charset="0"/>
                      </a:endParaRPr>
                    </a:p>
                  </a:txBody>
                  <a:tcPr marL="90191" marR="90191" marT="90191" marB="90191"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1509" dirty="0">
                          <a:solidFill>
                            <a:srgbClr val="000000"/>
                          </a:solidFill>
                          <a:latin typeface="Roboto" pitchFamily="34" charset="0"/>
                          <a:ea typeface="Roboto" pitchFamily="34" charset="-122"/>
                          <a:cs typeface="Roboto" pitchFamily="34" charset="-120"/>
                        </a:rPr>
                        <a:t>3,636,363</a:t>
                      </a:r>
                      <a:endParaRPr lang="en-US" sz="1509" dirty="0">
                        <a:latin typeface="Roboto" charset="0"/>
                        <a:ea typeface="Roboto" charset="0"/>
                        <a:cs typeface="Roboto" charset="0"/>
                      </a:endParaRPr>
                    </a:p>
                  </a:txBody>
                  <a:tcPr marL="90191" marR="90191" marT="90191" marB="90191"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1509" dirty="0">
                          <a:solidFill>
                            <a:srgbClr val="38761D"/>
                          </a:solidFill>
                          <a:latin typeface="Roboto" pitchFamily="34" charset="0"/>
                          <a:ea typeface="Roboto" pitchFamily="34" charset="-122"/>
                          <a:cs typeface="Roboto" pitchFamily="34" charset="-120"/>
                        </a:rPr>
                        <a:t>1.5x</a:t>
                      </a:r>
                      <a:endParaRPr lang="en-US" sz="1509" dirty="0">
                        <a:latin typeface="Roboto" charset="0"/>
                        <a:ea typeface="Roboto" charset="0"/>
                        <a:cs typeface="Roboto" charset="0"/>
                      </a:endParaRPr>
                    </a:p>
                  </a:txBody>
                  <a:tcPr marL="90191" marR="90191" marT="90191" marB="90191"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0">
                <a:tc>
                  <a:txBody>
                    <a:bodyPr/>
                    <a:lstStyle/>
                    <a:p>
                      <a:pPr algn="l" indent="0" marL="0">
                        <a:buNone/>
                      </a:pPr>
                      <a:r>
                        <a:rPr lang="en-US" sz="1509" dirty="0">
                          <a:solidFill>
                            <a:srgbClr val="000000"/>
                          </a:solidFill>
                          <a:latin typeface="Roboto" pitchFamily="34" charset="0"/>
                          <a:ea typeface="Roboto" pitchFamily="34" charset="-122"/>
                          <a:cs typeface="Roboto" pitchFamily="34" charset="-120"/>
                        </a:rPr>
                        <a:t>?s a ?c</a:t>
                      </a:r>
                      <a:endParaRPr lang="en-US" sz="1509" dirty="0">
                        <a:latin typeface="Roboto" charset="0"/>
                        <a:ea typeface="Roboto" charset="0"/>
                        <a:cs typeface="Roboto" charset="0"/>
                      </a:endParaRPr>
                    </a:p>
                  </a:txBody>
                  <a:tcPr marL="90191" marR="90191" marT="90191" marB="90191"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1509" b="1" dirty="0">
                          <a:solidFill>
                            <a:srgbClr val="000000"/>
                          </a:solidFill>
                          <a:latin typeface="Roboto" pitchFamily="34" charset="0"/>
                          <a:ea typeface="Roboto" pitchFamily="34" charset="-122"/>
                          <a:cs typeface="Roboto" pitchFamily="34" charset="-120"/>
                        </a:rPr>
                        <a:t>8,513,437</a:t>
                      </a:r>
                      <a:endParaRPr lang="en-US" sz="1509" dirty="0">
                        <a:latin typeface="Roboto" charset="0"/>
                        <a:ea typeface="Roboto" charset="0"/>
                        <a:cs typeface="Roboto" charset="0"/>
                      </a:endParaRPr>
                    </a:p>
                  </a:txBody>
                  <a:tcPr marL="90191" marR="90191" marT="90191" marB="90191"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1509" dirty="0">
                          <a:solidFill>
                            <a:srgbClr val="000000"/>
                          </a:solidFill>
                          <a:latin typeface="Roboto" pitchFamily="34" charset="0"/>
                          <a:ea typeface="Roboto" pitchFamily="34" charset="-122"/>
                          <a:cs typeface="Roboto" pitchFamily="34" charset="-120"/>
                        </a:rPr>
                        <a:t>4,864,821</a:t>
                      </a:r>
                      <a:endParaRPr lang="en-US" sz="1509" dirty="0">
                        <a:latin typeface="Roboto" charset="0"/>
                        <a:ea typeface="Roboto" charset="0"/>
                        <a:cs typeface="Roboto" charset="0"/>
                      </a:endParaRPr>
                    </a:p>
                  </a:txBody>
                  <a:tcPr marL="90191" marR="90191" marT="90191" marB="90191"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1509" dirty="0">
                          <a:solidFill>
                            <a:srgbClr val="38761D"/>
                          </a:solidFill>
                          <a:latin typeface="Roboto" pitchFamily="34" charset="0"/>
                          <a:ea typeface="Roboto" pitchFamily="34" charset="-122"/>
                          <a:cs typeface="Roboto" pitchFamily="34" charset="-120"/>
                        </a:rPr>
                        <a:t>1.8x</a:t>
                      </a:r>
                      <a:endParaRPr lang="en-US" sz="1509" dirty="0">
                        <a:latin typeface="Roboto" charset="0"/>
                        <a:ea typeface="Roboto" charset="0"/>
                        <a:cs typeface="Roboto" charset="0"/>
                      </a:endParaRPr>
                    </a:p>
                  </a:txBody>
                  <a:tcPr marL="90191" marR="90191" marT="90191" marB="90191"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0">
                <a:tc>
                  <a:txBody>
                    <a:bodyPr/>
                    <a:lstStyle/>
                    <a:p>
                      <a:pPr algn="l" indent="0" marL="0">
                        <a:buNone/>
                      </a:pPr>
                      <a:r>
                        <a:rPr lang="en-US" sz="1509" dirty="0">
                          <a:solidFill>
                            <a:srgbClr val="000000"/>
                          </a:solidFill>
                          <a:latin typeface="Roboto" pitchFamily="34" charset="0"/>
                          <a:ea typeface="Roboto" pitchFamily="34" charset="-122"/>
                          <a:cs typeface="Roboto" pitchFamily="34" charset="-120"/>
                        </a:rPr>
                        <a:t>their join</a:t>
                      </a:r>
                      <a:endParaRPr lang="en-US" sz="1509" dirty="0">
                        <a:latin typeface="Roboto" charset="0"/>
                        <a:ea typeface="Roboto" charset="0"/>
                        <a:cs typeface="Roboto" charset="0"/>
                      </a:endParaRPr>
                    </a:p>
                  </a:txBody>
                  <a:tcPr marL="90191" marR="90191" marT="90191" marB="90191"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1509" dirty="0">
                          <a:solidFill>
                            <a:srgbClr val="000000"/>
                          </a:solidFill>
                          <a:latin typeface="Roboto" pitchFamily="34" charset="0"/>
                          <a:ea typeface="Roboto" pitchFamily="34" charset="-122"/>
                          <a:cs typeface="Roboto" pitchFamily="34" charset="-120"/>
                        </a:rPr>
                        <a:t>1,438,848</a:t>
                      </a:r>
                      <a:endParaRPr lang="en-US" sz="1509" dirty="0">
                        <a:latin typeface="Roboto" charset="0"/>
                        <a:ea typeface="Roboto" charset="0"/>
                        <a:cs typeface="Roboto" charset="0"/>
                      </a:endParaRPr>
                    </a:p>
                  </a:txBody>
                  <a:tcPr marL="90191" marR="90191" marT="90191" marB="90191"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1509" b="1" dirty="0">
                          <a:solidFill>
                            <a:srgbClr val="000000"/>
                          </a:solidFill>
                          <a:latin typeface="Roboto" pitchFamily="34" charset="0"/>
                          <a:ea typeface="Roboto" pitchFamily="34" charset="-122"/>
                          <a:cs typeface="Roboto" pitchFamily="34" charset="-120"/>
                        </a:rPr>
                        <a:t>2,941,176</a:t>
                      </a:r>
                      <a:endParaRPr lang="en-US" sz="1509" dirty="0">
                        <a:latin typeface="Roboto" charset="0"/>
                        <a:ea typeface="Roboto" charset="0"/>
                        <a:cs typeface="Roboto" charset="0"/>
                      </a:endParaRPr>
                    </a:p>
                  </a:txBody>
                  <a:tcPr marL="90191" marR="90191" marT="90191" marB="90191"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1509" dirty="0">
                          <a:solidFill>
                            <a:srgbClr val="FF0000"/>
                          </a:solidFill>
                          <a:latin typeface="Roboto" pitchFamily="34" charset="0"/>
                          <a:ea typeface="Roboto" pitchFamily="34" charset="-122"/>
                          <a:cs typeface="Roboto" pitchFamily="34" charset="-120"/>
                        </a:rPr>
                        <a:t>0.5x</a:t>
                      </a:r>
                      <a:endParaRPr lang="en-US" sz="1509" dirty="0">
                        <a:latin typeface="Roboto" charset="0"/>
                        <a:ea typeface="Roboto" charset="0"/>
                        <a:cs typeface="Roboto" charset="0"/>
                      </a:endParaRPr>
                    </a:p>
                  </a:txBody>
                  <a:tcPr marL="90191" marR="90191" marT="90191" marB="90191"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bl>
          </a:graphicData>
        </a:graphic>
      </p:graphicFrame>
      <p:sp>
        <p:nvSpPr>
          <p:cNvPr id="8" name="Text 4"/>
          <p:cNvSpPr txBox="1"/>
          <p:nvPr/>
        </p:nvSpPr>
        <p:spPr>
          <a:xfrm>
            <a:off x="660400" y="4080502"/>
            <a:ext cx="10566400" cy="579567"/>
          </a:xfrm>
          <a:prstGeom prst="rect">
            <a:avLst/>
          </a:prstGeom>
          <a:noFill/>
          <a:ln/>
        </p:spPr>
        <p:txBody>
          <a:bodyPr wrap="square" lIns="0" tIns="0" rIns="0" bIns="0" rtlCol="0" anchor="t"/>
          <a:lstStyle/>
          <a:p>
            <a:pPr algn="l" indent="0" marL="0">
              <a:lnSpc>
                <a:spcPct val="140000"/>
              </a:lnSpc>
              <a:buNone/>
            </a:pPr>
            <a:r>
              <a:rPr lang="en-US" sz="1509" b="1" dirty="0">
                <a:solidFill>
                  <a:srgbClr val="000000"/>
                </a:solidFill>
                <a:latin typeface="Roboto" pitchFamily="34" charset="0"/>
                <a:ea typeface="Roboto" pitchFamily="34" charset="-122"/>
                <a:cs typeface="Roboto" pitchFamily="34" charset="-120"/>
              </a:rPr>
              <a:t>They answer identically</a:t>
            </a:r>
            <a:pPr algn="l" indent="0" marL="0">
              <a:lnSpc>
                <a:spcPct val="140000"/>
              </a:lnSpc>
              <a:buNone/>
            </a:pPr>
            <a:r>
              <a:rPr lang="en-US" sz="1509" dirty="0">
                <a:solidFill>
                  <a:srgbClr val="000000"/>
                </a:solidFill>
                <a:latin typeface="Roboto" pitchFamily="34" charset="0"/>
                <a:ea typeface="Roboto" pitchFamily="34" charset="-122"/>
                <a:cs typeface="Roboto" pitchFamily="34" charset="-120"/>
              </a:rPr>
              <a:t> — the join restricted to the least populated class has eight solutions on both. QLever holds the data in </a:t>
            </a:r>
            <a:pPr algn="l" indent="0" marL="0">
              <a:lnSpc>
                <a:spcPct val="140000"/>
              </a:lnSpc>
              <a:buNone/>
            </a:pPr>
            <a:r>
              <a:rPr lang="en-US" sz="1509" b="1" dirty="0">
                <a:solidFill>
                  <a:srgbClr val="000000"/>
                </a:solidFill>
                <a:latin typeface="Roboto" pitchFamily="34" charset="0"/>
                <a:ea typeface="Roboto" pitchFamily="34" charset="-122"/>
                <a:cs typeface="Roboto" pitchFamily="34" charset="-120"/>
              </a:rPr>
              <a:t>283 MB</a:t>
            </a:r>
            <a:pPr algn="l" indent="0" marL="0">
              <a:lnSpc>
                <a:spcPct val="140000"/>
              </a:lnSpc>
              <a:buNone/>
            </a:pPr>
            <a:r>
              <a:rPr lang="en-US" sz="1509" dirty="0">
                <a:solidFill>
                  <a:srgbClr val="000000"/>
                </a:solidFill>
                <a:latin typeface="Roboto" pitchFamily="34" charset="0"/>
                <a:ea typeface="Roboto" pitchFamily="34" charset="-122"/>
                <a:cs typeface="Roboto" pitchFamily="34" charset="-120"/>
              </a:rPr>
              <a:t> against </a:t>
            </a:r>
            <a:pPr algn="l" indent="0" marL="0">
              <a:lnSpc>
                <a:spcPct val="140000"/>
              </a:lnSpc>
              <a:buNone/>
            </a:pPr>
            <a:r>
              <a:rPr lang="en-US" sz="1509" b="1" dirty="0">
                <a:solidFill>
                  <a:srgbClr val="000000"/>
                </a:solidFill>
                <a:latin typeface="Roboto" pitchFamily="34" charset="0"/>
                <a:ea typeface="Roboto" pitchFamily="34" charset="-122"/>
                <a:cs typeface="Roboto" pitchFamily="34" charset="-120"/>
              </a:rPr>
              <a:t>1.7 GB</a:t>
            </a:r>
            <a:pPr algn="l" indent="0" marL="0">
              <a:lnSpc>
                <a:spcPct val="140000"/>
              </a:lnSpc>
              <a:buNone/>
            </a:pPr>
            <a:r>
              <a:rPr lang="en-US" sz="1509" dirty="0">
                <a:solidFill>
                  <a:srgbClr val="000000"/>
                </a:solidFill>
                <a:latin typeface="Roboto" pitchFamily="34" charset="0"/>
                <a:ea typeface="Roboto" pitchFamily="34" charset="-122"/>
                <a:cs typeface="Roboto" pitchFamily="34" charset="-120"/>
              </a:rPr>
              <a:t>.</a:t>
            </a:r>
            <a:endParaRPr lang="en-US" sz="1509" dirty="0"/>
          </a:p>
        </p:txBody>
      </p:sp>
      <p:sp>
        <p:nvSpPr>
          <p:cNvPr id="9" name="Text 5"/>
          <p:cNvSpPr txBox="1"/>
          <p:nvPr/>
        </p:nvSpPr>
        <p:spPr>
          <a:xfrm>
            <a:off x="660400" y="4795356"/>
            <a:ext cx="10566400" cy="579567"/>
          </a:xfrm>
          <a:prstGeom prst="rect">
            <a:avLst/>
          </a:prstGeom>
          <a:noFill/>
          <a:ln/>
        </p:spPr>
        <p:txBody>
          <a:bodyPr wrap="square" lIns="0" tIns="0" rIns="0" bIns="0" rtlCol="0" anchor="t"/>
          <a:lstStyle/>
          <a:p>
            <a:pPr algn="l" indent="0" marL="0">
              <a:lnSpc>
                <a:spcPct val="140000"/>
              </a:lnSpc>
              <a:buNone/>
            </a:pPr>
            <a:r>
              <a:rPr lang="en-US" sz="1509" dirty="0">
                <a:solidFill>
                  <a:srgbClr val="000000"/>
                </a:solidFill>
                <a:latin typeface="Roboto" pitchFamily="34" charset="0"/>
                <a:ea typeface="Roboto" pitchFamily="34" charset="-122"/>
                <a:cs typeface="Roboto" pitchFamily="34" charset="-120"/>
              </a:rPr>
              <a:t>QLever reads faster, Blazegraph joins faster: a join is a sequence of point lookups, which is what a B-tree is for and what a block-compressed store is not. That factor was </a:t>
            </a:r>
            <a:pPr algn="l" indent="0" marL="0">
              <a:lnSpc>
                <a:spcPct val="140000"/>
              </a:lnSpc>
              <a:buNone/>
            </a:pPr>
            <a:r>
              <a:rPr lang="en-US" sz="1509" b="1" dirty="0">
                <a:solidFill>
                  <a:srgbClr val="000000"/>
                </a:solidFill>
                <a:latin typeface="Roboto" pitchFamily="34" charset="0"/>
                <a:ea typeface="Roboto" pitchFamily="34" charset="-122"/>
                <a:cs typeface="Roboto" pitchFamily="34" charset="-120"/>
              </a:rPr>
              <a:t>ninety-five</a:t>
            </a:r>
            <a:pPr algn="l" indent="0" marL="0">
              <a:lnSpc>
                <a:spcPct val="140000"/>
              </a:lnSpc>
              <a:buNone/>
            </a:pPr>
            <a:r>
              <a:rPr lang="en-US" sz="1509" dirty="0">
                <a:solidFill>
                  <a:srgbClr val="000000"/>
                </a:solidFill>
                <a:latin typeface="Roboto" pitchFamily="34" charset="0"/>
                <a:ea typeface="Roboto" pitchFamily="34" charset="-122"/>
                <a:cs typeface="Roboto" pitchFamily="34" charset="-120"/>
              </a:rPr>
              <a:t> before the block cache.</a:t>
            </a:r>
            <a:endParaRPr lang="en-US" sz="1509" dirty="0"/>
          </a:p>
        </p:txBody>
      </p:sp>
      <p:sp>
        <p:nvSpPr>
          <p:cNvPr id="10" name="Text 6"/>
          <p:cNvSpPr txBox="1"/>
          <p:nvPr/>
        </p:nvSpPr>
        <p:spPr>
          <a:xfrm>
            <a:off x="660400" y="5510209"/>
            <a:ext cx="9906000" cy="584234"/>
          </a:xfrm>
          <a:prstGeom prst="rect">
            <a:avLst/>
          </a:prstGeom>
          <a:noFill/>
          <a:ln w="38100">
            <a:solidFill>
              <a:srgbClr val="FF0000"/>
            </a:solidFill>
          </a:ln>
        </p:spPr>
        <p:txBody>
          <a:bodyPr wrap="square" lIns="152400" tIns="152400" rIns="152400" bIns="152400" rtlCol="0" anchor="t"/>
          <a:lstStyle/>
          <a:p>
            <a:pPr algn="ctr" indent="0" marL="0">
              <a:lnSpc>
                <a:spcPct val="135000"/>
              </a:lnSpc>
              <a:buNone/>
            </a:pPr>
            <a:r>
              <a:rPr lang="en-US" sz="1509" dirty="0">
                <a:solidFill>
                  <a:srgbClr val="000000"/>
                </a:solidFill>
                <a:latin typeface="Roboto" pitchFamily="34" charset="0"/>
                <a:ea typeface="Roboto" pitchFamily="34" charset="-122"/>
                <a:cs typeface="Roboto" pitchFamily="34" charset="-120"/>
              </a:rPr>
              <a:t>Comparable performance </a:t>
            </a:r>
            <a:pPr algn="ctr" indent="0" marL="0">
              <a:lnSpc>
                <a:spcPct val="135000"/>
              </a:lnSpc>
              <a:buNone/>
            </a:pPr>
            <a:r>
              <a:rPr lang="en-US" sz="1509" b="1" dirty="0">
                <a:solidFill>
                  <a:srgbClr val="000000"/>
                </a:solidFill>
                <a:latin typeface="Roboto" pitchFamily="34" charset="0"/>
                <a:ea typeface="Roboto" pitchFamily="34" charset="-122"/>
                <a:cs typeface="Roboto" pitchFamily="34" charset="-120"/>
              </a:rPr>
              <a:t>is</a:t>
            </a:r>
            <a:pPr algn="ctr" indent="0" marL="0">
              <a:lnSpc>
                <a:spcPct val="135000"/>
              </a:lnSpc>
              <a:buNone/>
            </a:pPr>
            <a:r>
              <a:rPr lang="en-US" sz="1509" dirty="0">
                <a:solidFill>
                  <a:srgbClr val="000000"/>
                </a:solidFill>
                <a:latin typeface="Roboto" pitchFamily="34" charset="0"/>
                <a:ea typeface="Roboto" pitchFamily="34" charset="-122"/>
                <a:cs typeface="Roboto" pitchFamily="34" charset="-120"/>
              </a:rPr>
              <a:t> the result: it replaces a dependency that has no future.</a:t>
            </a:r>
            <a:endParaRPr lang="en-US" sz="1509"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155700"/>
          </a:xfrm>
          <a:prstGeom prst="rect">
            <a:avLst/>
          </a:prstGeom>
          <a:solidFill>
            <a:srgbClr val="0084D1"/>
          </a:solidFill>
          <a:ln/>
        </p:spPr>
      </p:sp>
      <p:sp>
        <p:nvSpPr>
          <p:cNvPr id="3" name="Text 1"/>
          <p:cNvSpPr txBox="1"/>
          <p:nvPr/>
        </p:nvSpPr>
        <p:spPr>
          <a:xfrm>
            <a:off x="0" y="228600"/>
            <a:ext cx="12192000" cy="934720"/>
          </a:xfrm>
          <a:prstGeom prst="rect">
            <a:avLst/>
          </a:prstGeom>
          <a:noFill/>
          <a:ln/>
        </p:spPr>
        <p:txBody>
          <a:bodyPr wrap="square" lIns="0" tIns="0" rIns="0" bIns="0" rtlCol="0" anchor="t"/>
          <a:lstStyle/>
          <a:p>
            <a:pPr algn="ctr" indent="0" marL="0">
              <a:lnSpc>
                <a:spcPct val="110000"/>
              </a:lnSpc>
              <a:buNone/>
            </a:pPr>
            <a:r>
              <a:rPr lang="en-US" sz="4600" b="1" dirty="0">
                <a:solidFill>
                  <a:srgbClr val="FFFFFF"/>
                </a:solidFill>
                <a:latin typeface="Roboto Slab" pitchFamily="34" charset="0"/>
                <a:ea typeface="Roboto Slab" pitchFamily="34" charset="-122"/>
                <a:cs typeface="Roboto Slab" pitchFamily="34" charset="-120"/>
              </a:rPr>
              <a:t>Limitations</a:t>
            </a:r>
            <a:endParaRPr lang="en-US" sz="4600" dirty="0"/>
          </a:p>
        </p:txBody>
      </p:sp>
      <p:sp>
        <p:nvSpPr>
          <p:cNvPr id="4" name="Text 2"/>
          <p:cNvSpPr txBox="1"/>
          <p:nvPr/>
        </p:nvSpPr>
        <p:spPr>
          <a:xfrm>
            <a:off x="10795000" y="6322060"/>
            <a:ext cx="889000" cy="264160"/>
          </a:xfrm>
          <a:prstGeom prst="rect">
            <a:avLst/>
          </a:prstGeom>
          <a:noFill/>
          <a:ln/>
        </p:spPr>
        <p:txBody>
          <a:bodyPr wrap="square" lIns="0" tIns="0" rIns="0" bIns="0" rtlCol="0" anchor="t"/>
          <a:lstStyle/>
          <a:p>
            <a:pPr algn="r" indent="0" marL="0">
              <a:lnSpc>
                <a:spcPct val="120000"/>
              </a:lnSpc>
              <a:buNone/>
            </a:pPr>
            <a:r>
              <a:rPr lang="en-US" sz="1300" dirty="0">
                <a:solidFill>
                  <a:srgbClr val="595959"/>
                </a:solidFill>
                <a:latin typeface="Roboto" pitchFamily="34" charset="0"/>
                <a:ea typeface="Roboto" pitchFamily="34" charset="-122"/>
                <a:cs typeface="Roboto" pitchFamily="34" charset="-120"/>
              </a:rPr>
              <a:t>17</a:t>
            </a:r>
            <a:endParaRPr lang="en-US" sz="1300" dirty="0"/>
          </a:p>
        </p:txBody>
      </p:sp>
      <p:sp>
        <p:nvSpPr>
          <p:cNvPr id="6" name="Text 3"/>
          <p:cNvSpPr txBox="1"/>
          <p:nvPr/>
        </p:nvSpPr>
        <p:spPr>
          <a:xfrm>
            <a:off x="660400" y="1447800"/>
            <a:ext cx="10871200" cy="520243"/>
          </a:xfrm>
          <a:prstGeom prst="rect">
            <a:avLst/>
          </a:prstGeom>
          <a:noFill/>
          <a:ln/>
        </p:spPr>
        <p:txBody>
          <a:bodyPr wrap="square" lIns="0" tIns="0" rIns="0" bIns="0" rtlCol="0" anchor="t"/>
          <a:lstStyle/>
          <a:p>
            <a:pPr indent="0" marL="0">
              <a:lnSpc>
                <a:spcPct val="140000"/>
              </a:lnSpc>
              <a:buNone/>
            </a:pPr>
            <a:r>
              <a:rPr lang="en-US" sz="2200" dirty="0">
                <a:solidFill>
                  <a:srgbClr val="38761D"/>
                </a:solidFill>
                <a:latin typeface="Roboto" pitchFamily="34" charset="0"/>
                <a:ea typeface="Roboto" pitchFamily="34" charset="-122"/>
                <a:cs typeface="Roboto" pitchFamily="34" charset="-120"/>
              </a:rPr>
              <a:t>• </a:t>
            </a:r>
            <a:pPr indent="0" marL="0">
              <a:lnSpc>
                <a:spcPct val="140000"/>
              </a:lnSpc>
              <a:buNone/>
            </a:pPr>
            <a:r>
              <a:rPr lang="en-US" sz="2200" b="1" dirty="0">
                <a:solidFill>
                  <a:srgbClr val="38761D"/>
                </a:solidFill>
                <a:latin typeface="Roboto" pitchFamily="34" charset="0"/>
                <a:ea typeface="Roboto" pitchFamily="34" charset="-122"/>
                <a:cs typeface="Roboto" pitchFamily="34" charset="-120"/>
              </a:rPr>
              <a:t>A continuation re-enters where it stopped — </a:t>
            </a:r>
            <a:pPr indent="0" marL="0">
              <a:lnSpc>
                <a:spcPct val="140000"/>
              </a:lnSpc>
              <a:buNone/>
            </a:pPr>
            <a:r>
              <a:rPr lang="en-US" sz="2200" b="1" dirty="0">
                <a:solidFill>
                  <a:srgbClr val="38761D"/>
                </a:solidFill>
                <a:latin typeface="Roboto" pitchFamily="34" charset="0"/>
                <a:ea typeface="Roboto" pitchFamily="34" charset="-122"/>
                <a:cs typeface="Roboto" pitchFamily="34" charset="-120"/>
              </a:rPr>
              <a:t>14 µs</a:t>
            </a:r>
            <a:endParaRPr lang="en-US" sz="2200" dirty="0"/>
          </a:p>
        </p:txBody>
      </p:sp>
      <p:sp>
        <p:nvSpPr>
          <p:cNvPr id="7" name="Text 4"/>
          <p:cNvSpPr txBox="1"/>
          <p:nvPr/>
        </p:nvSpPr>
        <p:spPr>
          <a:xfrm>
            <a:off x="1219200" y="2133143"/>
            <a:ext cx="10312400" cy="449301"/>
          </a:xfrm>
          <a:prstGeom prst="rect">
            <a:avLst/>
          </a:prstGeom>
          <a:noFill/>
          <a:ln/>
        </p:spPr>
        <p:txBody>
          <a:bodyPr wrap="square" lIns="0" tIns="0" rIns="0" bIns="0" rtlCol="0" anchor="t"/>
          <a:lstStyle/>
          <a:p>
            <a:pPr indent="0" marL="0">
              <a:lnSpc>
                <a:spcPct val="140000"/>
              </a:lnSpc>
              <a:buNone/>
            </a:pPr>
            <a:r>
              <a:rPr lang="en-US" sz="1900" dirty="0">
                <a:solidFill>
                  <a:srgbClr val="000000"/>
                </a:solidFill>
                <a:latin typeface="Roboto" pitchFamily="34" charset="0"/>
                <a:ea typeface="Roboto" pitchFamily="34" charset="-122"/>
                <a:cs typeface="Roboto" pitchFamily="34" charset="-120"/>
              </a:rPr>
              <a:t>• </a:t>
            </a:r>
            <a:pPr indent="0" marL="0">
              <a:lnSpc>
                <a:spcPct val="140000"/>
              </a:lnSpc>
              <a:buNone/>
            </a:pPr>
            <a:r>
              <a:rPr lang="en-US" sz="1900" dirty="0">
                <a:solidFill>
                  <a:srgbClr val="000000"/>
                </a:solidFill>
                <a:latin typeface="Roboto" pitchFamily="34" charset="0"/>
                <a:ea typeface="Roboto" pitchFamily="34" charset="-122"/>
                <a:cs typeface="Roboto" pitchFamily="34" charset="-120"/>
              </a:rPr>
              <a:t>it stays in the same block, which is what the block cache is for</a:t>
            </a:r>
            <a:endParaRPr lang="en-US" sz="1900" dirty="0"/>
          </a:p>
        </p:txBody>
      </p:sp>
      <p:sp>
        <p:nvSpPr>
          <p:cNvPr id="8" name="Text 5"/>
          <p:cNvSpPr txBox="1"/>
          <p:nvPr/>
        </p:nvSpPr>
        <p:spPr>
          <a:xfrm>
            <a:off x="660400" y="2747543"/>
            <a:ext cx="10871200" cy="520243"/>
          </a:xfrm>
          <a:prstGeom prst="rect">
            <a:avLst/>
          </a:prstGeom>
          <a:noFill/>
          <a:ln/>
        </p:spPr>
        <p:txBody>
          <a:bodyPr wrap="square" lIns="0" tIns="0" rIns="0" bIns="0" rtlCol="0" anchor="t"/>
          <a:lstStyle/>
          <a:p>
            <a:pPr indent="0" marL="0">
              <a:lnSpc>
                <a:spcPct val="140000"/>
              </a:lnSpc>
              <a:buNone/>
            </a:pPr>
            <a:r>
              <a:rPr lang="en-US" sz="2200" dirty="0">
                <a:solidFill>
                  <a:srgbClr val="FF0000"/>
                </a:solidFill>
                <a:latin typeface="Roboto" pitchFamily="34" charset="0"/>
                <a:ea typeface="Roboto" pitchFamily="34" charset="-122"/>
                <a:cs typeface="Roboto" pitchFamily="34" charset="-120"/>
              </a:rPr>
              <a:t>• </a:t>
            </a:r>
            <a:pPr indent="0" marL="0">
              <a:lnSpc>
                <a:spcPct val="140000"/>
              </a:lnSpc>
              <a:buNone/>
            </a:pPr>
            <a:r>
              <a:rPr lang="en-US" sz="2200" b="1" dirty="0">
                <a:solidFill>
                  <a:srgbClr val="FF0000"/>
                </a:solidFill>
                <a:latin typeface="Roboto" pitchFamily="34" charset="0"/>
                <a:ea typeface="Roboto" pitchFamily="34" charset="-122"/>
                <a:cs typeface="Roboto" pitchFamily="34" charset="-120"/>
              </a:rPr>
              <a:t>A random walk re-enters anywhere — </a:t>
            </a:r>
            <a:pPr indent="0" marL="0">
              <a:lnSpc>
                <a:spcPct val="140000"/>
              </a:lnSpc>
              <a:buNone/>
            </a:pPr>
            <a:r>
              <a:rPr lang="en-US" sz="2200" b="1" dirty="0">
                <a:solidFill>
                  <a:srgbClr val="FF0000"/>
                </a:solidFill>
                <a:latin typeface="Roboto" pitchFamily="34" charset="0"/>
                <a:ea typeface="Roboto" pitchFamily="34" charset="-122"/>
                <a:cs typeface="Roboto" pitchFamily="34" charset="-120"/>
              </a:rPr>
              <a:t>476 µs</a:t>
            </a:r>
            <a:endParaRPr lang="en-US" sz="2200" dirty="0"/>
          </a:p>
        </p:txBody>
      </p:sp>
      <p:sp>
        <p:nvSpPr>
          <p:cNvPr id="9" name="Text 6"/>
          <p:cNvSpPr txBox="1"/>
          <p:nvPr/>
        </p:nvSpPr>
        <p:spPr>
          <a:xfrm>
            <a:off x="1219200" y="3432886"/>
            <a:ext cx="10312400" cy="1263447"/>
          </a:xfrm>
          <a:prstGeom prst="rect">
            <a:avLst/>
          </a:prstGeom>
          <a:noFill/>
          <a:ln/>
        </p:spPr>
        <p:txBody>
          <a:bodyPr wrap="square" lIns="0" tIns="0" rIns="0" bIns="0" rtlCol="0" anchor="t"/>
          <a:lstStyle/>
          <a:p>
            <a:pPr indent="0" marL="0">
              <a:lnSpc>
                <a:spcPct val="140000"/>
              </a:lnSpc>
              <a:buNone/>
            </a:pPr>
            <a:r>
              <a:rPr lang="en-US" sz="1900" dirty="0">
                <a:solidFill>
                  <a:srgbClr val="000000"/>
                </a:solidFill>
                <a:latin typeface="Roboto" pitchFamily="34" charset="0"/>
                <a:ea typeface="Roboto" pitchFamily="34" charset="-122"/>
                <a:cs typeface="Roboto" pitchFamily="34" charset="-120"/>
              </a:rPr>
              <a:t>• </a:t>
            </a:r>
            <a:pPr indent="0" marL="0">
              <a:lnSpc>
                <a:spcPct val="140000"/>
              </a:lnSpc>
              <a:spcAft>
                <a:spcPts val="665"/>
              </a:spcAft>
              <a:buNone/>
            </a:pPr>
            <a:r>
              <a:rPr lang="en-US" sz="1900" dirty="0">
                <a:solidFill>
                  <a:srgbClr val="000000"/>
                </a:solidFill>
                <a:latin typeface="Roboto" pitchFamily="34" charset="0"/>
                <a:ea typeface="Roboto" pitchFamily="34" charset="-122"/>
                <a:cs typeface="Roboto" pitchFamily="34" charset="-120"/>
              </a:rPr>
              <a:t>the cache cannot help: 476 µs against 477 with it off</a:t>
            </a:r>
            <a:endParaRPr lang="en-US" sz="1900" dirty="0"/>
          </a:p>
          <a:p>
            <a:pPr indent="0" marL="0">
              <a:lnSpc>
                <a:spcPct val="140000"/>
              </a:lnSpc>
              <a:buNone/>
            </a:pPr>
            <a:r>
              <a:rPr lang="en-US" sz="1900" dirty="0">
                <a:solidFill>
                  <a:srgbClr val="000000"/>
                </a:solidFill>
                <a:latin typeface="Roboto" pitchFamily="34" charset="0"/>
                <a:ea typeface="Roboto" pitchFamily="34" charset="-122"/>
                <a:cs typeface="Roboto" pitchFamily="34" charset="-120"/>
              </a:rPr>
              <a:t>• </a:t>
            </a:r>
            <a:pPr indent="0" marL="0">
              <a:lnSpc>
                <a:spcPct val="140000"/>
              </a:lnSpc>
              <a:buNone/>
            </a:pPr>
            <a:r>
              <a:rPr lang="en-US" sz="1900" dirty="0">
                <a:solidFill>
                  <a:srgbClr val="000000"/>
                </a:solidFill>
                <a:latin typeface="Roboto" pitchFamily="34" charset="0"/>
                <a:ea typeface="Roboto" pitchFamily="34" charset="-122"/>
                <a:cs typeface="Roboto" pitchFamily="34" charset="-120"/>
              </a:rPr>
              <a:t>depth </a:t>
            </a:r>
            <a:pPr indent="0" marL="0">
              <a:lnSpc>
                <a:spcPct val="140000"/>
              </a:lnSpc>
              <a:buNone/>
            </a:pPr>
            <a:r>
              <a:rPr lang="en-US" sz="1900" i="1" dirty="0">
                <a:solidFill>
                  <a:srgbClr val="000000"/>
                </a:solidFill>
                <a:latin typeface="Roboto" pitchFamily="34" charset="0"/>
                <a:ea typeface="Roboto" pitchFamily="34" charset="-122"/>
                <a:cs typeface="Roboto" pitchFamily="34" charset="-120"/>
              </a:rPr>
              <a:t>d</a:t>
            </a:r>
            <a:pPr indent="0" marL="0">
              <a:lnSpc>
                <a:spcPct val="140000"/>
              </a:lnSpc>
              <a:buNone/>
            </a:pPr>
            <a:r>
              <a:rPr lang="en-US" sz="1900" dirty="0">
                <a:solidFill>
                  <a:srgbClr val="000000"/>
                </a:solidFill>
                <a:latin typeface="Roboto" pitchFamily="34" charset="0"/>
                <a:ea typeface="Roboto" pitchFamily="34" charset="-122"/>
                <a:cs typeface="Roboto" pitchFamily="34" charset="-120"/>
              </a:rPr>
              <a:t> pays </a:t>
            </a:r>
            <a:pPr indent="0" marL="0">
              <a:lnSpc>
                <a:spcPct val="140000"/>
              </a:lnSpc>
              <a:buNone/>
            </a:pPr>
            <a:r>
              <a:rPr lang="en-US" sz="1900" i="1" dirty="0">
                <a:solidFill>
                  <a:srgbClr val="000000"/>
                </a:solidFill>
                <a:latin typeface="Roboto" pitchFamily="34" charset="0"/>
                <a:ea typeface="Roboto" pitchFamily="34" charset="-122"/>
                <a:cs typeface="Roboto" pitchFamily="34" charset="-120"/>
              </a:rPr>
              <a:t>d</a:t>
            </a:r>
            <a:pPr indent="0" marL="0">
              <a:lnSpc>
                <a:spcPct val="140000"/>
              </a:lnSpc>
              <a:buNone/>
            </a:pPr>
            <a:r>
              <a:rPr lang="en-US" sz="1900" dirty="0">
                <a:solidFill>
                  <a:srgbClr val="000000"/>
                </a:solidFill>
                <a:latin typeface="Roboto" pitchFamily="34" charset="0"/>
                <a:ea typeface="Roboto" pitchFamily="34" charset="-122"/>
                <a:cs typeface="Roboto" pitchFamily="34" charset="-120"/>
              </a:rPr>
              <a:t> exact counts and </a:t>
            </a:r>
            <a:pPr indent="0" marL="0">
              <a:lnSpc>
                <a:spcPct val="140000"/>
              </a:lnSpc>
              <a:buNone/>
            </a:pPr>
            <a:r>
              <a:rPr lang="en-US" sz="1900" i="1" dirty="0">
                <a:solidFill>
                  <a:srgbClr val="000000"/>
                </a:solidFill>
                <a:latin typeface="Roboto" pitchFamily="34" charset="0"/>
                <a:ea typeface="Roboto" pitchFamily="34" charset="-122"/>
                <a:cs typeface="Roboto" pitchFamily="34" charset="-120"/>
              </a:rPr>
              <a:t>d</a:t>
            </a:r>
            <a:pPr indent="0" marL="0">
              <a:lnSpc>
                <a:spcPct val="140000"/>
              </a:lnSpc>
              <a:buNone/>
            </a:pPr>
            <a:r>
              <a:rPr lang="en-US" sz="1900" dirty="0">
                <a:solidFill>
                  <a:srgbClr val="000000"/>
                </a:solidFill>
                <a:latin typeface="Roboto" pitchFamily="34" charset="0"/>
                <a:ea typeface="Roboto" pitchFamily="34" charset="-122"/>
                <a:cs typeface="Roboto" pitchFamily="34" charset="-120"/>
              </a:rPr>
              <a:t> scattered re-entries, where </a:t>
            </a:r>
            <a:pPr indent="0" marL="0">
              <a:lnSpc>
                <a:spcPct val="140000"/>
              </a:lnSpc>
              <a:buNone/>
            </a:pPr>
            <a:r>
              <a:rPr lang="en-US" sz="1900" b="1" dirty="0">
                <a:solidFill>
                  <a:srgbClr val="000000"/>
                </a:solidFill>
                <a:latin typeface="Roboto" pitchFamily="34" charset="0"/>
                <a:ea typeface="Roboto" pitchFamily="34" charset="-122"/>
                <a:cs typeface="Roboto" pitchFamily="34" charset="-120"/>
              </a:rPr>
              <a:t>keyAt</a:t>
            </a:r>
            <a:pPr indent="0" marL="0">
              <a:lnSpc>
                <a:spcPct val="140000"/>
              </a:lnSpc>
              <a:buNone/>
            </a:pPr>
            <a:r>
              <a:rPr lang="en-US" sz="1900" dirty="0">
                <a:solidFill>
                  <a:srgbClr val="000000"/>
                </a:solidFill>
                <a:latin typeface="Roboto" pitchFamily="34" charset="0"/>
                <a:ea typeface="Roboto" pitchFamily="34" charset="-122"/>
                <a:cs typeface="Roboto" pitchFamily="34" charset="-120"/>
              </a:rPr>
              <a:t> pays </a:t>
            </a:r>
            <a:pPr indent="0" marL="0">
              <a:lnSpc>
                <a:spcPct val="140000"/>
              </a:lnSpc>
              <a:buNone/>
            </a:pPr>
            <a:r>
              <a:rPr lang="en-US" sz="1900" i="1" dirty="0">
                <a:solidFill>
                  <a:srgbClr val="000000"/>
                </a:solidFill>
                <a:latin typeface="Roboto" pitchFamily="34" charset="0"/>
                <a:ea typeface="Roboto" pitchFamily="34" charset="-122"/>
                <a:cs typeface="Roboto" pitchFamily="34" charset="-120"/>
              </a:rPr>
              <a:t>d</a:t>
            </a:r>
            <a:pPr indent="0" marL="0">
              <a:lnSpc>
                <a:spcPct val="140000"/>
              </a:lnSpc>
              <a:buNone/>
            </a:pPr>
            <a:r>
              <a:rPr lang="en-US" sz="1900" dirty="0">
                <a:solidFill>
                  <a:srgbClr val="000000"/>
                </a:solidFill>
                <a:latin typeface="Roboto" pitchFamily="34" charset="0"/>
                <a:ea typeface="Roboto" pitchFamily="34" charset="-122"/>
                <a:cs typeface="Roboto" pitchFamily="34" charset="-120"/>
              </a:rPr>
              <a:t> tree descents</a:t>
            </a:r>
            <a:endParaRPr lang="en-US" sz="1900" dirty="0"/>
          </a:p>
        </p:txBody>
      </p:sp>
      <p:sp>
        <p:nvSpPr>
          <p:cNvPr id="10" name="Text 7"/>
          <p:cNvSpPr txBox="1"/>
          <p:nvPr/>
        </p:nvSpPr>
        <p:spPr>
          <a:xfrm>
            <a:off x="660400" y="4861433"/>
            <a:ext cx="9906000" cy="799998"/>
          </a:xfrm>
          <a:prstGeom prst="rect">
            <a:avLst/>
          </a:prstGeom>
          <a:noFill/>
          <a:ln w="38100">
            <a:solidFill>
              <a:srgbClr val="FF0000"/>
            </a:solidFill>
          </a:ln>
        </p:spPr>
        <p:txBody>
          <a:bodyPr wrap="square" lIns="177800" tIns="177800" rIns="177800" bIns="177800" rtlCol="0" anchor="t"/>
          <a:lstStyle/>
          <a:p>
            <a:pPr algn="ctr" indent="0" marL="0">
              <a:lnSpc>
                <a:spcPct val="135000"/>
              </a:lnSpc>
              <a:buNone/>
            </a:pPr>
            <a:r>
              <a:rPr lang="en-US" sz="2400" b="1" dirty="0">
                <a:solidFill>
                  <a:srgbClr val="000000"/>
                </a:solidFill>
                <a:latin typeface="Roboto" pitchFamily="34" charset="0"/>
                <a:ea typeface="Roboto" pitchFamily="34" charset="-122"/>
                <a:cs typeface="Roboto" pitchFamily="34" charset="-120"/>
              </a:rPr>
              <a:t>Preemption ports. Sampling pays.</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155700"/>
          </a:xfrm>
          <a:prstGeom prst="rect">
            <a:avLst/>
          </a:prstGeom>
          <a:solidFill>
            <a:srgbClr val="0084D1"/>
          </a:solidFill>
          <a:ln/>
        </p:spPr>
      </p:sp>
      <p:sp>
        <p:nvSpPr>
          <p:cNvPr id="3" name="Text 1"/>
          <p:cNvSpPr txBox="1"/>
          <p:nvPr/>
        </p:nvSpPr>
        <p:spPr>
          <a:xfrm>
            <a:off x="0" y="228600"/>
            <a:ext cx="12192000" cy="934720"/>
          </a:xfrm>
          <a:prstGeom prst="rect">
            <a:avLst/>
          </a:prstGeom>
          <a:noFill/>
          <a:ln/>
        </p:spPr>
        <p:txBody>
          <a:bodyPr wrap="square" lIns="0" tIns="0" rIns="0" bIns="0" rtlCol="0" anchor="t"/>
          <a:lstStyle/>
          <a:p>
            <a:pPr algn="ctr" indent="0" marL="0">
              <a:lnSpc>
                <a:spcPct val="110000"/>
              </a:lnSpc>
              <a:buNone/>
            </a:pPr>
            <a:r>
              <a:rPr lang="en-US" sz="4600" b="1" dirty="0">
                <a:solidFill>
                  <a:srgbClr val="FFFFFF"/>
                </a:solidFill>
                <a:latin typeface="Roboto Slab" pitchFamily="34" charset="0"/>
                <a:ea typeface="Roboto Slab" pitchFamily="34" charset="-122"/>
                <a:cs typeface="Roboto Slab" pitchFamily="34" charset="-120"/>
              </a:rPr>
              <a:t>Where this is written down</a:t>
            </a:r>
            <a:endParaRPr lang="en-US" sz="4600" dirty="0"/>
          </a:p>
        </p:txBody>
      </p:sp>
      <p:sp>
        <p:nvSpPr>
          <p:cNvPr id="4" name="Text 2"/>
          <p:cNvSpPr txBox="1"/>
          <p:nvPr/>
        </p:nvSpPr>
        <p:spPr>
          <a:xfrm>
            <a:off x="10795000" y="6347460"/>
            <a:ext cx="889000" cy="264160"/>
          </a:xfrm>
          <a:prstGeom prst="rect">
            <a:avLst/>
          </a:prstGeom>
          <a:noFill/>
          <a:ln/>
        </p:spPr>
        <p:txBody>
          <a:bodyPr wrap="square" lIns="0" tIns="0" rIns="0" bIns="0" rtlCol="0" anchor="t"/>
          <a:lstStyle/>
          <a:p>
            <a:pPr algn="r" indent="0" marL="0">
              <a:lnSpc>
                <a:spcPct val="120000"/>
              </a:lnSpc>
              <a:buNone/>
            </a:pPr>
            <a:r>
              <a:rPr lang="en-US" sz="1300" dirty="0">
                <a:solidFill>
                  <a:srgbClr val="595959"/>
                </a:solidFill>
                <a:latin typeface="Roboto" pitchFamily="34" charset="0"/>
                <a:ea typeface="Roboto" pitchFamily="34" charset="-122"/>
                <a:cs typeface="Roboto" pitchFamily="34" charset="-120"/>
              </a:rPr>
              <a:t>18</a:t>
            </a:r>
            <a:endParaRPr lang="en-US" sz="13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60400" y="1358900"/>
          <a:ext cx="10871200" cy="914400"/>
        </p:xfrm>
        <a:graphic>
          <a:graphicData uri="http://schemas.openxmlformats.org/drawingml/2006/table">
            <a:tbl>
              <a:tblPr/>
              <a:tblGrid>
                <a:gridCol w="4783328"/>
                <a:gridCol w="6087872"/>
              </a:tblGrid>
              <a:tr h="0">
                <a:tc>
                  <a:txBody>
                    <a:bodyPr/>
                    <a:lstStyle/>
                    <a:p>
                      <a:pPr algn="l" indent="0" marL="0">
                        <a:buNone/>
                      </a:pPr>
                      <a:r>
                        <a:rPr lang="en-US" sz="1229" b="1" dirty="0">
                          <a:solidFill>
                            <a:srgbClr val="FFFFFF"/>
                          </a:solidFill>
                          <a:latin typeface="Roboto" pitchFamily="34" charset="0"/>
                          <a:ea typeface="Roboto" pitchFamily="34" charset="-122"/>
                          <a:cs typeface="Roboto" pitchFamily="34" charset="-120"/>
                        </a:rPr>
                        <a:t>what</a:t>
                      </a:r>
                      <a:endParaRPr lang="en-US" sz="1229" dirty="0">
                        <a:latin typeface="Roboto" charset="0"/>
                        <a:ea typeface="Roboto" charset="0"/>
                        <a:cs typeface="Roboto" charset="0"/>
                      </a:endParaRPr>
                    </a:p>
                  </a:txBody>
                  <a:tcPr marL="78022" marR="78022" marT="78022" marB="7802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84D1"/>
                    </a:solidFill>
                  </a:tcPr>
                </a:tc>
                <a:tc>
                  <a:txBody>
                    <a:bodyPr/>
                    <a:lstStyle/>
                    <a:p>
                      <a:pPr algn="l" indent="0" marL="0">
                        <a:buNone/>
                      </a:pPr>
                      <a:r>
                        <a:rPr lang="en-US" sz="1229" b="1" dirty="0">
                          <a:solidFill>
                            <a:srgbClr val="FFFFFF"/>
                          </a:solidFill>
                          <a:latin typeface="Roboto" pitchFamily="34" charset="0"/>
                          <a:ea typeface="Roboto" pitchFamily="34" charset="-122"/>
                          <a:cs typeface="Roboto" pitchFamily="34" charset="-120"/>
                        </a:rPr>
                        <a:t>documented where</a:t>
                      </a:r>
                      <a:endParaRPr lang="en-US" sz="1229" dirty="0">
                        <a:latin typeface="Roboto" charset="0"/>
                        <a:ea typeface="Roboto" charset="0"/>
                        <a:cs typeface="Roboto" charset="0"/>
                      </a:endParaRPr>
                    </a:p>
                  </a:txBody>
                  <a:tcPr marL="78022" marR="78022" marT="78022" marB="7802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84D1"/>
                    </a:solidFill>
                  </a:tcPr>
                </a:tc>
              </a:tr>
              <a:tr h="0">
                <a:tc>
                  <a:txBody>
                    <a:bodyPr/>
                    <a:lstStyle/>
                    <a:p>
                      <a:pPr algn="l" indent="0" marL="0">
                        <a:buNone/>
                      </a:pPr>
                      <a:r>
                        <a:rPr lang="en-US" sz="1229" dirty="0">
                          <a:solidFill>
                            <a:srgbClr val="000000"/>
                          </a:solidFill>
                          <a:latin typeface="Roboto" pitchFamily="34" charset="0"/>
                          <a:ea typeface="Roboto" pitchFamily="34" charset="-122"/>
                          <a:cs typeface="Roboto" pitchFamily="34" charset="-120"/>
                        </a:rPr>
                        <a:t>The six permutations</a:t>
                      </a:r>
                      <a:endParaRPr lang="en-US" sz="1229" dirty="0">
                        <a:latin typeface="Roboto" charset="0"/>
                        <a:ea typeface="Roboto" charset="0"/>
                        <a:cs typeface="Roboto" charset="0"/>
                      </a:endParaRPr>
                    </a:p>
                  </a:txBody>
                  <a:tcPr marL="78022" marR="78022" marT="78022" marB="7802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229" b="1" dirty="0">
                          <a:solidFill>
                            <a:srgbClr val="38761D"/>
                          </a:solidFill>
                          <a:latin typeface="Roboto" pitchFamily="34" charset="0"/>
                          <a:ea typeface="Roboto" pitchFamily="34" charset="-122"/>
                          <a:cs typeface="Roboto" pitchFamily="34" charset="-120"/>
                        </a:rPr>
                        <a:t>Book chapter 2023, §1.5.2</a:t>
                      </a:r>
                      <a:pPr algn="l" indent="0" marL="0">
                        <a:buNone/>
                      </a:pPr>
                      <a:r>
                        <a:rPr lang="en-US" sz="1229" dirty="0">
                          <a:solidFill>
                            <a:srgbClr val="000000"/>
                          </a:solidFill>
                          <a:latin typeface="Roboto" pitchFamily="34" charset="0"/>
                          <a:ea typeface="Roboto" pitchFamily="34" charset="-122"/>
                          <a:cs typeface="Roboto" pitchFamily="34" charset="-120"/>
                        </a:rPr>
                        <a:t>, with worked examples; also the wiki</a:t>
                      </a:r>
                      <a:endParaRPr lang="en-US" sz="1229" dirty="0">
                        <a:latin typeface="Roboto" charset="0"/>
                        <a:ea typeface="Roboto" charset="0"/>
                        <a:cs typeface="Roboto" charset="0"/>
                      </a:endParaRPr>
                    </a:p>
                  </a:txBody>
                  <a:tcPr marL="78022" marR="78022" marT="78022" marB="7802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0">
                <a:tc>
                  <a:txBody>
                    <a:bodyPr/>
                    <a:lstStyle/>
                    <a:p>
                      <a:pPr algn="l" indent="0" marL="0">
                        <a:buNone/>
                      </a:pPr>
                      <a:r>
                        <a:rPr lang="en-US" sz="1229" dirty="0">
                          <a:solidFill>
                            <a:srgbClr val="000000"/>
                          </a:solidFill>
                          <a:latin typeface="Roboto" pitchFamily="34" charset="0"/>
                          <a:ea typeface="Roboto" pitchFamily="34" charset="-122"/>
                          <a:cs typeface="Roboto" pitchFamily="34" charset="-120"/>
                        </a:rPr>
                        <a:t>Internal / external vocabulary, Id ordering</a:t>
                      </a:r>
                      <a:endParaRPr lang="en-US" sz="1229" dirty="0">
                        <a:latin typeface="Roboto" charset="0"/>
                        <a:ea typeface="Roboto" charset="0"/>
                        <a:cs typeface="Roboto" charset="0"/>
                      </a:endParaRPr>
                    </a:p>
                  </a:txBody>
                  <a:tcPr marL="78022" marR="78022" marT="78022" marB="7802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229" b="1" dirty="0">
                          <a:solidFill>
                            <a:srgbClr val="38761D"/>
                          </a:solidFill>
                          <a:latin typeface="Roboto" pitchFamily="34" charset="0"/>
                          <a:ea typeface="Roboto" pitchFamily="34" charset="-122"/>
                          <a:cs typeface="Roboto" pitchFamily="34" charset="-120"/>
                        </a:rPr>
                        <a:t>Wiki</a:t>
                      </a:r>
                      <a:pPr algn="l" indent="0" marL="0">
                        <a:buNone/>
                      </a:pPr>
                      <a:r>
                        <a:rPr lang="en-US" sz="1229" dirty="0">
                          <a:solidFill>
                            <a:srgbClr val="000000"/>
                          </a:solidFill>
                          <a:latin typeface="Roboto" pitchFamily="34" charset="0"/>
                          <a:ea typeface="Roboto" pitchFamily="34" charset="-122"/>
                          <a:cs typeface="Roboto" pitchFamily="34" charset="-120"/>
                        </a:rPr>
                        <a:t>, two pages — conceptual, dated 2022, “will soon be updated”</a:t>
                      </a:r>
                      <a:endParaRPr lang="en-US" sz="1229" dirty="0">
                        <a:latin typeface="Roboto" charset="0"/>
                        <a:ea typeface="Roboto" charset="0"/>
                        <a:cs typeface="Roboto" charset="0"/>
                      </a:endParaRPr>
                    </a:p>
                  </a:txBody>
                  <a:tcPr marL="78022" marR="78022" marT="78022" marB="7802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0">
                <a:tc>
                  <a:txBody>
                    <a:bodyPr/>
                    <a:lstStyle/>
                    <a:p>
                      <a:pPr algn="l" indent="0" marL="0">
                        <a:buNone/>
                      </a:pPr>
                      <a:r>
                        <a:rPr lang="en-US" sz="1229" dirty="0">
                          <a:solidFill>
                            <a:srgbClr val="000000"/>
                          </a:solidFill>
                          <a:latin typeface="Roboto" pitchFamily="34" charset="0"/>
                          <a:ea typeface="Roboto" pitchFamily="34" charset="-122"/>
                          <a:cs typeface="Roboto" pitchFamily="34" charset="-120"/>
                        </a:rPr>
                        <a:t>The 4 + 60 bit layout of an Id</a:t>
                      </a:r>
                      <a:endParaRPr lang="en-US" sz="1229" dirty="0">
                        <a:latin typeface="Roboto" charset="0"/>
                        <a:ea typeface="Roboto" charset="0"/>
                        <a:cs typeface="Roboto" charset="0"/>
                      </a:endParaRPr>
                    </a:p>
                  </a:txBody>
                  <a:tcPr marL="78022" marR="78022" marT="78022" marB="7802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2CC"/>
                    </a:solidFill>
                  </a:tcPr>
                </a:tc>
                <a:tc>
                  <a:txBody>
                    <a:bodyPr/>
                    <a:lstStyle/>
                    <a:p>
                      <a:pPr algn="l" indent="0" marL="0">
                        <a:buNone/>
                      </a:pPr>
                      <a:r>
                        <a:rPr lang="en-US" sz="1229" b="1" dirty="0">
                          <a:solidFill>
                            <a:srgbClr val="FF0000"/>
                          </a:solidFill>
                          <a:latin typeface="Roboto" pitchFamily="34" charset="0"/>
                          <a:ea typeface="Roboto" pitchFamily="34" charset="-122"/>
                          <a:cs typeface="Roboto" pitchFamily="34" charset="-120"/>
                        </a:rPr>
                        <a:t>nowhere</a:t>
                      </a:r>
                      <a:pPr algn="l" indent="0" marL="0">
                        <a:buNone/>
                      </a:pPr>
                      <a:r>
                        <a:rPr lang="en-US" sz="1229" dirty="0">
                          <a:solidFill>
                            <a:srgbClr val="000000"/>
                          </a:solidFill>
                          <a:latin typeface="Roboto" pitchFamily="34" charset="0"/>
                          <a:ea typeface="Roboto" pitchFamily="34" charset="-122"/>
                          <a:cs typeface="Roboto" pitchFamily="34" charset="-120"/>
                        </a:rPr>
                        <a:t> — the wiki describes ranges, never the encoding</a:t>
                      </a:r>
                      <a:endParaRPr lang="en-US" sz="1229" dirty="0">
                        <a:latin typeface="Roboto" charset="0"/>
                        <a:ea typeface="Roboto" charset="0"/>
                        <a:cs typeface="Roboto" charset="0"/>
                      </a:endParaRPr>
                    </a:p>
                  </a:txBody>
                  <a:tcPr marL="78022" marR="78022" marT="78022" marB="7802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2CC"/>
                    </a:solidFill>
                  </a:tcPr>
                </a:tc>
              </a:tr>
              <a:tr h="0">
                <a:tc>
                  <a:txBody>
                    <a:bodyPr/>
                    <a:lstStyle/>
                    <a:p>
                      <a:pPr algn="l" indent="0" marL="0">
                        <a:buNone/>
                      </a:pPr>
                      <a:r>
                        <a:rPr lang="en-US" sz="1229" dirty="0">
                          <a:solidFill>
                            <a:srgbClr val="000000"/>
                          </a:solidFill>
                          <a:latin typeface="Roboto" pitchFamily="34" charset="0"/>
                          <a:ea typeface="Roboto" pitchFamily="34" charset="-122"/>
                          <a:cs typeface="Roboto" pitchFamily="34" charset="-120"/>
                        </a:rPr>
                        <a:t>Blocks, their size, their cutting rules</a:t>
                      </a:r>
                      <a:endParaRPr lang="en-US" sz="1229" dirty="0">
                        <a:latin typeface="Roboto" charset="0"/>
                        <a:ea typeface="Roboto" charset="0"/>
                        <a:cs typeface="Roboto" charset="0"/>
                      </a:endParaRPr>
                    </a:p>
                  </a:txBody>
                  <a:tcPr marL="78022" marR="78022" marT="78022" marB="7802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2CC"/>
                    </a:solidFill>
                  </a:tcPr>
                </a:tc>
                <a:tc>
                  <a:txBody>
                    <a:bodyPr/>
                    <a:lstStyle/>
                    <a:p>
                      <a:pPr algn="l" indent="0" marL="0">
                        <a:buNone/>
                      </a:pPr>
                      <a:r>
                        <a:rPr lang="en-US" sz="1229" b="1" dirty="0">
                          <a:solidFill>
                            <a:srgbClr val="FF0000"/>
                          </a:solidFill>
                          <a:latin typeface="Roboto" pitchFamily="34" charset="0"/>
                          <a:ea typeface="Roboto" pitchFamily="34" charset="-122"/>
                          <a:cs typeface="Roboto" pitchFamily="34" charset="-120"/>
                        </a:rPr>
                        <a:t>nowhere</a:t>
                      </a:r>
                      <a:endParaRPr lang="en-US" sz="1229" dirty="0">
                        <a:latin typeface="Roboto" charset="0"/>
                        <a:ea typeface="Roboto" charset="0"/>
                        <a:cs typeface="Roboto" charset="0"/>
                      </a:endParaRPr>
                    </a:p>
                  </a:txBody>
                  <a:tcPr marL="78022" marR="78022" marT="78022" marB="7802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2CC"/>
                    </a:solidFill>
                  </a:tcPr>
                </a:tc>
              </a:tr>
              <a:tr h="0">
                <a:tc>
                  <a:txBody>
                    <a:bodyPr/>
                    <a:lstStyle/>
                    <a:p>
                      <a:pPr algn="l" indent="0" marL="0">
                        <a:buNone/>
                      </a:pPr>
                      <a:r>
                        <a:rPr lang="en-US" sz="1229" dirty="0">
                          <a:solidFill>
                            <a:srgbClr val="000000"/>
                          </a:solidFill>
                          <a:latin typeface="Roboto" pitchFamily="34" charset="0"/>
                          <a:ea typeface="Roboto" pitchFamily="34" charset="-122"/>
                          <a:cs typeface="Roboto" pitchFamily="34" charset="-120"/>
                        </a:rPr>
                        <a:t>Per-column Zstd, offsets and sizes</a:t>
                      </a:r>
                      <a:endParaRPr lang="en-US" sz="1229" dirty="0">
                        <a:latin typeface="Roboto" charset="0"/>
                        <a:ea typeface="Roboto" charset="0"/>
                        <a:cs typeface="Roboto" charset="0"/>
                      </a:endParaRPr>
                    </a:p>
                  </a:txBody>
                  <a:tcPr marL="78022" marR="78022" marT="78022" marB="7802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2CC"/>
                    </a:solidFill>
                  </a:tcPr>
                </a:tc>
                <a:tc>
                  <a:txBody>
                    <a:bodyPr/>
                    <a:lstStyle/>
                    <a:p>
                      <a:pPr algn="l" indent="0" marL="0">
                        <a:buNone/>
                      </a:pPr>
                      <a:r>
                        <a:rPr lang="en-US" sz="1229" b="1" dirty="0">
                          <a:solidFill>
                            <a:srgbClr val="FF0000"/>
                          </a:solidFill>
                          <a:latin typeface="Roboto" pitchFamily="34" charset="0"/>
                          <a:ea typeface="Roboto" pitchFamily="34" charset="-122"/>
                          <a:cs typeface="Roboto" pitchFamily="34" charset="-120"/>
                        </a:rPr>
                        <a:t>nowhere</a:t>
                      </a:r>
                      <a:pPr algn="l" indent="0" marL="0">
                        <a:buNone/>
                      </a:pPr>
                      <a:r>
                        <a:rPr lang="en-US" sz="1229" dirty="0">
                          <a:solidFill>
                            <a:srgbClr val="000000"/>
                          </a:solidFill>
                          <a:latin typeface="Roboto" pitchFamily="34" charset="0"/>
                          <a:ea typeface="Roboto" pitchFamily="34" charset="-122"/>
                          <a:cs typeface="Roboto" pitchFamily="34" charset="-120"/>
                        </a:rPr>
                        <a:t> — the wiki only says “compressed in a variety of ways”</a:t>
                      </a:r>
                      <a:endParaRPr lang="en-US" sz="1229" dirty="0">
                        <a:latin typeface="Roboto" charset="0"/>
                        <a:ea typeface="Roboto" charset="0"/>
                        <a:cs typeface="Roboto" charset="0"/>
                      </a:endParaRPr>
                    </a:p>
                  </a:txBody>
                  <a:tcPr marL="78022" marR="78022" marT="78022" marB="7802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2CC"/>
                    </a:solidFill>
                  </a:tcPr>
                </a:tc>
              </a:tr>
              <a:tr h="0">
                <a:tc>
                  <a:txBody>
                    <a:bodyPr/>
                    <a:lstStyle/>
                    <a:p>
                      <a:pPr algn="l" indent="0" marL="0">
                        <a:buNone/>
                      </a:pPr>
                      <a:r>
                        <a:rPr lang="en-US" sz="1229" dirty="0">
                          <a:solidFill>
                            <a:srgbClr val="000000"/>
                          </a:solidFill>
                          <a:latin typeface="Roboto" pitchFamily="34" charset="0"/>
                          <a:ea typeface="Roboto" pitchFamily="34" charset="-122"/>
                          <a:cs typeface="Roboto" pitchFamily="34" charset="-120"/>
                        </a:rPr>
                        <a:t>Block and relation metadata, their fields</a:t>
                      </a:r>
                      <a:endParaRPr lang="en-US" sz="1229" dirty="0">
                        <a:latin typeface="Roboto" charset="0"/>
                        <a:ea typeface="Roboto" charset="0"/>
                        <a:cs typeface="Roboto" charset="0"/>
                      </a:endParaRPr>
                    </a:p>
                  </a:txBody>
                  <a:tcPr marL="78022" marR="78022" marT="78022" marB="7802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2CC"/>
                    </a:solidFill>
                  </a:tcPr>
                </a:tc>
                <a:tc>
                  <a:txBody>
                    <a:bodyPr/>
                    <a:lstStyle/>
                    <a:p>
                      <a:pPr algn="l" indent="0" marL="0">
                        <a:buNone/>
                      </a:pPr>
                      <a:r>
                        <a:rPr lang="en-US" sz="1229" b="1" dirty="0">
                          <a:solidFill>
                            <a:srgbClr val="FF0000"/>
                          </a:solidFill>
                          <a:latin typeface="Roboto" pitchFamily="34" charset="0"/>
                          <a:ea typeface="Roboto" pitchFamily="34" charset="-122"/>
                          <a:cs typeface="Roboto" pitchFamily="34" charset="-120"/>
                        </a:rPr>
                        <a:t>nowhere</a:t>
                      </a:r>
                      <a:endParaRPr lang="en-US" sz="1229" dirty="0">
                        <a:latin typeface="Roboto" charset="0"/>
                        <a:ea typeface="Roboto" charset="0"/>
                        <a:cs typeface="Roboto" charset="0"/>
                      </a:endParaRPr>
                    </a:p>
                  </a:txBody>
                  <a:tcPr marL="78022" marR="78022" marT="78022" marB="7802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2CC"/>
                    </a:solidFill>
                  </a:tcPr>
                </a:tc>
              </a:tr>
              <a:tr h="0">
                <a:tc>
                  <a:txBody>
                    <a:bodyPr/>
                    <a:lstStyle/>
                    <a:p>
                      <a:pPr algn="l" indent="0" marL="0">
                        <a:buNone/>
                      </a:pPr>
                      <a:r>
                        <a:rPr lang="en-US" sz="1229" dirty="0">
                          <a:solidFill>
                            <a:srgbClr val="000000"/>
                          </a:solidFill>
                          <a:latin typeface="Roboto" pitchFamily="34" charset="0"/>
                          <a:ea typeface="Roboto" pitchFamily="34" charset="-122"/>
                          <a:cs typeface="Roboto" pitchFamily="34" charset="-120"/>
                        </a:rPr>
                        <a:t>Metadata at the end of the permutation file</a:t>
                      </a:r>
                      <a:endParaRPr lang="en-US" sz="1229" dirty="0">
                        <a:latin typeface="Roboto" charset="0"/>
                        <a:ea typeface="Roboto" charset="0"/>
                        <a:cs typeface="Roboto" charset="0"/>
                      </a:endParaRPr>
                    </a:p>
                  </a:txBody>
                  <a:tcPr marL="78022" marR="78022" marT="78022" marB="7802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2CC"/>
                    </a:solidFill>
                  </a:tcPr>
                </a:tc>
                <a:tc>
                  <a:txBody>
                    <a:bodyPr/>
                    <a:lstStyle/>
                    <a:p>
                      <a:pPr algn="l" indent="0" marL="0">
                        <a:buNone/>
                      </a:pPr>
                      <a:r>
                        <a:rPr lang="en-US" sz="1229" b="1" dirty="0">
                          <a:solidFill>
                            <a:srgbClr val="FF0000"/>
                          </a:solidFill>
                          <a:latin typeface="Roboto" pitchFamily="34" charset="0"/>
                          <a:ea typeface="Roboto" pitchFamily="34" charset="-122"/>
                          <a:cs typeface="Roboto" pitchFamily="34" charset="-120"/>
                        </a:rPr>
                        <a:t>nowhere</a:t>
                      </a:r>
                      <a:endParaRPr lang="en-US" sz="1229" dirty="0">
                        <a:latin typeface="Roboto" charset="0"/>
                        <a:ea typeface="Roboto" charset="0"/>
                        <a:cs typeface="Roboto" charset="0"/>
                      </a:endParaRPr>
                    </a:p>
                  </a:txBody>
                  <a:tcPr marL="78022" marR="78022" marT="78022" marB="7802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2CC"/>
                    </a:solidFill>
                  </a:tcPr>
                </a:tc>
              </a:tr>
            </a:tbl>
          </a:graphicData>
        </a:graphic>
      </p:graphicFrame>
      <p:sp>
        <p:nvSpPr>
          <p:cNvPr id="7" name="Text 3"/>
          <p:cNvSpPr txBox="1"/>
          <p:nvPr/>
        </p:nvSpPr>
        <p:spPr>
          <a:xfrm>
            <a:off x="660400" y="4604614"/>
            <a:ext cx="10871200" cy="471877"/>
          </a:xfrm>
          <a:prstGeom prst="rect">
            <a:avLst/>
          </a:prstGeom>
          <a:noFill/>
          <a:ln/>
        </p:spPr>
        <p:txBody>
          <a:bodyPr wrap="square" lIns="0" tIns="0" rIns="0" bIns="0" rtlCol="0" anchor="t"/>
          <a:lstStyle/>
          <a:p>
            <a:pPr algn="l" indent="0" marL="0">
              <a:lnSpc>
                <a:spcPct val="140000"/>
              </a:lnSpc>
              <a:buNone/>
            </a:pPr>
            <a:r>
              <a:rPr lang="en-US" sz="1229" dirty="0">
                <a:solidFill>
                  <a:srgbClr val="000000"/>
                </a:solidFill>
                <a:latin typeface="Roboto" pitchFamily="34" charset="0"/>
                <a:ea typeface="Roboto" pitchFamily="34" charset="-122"/>
                <a:cs typeface="Roboto" pitchFamily="34" charset="-120"/>
              </a:rPr>
              <a:t>The </a:t>
            </a:r>
            <a:pPr algn="l" indent="0" marL="0">
              <a:lnSpc>
                <a:spcPct val="140000"/>
              </a:lnSpc>
              <a:buNone/>
            </a:pPr>
            <a:r>
              <a:rPr lang="en-US" sz="1229" b="1" dirty="0">
                <a:solidFill>
                  <a:srgbClr val="000000"/>
                </a:solidFill>
                <a:latin typeface="Roboto" pitchFamily="34" charset="0"/>
                <a:ea typeface="Roboto" pitchFamily="34" charset="-122"/>
                <a:cs typeface="Roboto" pitchFamily="34" charset="-120"/>
              </a:rPr>
              <a:t>CIKM 2017</a:t>
            </a:r>
            <a:pPr algn="l" indent="0" marL="0">
              <a:lnSpc>
                <a:spcPct val="140000"/>
              </a:lnSpc>
              <a:buNone/>
            </a:pPr>
            <a:r>
              <a:rPr lang="en-US" sz="1229" dirty="0">
                <a:solidFill>
                  <a:srgbClr val="000000"/>
                </a:solidFill>
                <a:latin typeface="Roboto" pitchFamily="34" charset="0"/>
                <a:ea typeface="Roboto" pitchFamily="34" charset="-122"/>
                <a:cs typeface="Roboto" pitchFamily="34" charset="-120"/>
              </a:rPr>
              <a:t> paper does describe blocks — but of an </a:t>
            </a:r>
            <a:pPr algn="l" indent="0" marL="0">
              <a:lnSpc>
                <a:spcPct val="140000"/>
              </a:lnSpc>
              <a:buNone/>
            </a:pPr>
            <a:r>
              <a:rPr lang="en-US" sz="1229" b="1" dirty="0">
                <a:solidFill>
                  <a:srgbClr val="000000"/>
                </a:solidFill>
                <a:latin typeface="Roboto" pitchFamily="34" charset="0"/>
                <a:ea typeface="Roboto" pitchFamily="34" charset="-122"/>
                <a:cs typeface="Roboto" pitchFamily="34" charset="-120"/>
              </a:rPr>
              <a:t>older, different index</a:t>
            </a:r>
            <a:pPr algn="l" indent="0" marL="0">
              <a:lnSpc>
                <a:spcPct val="140000"/>
              </a:lnSpc>
              <a:buNone/>
            </a:pPr>
            <a:r>
              <a:rPr lang="en-US" sz="1229" dirty="0">
                <a:solidFill>
                  <a:srgbClr val="000000"/>
                </a:solidFill>
                <a:latin typeface="Roboto" pitchFamily="34" charset="0"/>
                <a:ea typeface="Roboto" pitchFamily="34" charset="-122"/>
                <a:cs typeface="Roboto" pitchFamily="34" charset="-120"/>
              </a:rPr>
              <a:t>: lists of subject + offset pairs, each block keyed by its lowest subject ID. On compressing them it says: </a:t>
            </a:r>
            <a:pPr algn="l" indent="0" marL="0">
              <a:lnSpc>
                <a:spcPct val="140000"/>
              </a:lnSpc>
              <a:buNone/>
            </a:pPr>
            <a:r>
              <a:rPr lang="en-US" sz="1229" i="1" dirty="0">
                <a:solidFill>
                  <a:srgbClr val="000000"/>
                </a:solidFill>
                <a:latin typeface="Roboto" pitchFamily="34" charset="0"/>
                <a:ea typeface="Roboto" pitchFamily="34" charset="-122"/>
                <a:cs typeface="Roboto" pitchFamily="34" charset="-120"/>
              </a:rPr>
              <a:t>“We choose to not do this.”</a:t>
            </a:r>
            <a:endParaRPr lang="en-US" sz="1229" dirty="0"/>
          </a:p>
        </p:txBody>
      </p:sp>
      <p:sp>
        <p:nvSpPr>
          <p:cNvPr id="8" name="Text 4"/>
          <p:cNvSpPr txBox="1"/>
          <p:nvPr/>
        </p:nvSpPr>
        <p:spPr>
          <a:xfrm>
            <a:off x="660400" y="5201326"/>
            <a:ext cx="10871200" cy="471877"/>
          </a:xfrm>
          <a:prstGeom prst="rect">
            <a:avLst/>
          </a:prstGeom>
          <a:noFill/>
          <a:ln/>
        </p:spPr>
        <p:txBody>
          <a:bodyPr wrap="square" lIns="0" tIns="0" rIns="0" bIns="0" rtlCol="0" anchor="t"/>
          <a:lstStyle/>
          <a:p>
            <a:pPr algn="l" indent="0" marL="0">
              <a:lnSpc>
                <a:spcPct val="140000"/>
              </a:lnSpc>
              <a:buNone/>
            </a:pPr>
            <a:r>
              <a:rPr lang="en-US" sz="1229" dirty="0">
                <a:solidFill>
                  <a:srgbClr val="000000"/>
                </a:solidFill>
                <a:latin typeface="Roboto" pitchFamily="34" charset="0"/>
                <a:ea typeface="Roboto" pitchFamily="34" charset="-122"/>
                <a:cs typeface="Roboto" pitchFamily="34" charset="-120"/>
              </a:rPr>
              <a:t>No architecture page at </a:t>
            </a:r>
            <a:pPr algn="l" indent="0" marL="0">
              <a:lnSpc>
                <a:spcPct val="140000"/>
              </a:lnSpc>
              <a:buNone/>
            </a:pPr>
            <a:r>
              <a:rPr lang="en-US" sz="1229" b="1" dirty="0">
                <a:solidFill>
                  <a:srgbClr val="000000"/>
                </a:solidFill>
                <a:latin typeface="Roboto" pitchFamily="34" charset="0"/>
                <a:ea typeface="Roboto" pitchFamily="34" charset="-122"/>
                <a:cs typeface="Roboto" pitchFamily="34" charset="-120"/>
              </a:rPr>
              <a:t>docs.qlever.dev</a:t>
            </a:r>
            <a:pPr algn="l" indent="0" marL="0">
              <a:lnSpc>
                <a:spcPct val="140000"/>
              </a:lnSpc>
              <a:buNone/>
            </a:pPr>
            <a:r>
              <a:rPr lang="en-US" sz="1229" dirty="0">
                <a:solidFill>
                  <a:srgbClr val="000000"/>
                </a:solidFill>
                <a:latin typeface="Roboto" pitchFamily="34" charset="0"/>
                <a:ea typeface="Roboto" pitchFamily="34" charset="-122"/>
                <a:cs typeface="Roboto" pitchFamily="34" charset="-120"/>
              </a:rPr>
              <a:t>. The wiki’s “Overview over the QLever codebase” is </a:t>
            </a:r>
            <a:pPr algn="l" indent="0" marL="0">
              <a:lnSpc>
                <a:spcPct val="140000"/>
              </a:lnSpc>
              <a:buNone/>
            </a:pPr>
            <a:r>
              <a:rPr lang="en-US" sz="1229" i="1" dirty="0">
                <a:solidFill>
                  <a:srgbClr val="000000"/>
                </a:solidFill>
                <a:latin typeface="Roboto" pitchFamily="34" charset="0"/>
                <a:ea typeface="Roboto" pitchFamily="34" charset="-122"/>
                <a:cs typeface="Roboto" pitchFamily="34" charset="-120"/>
              </a:rPr>
              <a:t>“currently still a stub”</a:t>
            </a:r>
            <a:pPr algn="l" indent="0" marL="0">
              <a:lnSpc>
                <a:spcPct val="140000"/>
              </a:lnSpc>
              <a:buNone/>
            </a:pPr>
            <a:r>
              <a:rPr lang="en-US" sz="1229" dirty="0">
                <a:solidFill>
                  <a:srgbClr val="000000"/>
                </a:solidFill>
                <a:latin typeface="Roboto" pitchFamily="34" charset="0"/>
                <a:ea typeface="Roboto" pitchFamily="34" charset="-122"/>
                <a:cs typeface="Roboto" pitchFamily="34" charset="-120"/>
              </a:rPr>
              <a:t> and covers Turtle parsing only.</a:t>
            </a:r>
            <a:endParaRPr lang="en-US" sz="1229"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155700"/>
          </a:xfrm>
          <a:prstGeom prst="rect">
            <a:avLst/>
          </a:prstGeom>
          <a:solidFill>
            <a:srgbClr val="0084D1"/>
          </a:solidFill>
          <a:ln/>
        </p:spPr>
      </p:sp>
      <p:sp>
        <p:nvSpPr>
          <p:cNvPr id="3" name="Text 1"/>
          <p:cNvSpPr txBox="1"/>
          <p:nvPr/>
        </p:nvSpPr>
        <p:spPr>
          <a:xfrm>
            <a:off x="0" y="228600"/>
            <a:ext cx="12192000" cy="934720"/>
          </a:xfrm>
          <a:prstGeom prst="rect">
            <a:avLst/>
          </a:prstGeom>
          <a:noFill/>
          <a:ln/>
        </p:spPr>
        <p:txBody>
          <a:bodyPr wrap="square" lIns="0" tIns="0" rIns="0" bIns="0" rtlCol="0" anchor="t"/>
          <a:lstStyle/>
          <a:p>
            <a:pPr algn="ctr" indent="0" marL="0">
              <a:lnSpc>
                <a:spcPct val="110000"/>
              </a:lnSpc>
              <a:buNone/>
            </a:pPr>
            <a:r>
              <a:rPr lang="en-US" sz="4600" b="1" dirty="0">
                <a:solidFill>
                  <a:srgbClr val="FFFFFF"/>
                </a:solidFill>
                <a:latin typeface="Roboto Slab" pitchFamily="34" charset="0"/>
                <a:ea typeface="Roboto Slab" pitchFamily="34" charset="-122"/>
                <a:cs typeface="Roboto Slab" pitchFamily="34" charset="-120"/>
              </a:rPr>
              <a:t>References</a:t>
            </a:r>
            <a:endParaRPr lang="en-US" sz="4600" dirty="0"/>
          </a:p>
        </p:txBody>
      </p:sp>
      <p:sp>
        <p:nvSpPr>
          <p:cNvPr id="4" name="Text 2"/>
          <p:cNvSpPr txBox="1"/>
          <p:nvPr/>
        </p:nvSpPr>
        <p:spPr>
          <a:xfrm>
            <a:off x="10795000" y="6347460"/>
            <a:ext cx="889000" cy="264160"/>
          </a:xfrm>
          <a:prstGeom prst="rect">
            <a:avLst/>
          </a:prstGeom>
          <a:noFill/>
          <a:ln/>
        </p:spPr>
        <p:txBody>
          <a:bodyPr wrap="square" lIns="0" tIns="0" rIns="0" bIns="0" rtlCol="0" anchor="t"/>
          <a:lstStyle/>
          <a:p>
            <a:pPr algn="r" indent="0" marL="0">
              <a:lnSpc>
                <a:spcPct val="120000"/>
              </a:lnSpc>
              <a:buNone/>
            </a:pPr>
            <a:r>
              <a:rPr lang="en-US" sz="1300" dirty="0">
                <a:solidFill>
                  <a:srgbClr val="595959"/>
                </a:solidFill>
                <a:latin typeface="Roboto" pitchFamily="34" charset="0"/>
                <a:ea typeface="Roboto" pitchFamily="34" charset="-122"/>
                <a:cs typeface="Roboto" pitchFamily="34" charset="-120"/>
              </a:rPr>
              <a:t>19</a:t>
            </a:r>
            <a:endParaRPr lang="en-US" sz="1300" dirty="0"/>
          </a:p>
        </p:txBody>
      </p:sp>
      <p:sp>
        <p:nvSpPr>
          <p:cNvPr id="6" name="Text 3"/>
          <p:cNvSpPr txBox="1"/>
          <p:nvPr/>
        </p:nvSpPr>
        <p:spPr>
          <a:xfrm>
            <a:off x="660400" y="1358900"/>
            <a:ext cx="10871200" cy="268491"/>
          </a:xfrm>
          <a:prstGeom prst="rect">
            <a:avLst/>
          </a:prstGeom>
          <a:noFill/>
          <a:ln/>
        </p:spPr>
        <p:txBody>
          <a:bodyPr wrap="square" lIns="0" tIns="0" rIns="0" bIns="0" rtlCol="0" anchor="t"/>
          <a:lstStyle/>
          <a:p>
            <a:pPr algn="l" indent="0" marL="0">
              <a:lnSpc>
                <a:spcPct val="135000"/>
              </a:lnSpc>
              <a:buNone/>
            </a:pPr>
            <a:r>
              <a:rPr lang="en-US" sz="1450" b="1" dirty="0">
                <a:solidFill>
                  <a:srgbClr val="000000"/>
                </a:solidFill>
                <a:latin typeface="Roboto" pitchFamily="34" charset="0"/>
                <a:ea typeface="Roboto" pitchFamily="34" charset="-122"/>
                <a:cs typeface="Roboto" pitchFamily="34" charset="-120"/>
              </a:rPr>
              <a:t>QLever, as the project itself asks to be cited:</a:t>
            </a:r>
            <a:endParaRPr lang="en-US" sz="1450" dirty="0"/>
          </a:p>
        </p:txBody>
      </p:sp>
      <p:sp>
        <p:nvSpPr>
          <p:cNvPr id="7" name="Text 4"/>
          <p:cNvSpPr txBox="1"/>
          <p:nvPr/>
        </p:nvSpPr>
        <p:spPr>
          <a:xfrm>
            <a:off x="660400" y="1754391"/>
            <a:ext cx="10871200" cy="2208756"/>
          </a:xfrm>
          <a:prstGeom prst="rect">
            <a:avLst/>
          </a:prstGeom>
          <a:noFill/>
          <a:ln/>
        </p:spPr>
        <p:txBody>
          <a:bodyPr wrap="square" lIns="0" tIns="0" rIns="0" bIns="0" rtlCol="0" anchor="t"/>
          <a:lstStyle/>
          <a:p>
            <a:pPr indent="0" marL="0">
              <a:lnSpc>
                <a:spcPct val="138000"/>
              </a:lnSpc>
              <a:buNone/>
            </a:pPr>
            <a:r>
              <a:rPr lang="en-US" sz="1350" dirty="0">
                <a:solidFill>
                  <a:srgbClr val="000000"/>
                </a:solidFill>
                <a:latin typeface="Roboto" pitchFamily="34" charset="0"/>
                <a:ea typeface="Roboto" pitchFamily="34" charset="-122"/>
                <a:cs typeface="Roboto" pitchFamily="34" charset="-120"/>
              </a:rPr>
              <a:t>• </a:t>
            </a:r>
            <a:pPr indent="0" marL="0">
              <a:lnSpc>
                <a:spcPct val="138000"/>
              </a:lnSpc>
              <a:buNone/>
            </a:pPr>
            <a:r>
              <a:rPr lang="en-US" sz="1350" dirty="0">
                <a:solidFill>
                  <a:srgbClr val="000000"/>
                </a:solidFill>
                <a:latin typeface="Roboto" pitchFamily="34" charset="0"/>
                <a:ea typeface="Roboto" pitchFamily="34" charset="-122"/>
                <a:cs typeface="Roboto" pitchFamily="34" charset="-120"/>
              </a:rPr>
              <a:t>Bast, Buchhold. </a:t>
            </a:r>
            <a:pPr indent="0" marL="0">
              <a:lnSpc>
                <a:spcPct val="138000"/>
              </a:lnSpc>
              <a:buNone/>
            </a:pPr>
            <a:r>
              <a:rPr lang="en-US" sz="1350" b="1" dirty="0">
                <a:solidFill>
                  <a:srgbClr val="000000"/>
                </a:solidFill>
                <a:latin typeface="Roboto" pitchFamily="34" charset="0"/>
                <a:ea typeface="Roboto" pitchFamily="34" charset="-122"/>
                <a:cs typeface="Roboto" pitchFamily="34" charset="-120"/>
              </a:rPr>
              <a:t>QLever: A Query Engine for Efficient SPARQL+Text Search.</a:t>
            </a:r>
            <a:pPr indent="0" marL="0">
              <a:lnSpc>
                <a:spcPct val="138000"/>
              </a:lnSpc>
              <a:spcAft>
                <a:spcPts val="472"/>
              </a:spcAft>
              <a:buNone/>
            </a:pPr>
            <a:r>
              <a:rPr lang="en-US" sz="1350" dirty="0">
                <a:solidFill>
                  <a:srgbClr val="000000"/>
                </a:solidFill>
                <a:latin typeface="Roboto" pitchFamily="34" charset="0"/>
                <a:ea typeface="Roboto" pitchFamily="34" charset="-122"/>
                <a:cs typeface="Roboto" pitchFamily="34" charset="-120"/>
              </a:rPr>
              <a:t> CIKM 2017, 647–656.</a:t>
            </a:r>
            <a:endParaRPr lang="en-US" sz="1350" dirty="0"/>
          </a:p>
          <a:p>
            <a:pPr indent="0" marL="0">
              <a:lnSpc>
                <a:spcPct val="138000"/>
              </a:lnSpc>
              <a:buNone/>
            </a:pPr>
            <a:r>
              <a:rPr lang="en-US" sz="1350" dirty="0">
                <a:solidFill>
                  <a:srgbClr val="000000"/>
                </a:solidFill>
                <a:latin typeface="Roboto" pitchFamily="34" charset="0"/>
                <a:ea typeface="Roboto" pitchFamily="34" charset="-122"/>
                <a:cs typeface="Roboto" pitchFamily="34" charset="-120"/>
              </a:rPr>
              <a:t>• </a:t>
            </a:r>
            <a:pPr indent="0" marL="0">
              <a:lnSpc>
                <a:spcPct val="138000"/>
              </a:lnSpc>
              <a:buNone/>
            </a:pPr>
            <a:r>
              <a:rPr lang="en-US" sz="1350" dirty="0">
                <a:solidFill>
                  <a:srgbClr val="000000"/>
                </a:solidFill>
                <a:latin typeface="Roboto" pitchFamily="34" charset="0"/>
                <a:ea typeface="Roboto" pitchFamily="34" charset="-122"/>
                <a:cs typeface="Roboto" pitchFamily="34" charset="-120"/>
              </a:rPr>
              <a:t>Bast, Kalmbach, Klumpp, Kramer, Schnelle. </a:t>
            </a:r>
            <a:pPr indent="0" marL="0">
              <a:lnSpc>
                <a:spcPct val="138000"/>
              </a:lnSpc>
              <a:buNone/>
            </a:pPr>
            <a:r>
              <a:rPr lang="en-US" sz="1350" b="1" dirty="0">
                <a:solidFill>
                  <a:srgbClr val="000000"/>
                </a:solidFill>
                <a:latin typeface="Roboto" pitchFamily="34" charset="0"/>
                <a:ea typeface="Roboto" pitchFamily="34" charset="-122"/>
                <a:cs typeface="Roboto" pitchFamily="34" charset="-120"/>
              </a:rPr>
              <a:t>Efficient SPARQL Autocompletion via SPARQL.</a:t>
            </a:r>
            <a:pPr indent="0" marL="0">
              <a:lnSpc>
                <a:spcPct val="138000"/>
              </a:lnSpc>
              <a:spcAft>
                <a:spcPts val="472"/>
              </a:spcAft>
              <a:buNone/>
            </a:pPr>
            <a:r>
              <a:rPr lang="en-US" sz="1350" dirty="0">
                <a:solidFill>
                  <a:srgbClr val="000000"/>
                </a:solidFill>
                <a:latin typeface="Roboto" pitchFamily="34" charset="0"/>
                <a:ea typeface="Roboto" pitchFamily="34" charset="-122"/>
                <a:cs typeface="Roboto" pitchFamily="34" charset="-120"/>
              </a:rPr>
              <a:t> CIKM 2022.</a:t>
            </a:r>
            <a:endParaRPr lang="en-US" sz="1350" dirty="0"/>
          </a:p>
          <a:p>
            <a:pPr indent="0" marL="0">
              <a:lnSpc>
                <a:spcPct val="138000"/>
              </a:lnSpc>
              <a:buNone/>
            </a:pPr>
            <a:r>
              <a:rPr lang="en-US" sz="1350" dirty="0">
                <a:solidFill>
                  <a:srgbClr val="000000"/>
                </a:solidFill>
                <a:latin typeface="Roboto" pitchFamily="34" charset="0"/>
                <a:ea typeface="Roboto" pitchFamily="34" charset="-122"/>
                <a:cs typeface="Roboto" pitchFamily="34" charset="-120"/>
              </a:rPr>
              <a:t>• </a:t>
            </a:r>
            <a:pPr indent="0" marL="0">
              <a:lnSpc>
                <a:spcPct val="138000"/>
              </a:lnSpc>
              <a:buNone/>
            </a:pPr>
            <a:r>
              <a:rPr lang="en-US" sz="1350" dirty="0">
                <a:solidFill>
                  <a:srgbClr val="000000"/>
                </a:solidFill>
                <a:latin typeface="Roboto" pitchFamily="34" charset="0"/>
                <a:ea typeface="Roboto" pitchFamily="34" charset="-122"/>
                <a:cs typeface="Roboto" pitchFamily="34" charset="-120"/>
              </a:rPr>
              <a:t>Bast, Brosi, Kalmbach, Klumpp. </a:t>
            </a:r>
            <a:pPr indent="0" marL="0">
              <a:lnSpc>
                <a:spcPct val="138000"/>
              </a:lnSpc>
              <a:buNone/>
            </a:pPr>
            <a:r>
              <a:rPr lang="en-US" sz="1350" b="1" dirty="0">
                <a:solidFill>
                  <a:srgbClr val="000000"/>
                </a:solidFill>
                <a:latin typeface="Roboto" pitchFamily="34" charset="0"/>
                <a:ea typeface="Roboto" pitchFamily="34" charset="-122"/>
                <a:cs typeface="Roboto" pitchFamily="34" charset="-120"/>
              </a:rPr>
              <a:t>Knowledge Graphs</a:t>
            </a:r>
            <a:pPr indent="0" marL="0">
              <a:lnSpc>
                <a:spcPct val="138000"/>
              </a:lnSpc>
              <a:spcAft>
                <a:spcPts val="472"/>
              </a:spcAft>
              <a:buNone/>
            </a:pPr>
            <a:r>
              <a:rPr lang="en-US" sz="1350" dirty="0">
                <a:solidFill>
                  <a:srgbClr val="000000"/>
                </a:solidFill>
                <a:latin typeface="Roboto" pitchFamily="34" charset="0"/>
                <a:ea typeface="Roboto" pitchFamily="34" charset="-122"/>
                <a:cs typeface="Roboto" pitchFamily="34" charset="-120"/>
              </a:rPr>
              <a:t> (book chapter), 2023 — §1.5.2 covers triple permutations.</a:t>
            </a:r>
            <a:endParaRPr lang="en-US" sz="1350" dirty="0"/>
          </a:p>
          <a:p>
            <a:pPr indent="0" marL="0">
              <a:lnSpc>
                <a:spcPct val="138000"/>
              </a:lnSpc>
              <a:buNone/>
            </a:pPr>
            <a:r>
              <a:rPr lang="en-US" sz="1350" dirty="0">
                <a:solidFill>
                  <a:srgbClr val="000000"/>
                </a:solidFill>
                <a:latin typeface="Roboto" pitchFamily="34" charset="0"/>
                <a:ea typeface="Roboto" pitchFamily="34" charset="-122"/>
                <a:cs typeface="Roboto" pitchFamily="34" charset="-120"/>
              </a:rPr>
              <a:t>• </a:t>
            </a:r>
            <a:pPr indent="0" marL="0">
              <a:lnSpc>
                <a:spcPct val="138000"/>
              </a:lnSpc>
              <a:buNone/>
            </a:pPr>
            <a:r>
              <a:rPr lang="en-US" sz="1350" dirty="0">
                <a:solidFill>
                  <a:srgbClr val="000000"/>
                </a:solidFill>
                <a:latin typeface="Roboto" pitchFamily="34" charset="0"/>
                <a:ea typeface="Roboto" pitchFamily="34" charset="-122"/>
                <a:cs typeface="Roboto" pitchFamily="34" charset="-120"/>
              </a:rPr>
              <a:t>Bast et al. </a:t>
            </a:r>
            <a:pPr indent="0" marL="0">
              <a:lnSpc>
                <a:spcPct val="138000"/>
              </a:lnSpc>
              <a:buNone/>
            </a:pPr>
            <a:r>
              <a:rPr lang="en-US" sz="1350" b="1" dirty="0">
                <a:solidFill>
                  <a:srgbClr val="000000"/>
                </a:solidFill>
                <a:latin typeface="Roboto" pitchFamily="34" charset="0"/>
                <a:ea typeface="Roboto" pitchFamily="34" charset="-122"/>
                <a:cs typeface="Roboto" pitchFamily="34" charset="-120"/>
              </a:rPr>
              <a:t>The dblp Knowledge Graph and SPARQL Endpoint.</a:t>
            </a:r>
            <a:pPr indent="0" marL="0">
              <a:lnSpc>
                <a:spcPct val="138000"/>
              </a:lnSpc>
              <a:spcAft>
                <a:spcPts val="472"/>
              </a:spcAft>
              <a:buNone/>
            </a:pPr>
            <a:r>
              <a:rPr lang="en-US" sz="1350" dirty="0">
                <a:solidFill>
                  <a:srgbClr val="000000"/>
                </a:solidFill>
                <a:latin typeface="Roboto" pitchFamily="34" charset="0"/>
                <a:ea typeface="Roboto" pitchFamily="34" charset="-122"/>
                <a:cs typeface="Roboto" pitchFamily="34" charset="-120"/>
              </a:rPr>
              <a:t> TGDK 2024.</a:t>
            </a:r>
            <a:endParaRPr lang="en-US" sz="1350" dirty="0"/>
          </a:p>
          <a:p>
            <a:pPr indent="0" marL="0">
              <a:lnSpc>
                <a:spcPct val="138000"/>
              </a:lnSpc>
              <a:buNone/>
            </a:pPr>
            <a:r>
              <a:rPr lang="en-US" sz="1350" dirty="0">
                <a:solidFill>
                  <a:srgbClr val="000000"/>
                </a:solidFill>
                <a:latin typeface="Roboto" pitchFamily="34" charset="0"/>
                <a:ea typeface="Roboto" pitchFamily="34" charset="-122"/>
                <a:cs typeface="Roboto" pitchFamily="34" charset="-120"/>
              </a:rPr>
              <a:t>• </a:t>
            </a:r>
            <a:pPr indent="0" marL="0">
              <a:lnSpc>
                <a:spcPct val="138000"/>
              </a:lnSpc>
              <a:buNone/>
            </a:pPr>
            <a:r>
              <a:rPr lang="en-US" sz="1350" dirty="0">
                <a:solidFill>
                  <a:srgbClr val="000000"/>
                </a:solidFill>
                <a:latin typeface="Roboto" pitchFamily="34" charset="0"/>
                <a:ea typeface="Roboto" pitchFamily="34" charset="-122"/>
                <a:cs typeface="Roboto" pitchFamily="34" charset="-120"/>
              </a:rPr>
              <a:t>Bast, Brosi, Kalmbach. </a:t>
            </a:r>
            <a:pPr indent="0" marL="0">
              <a:lnSpc>
                <a:spcPct val="138000"/>
              </a:lnSpc>
              <a:buNone/>
            </a:pPr>
            <a:r>
              <a:rPr lang="en-US" sz="1350" b="1" dirty="0">
                <a:solidFill>
                  <a:srgbClr val="000000"/>
                </a:solidFill>
                <a:latin typeface="Roboto" pitchFamily="34" charset="0"/>
                <a:ea typeface="Roboto" pitchFamily="34" charset="-122"/>
                <a:cs typeface="Roboto" pitchFamily="34" charset="-120"/>
              </a:rPr>
              <a:t>Efficient Spatial Joins on Large Geometry Sets.</a:t>
            </a:r>
            <a:pPr indent="0" marL="0">
              <a:lnSpc>
                <a:spcPct val="138000"/>
              </a:lnSpc>
              <a:spcAft>
                <a:spcPts val="472"/>
              </a:spcAft>
              <a:buNone/>
            </a:pPr>
            <a:r>
              <a:rPr lang="en-US" sz="1350" dirty="0">
                <a:solidFill>
                  <a:srgbClr val="000000"/>
                </a:solidFill>
                <a:latin typeface="Roboto" pitchFamily="34" charset="0"/>
                <a:ea typeface="Roboto" pitchFamily="34" charset="-122"/>
                <a:cs typeface="Roboto" pitchFamily="34" charset="-120"/>
              </a:rPr>
              <a:t> SIGSPATIAL 2025, 466–476.</a:t>
            </a:r>
            <a:endParaRPr lang="en-US" sz="1350" dirty="0"/>
          </a:p>
          <a:p>
            <a:pPr indent="0" marL="0">
              <a:lnSpc>
                <a:spcPct val="138000"/>
              </a:lnSpc>
              <a:buNone/>
            </a:pPr>
            <a:r>
              <a:rPr lang="en-US" sz="1350" dirty="0">
                <a:solidFill>
                  <a:srgbClr val="000000"/>
                </a:solidFill>
                <a:latin typeface="Roboto" pitchFamily="34" charset="0"/>
                <a:ea typeface="Roboto" pitchFamily="34" charset="-122"/>
                <a:cs typeface="Roboto" pitchFamily="34" charset="-120"/>
              </a:rPr>
              <a:t>• </a:t>
            </a:r>
            <a:pPr indent="0" marL="0">
              <a:lnSpc>
                <a:spcPct val="138000"/>
              </a:lnSpc>
              <a:buNone/>
            </a:pPr>
            <a:r>
              <a:rPr lang="en-US" sz="1350" dirty="0">
                <a:solidFill>
                  <a:srgbClr val="000000"/>
                </a:solidFill>
                <a:latin typeface="Roboto" pitchFamily="34" charset="0"/>
                <a:ea typeface="Roboto" pitchFamily="34" charset="-122"/>
                <a:cs typeface="Roboto" pitchFamily="34" charset="-120"/>
              </a:rPr>
              <a:t>Walter, Bast. </a:t>
            </a:r>
            <a:pPr indent="0" marL="0">
              <a:lnSpc>
                <a:spcPct val="138000"/>
              </a:lnSpc>
              <a:buNone/>
            </a:pPr>
            <a:r>
              <a:rPr lang="en-US" sz="1350" b="1" dirty="0">
                <a:solidFill>
                  <a:srgbClr val="000000"/>
                </a:solidFill>
                <a:latin typeface="Roboto" pitchFamily="34" charset="0"/>
                <a:ea typeface="Roboto" pitchFamily="34" charset="-122"/>
                <a:cs typeface="Roboto" pitchFamily="34" charset="-120"/>
              </a:rPr>
              <a:t>GRASP: zero-shot question answering on RDF graphs.</a:t>
            </a:r>
            <a:pPr indent="0" marL="0">
              <a:lnSpc>
                <a:spcPct val="138000"/>
              </a:lnSpc>
              <a:spcAft>
                <a:spcPts val="472"/>
              </a:spcAft>
              <a:buNone/>
            </a:pPr>
            <a:r>
              <a:rPr lang="en-US" sz="1350" dirty="0">
                <a:solidFill>
                  <a:srgbClr val="000000"/>
                </a:solidFill>
                <a:latin typeface="Roboto" pitchFamily="34" charset="0"/>
                <a:ea typeface="Roboto" pitchFamily="34" charset="-122"/>
                <a:cs typeface="Roboto" pitchFamily="34" charset="-120"/>
              </a:rPr>
              <a:t> ISWC 2025.</a:t>
            </a:r>
            <a:endParaRPr lang="en-US" sz="1350" dirty="0"/>
          </a:p>
          <a:p>
            <a:pPr indent="0" marL="0">
              <a:lnSpc>
                <a:spcPct val="138000"/>
              </a:lnSpc>
              <a:buNone/>
            </a:pPr>
            <a:r>
              <a:rPr lang="en-US" sz="1350" dirty="0">
                <a:solidFill>
                  <a:srgbClr val="000000"/>
                </a:solidFill>
                <a:latin typeface="Roboto" pitchFamily="34" charset="0"/>
                <a:ea typeface="Roboto" pitchFamily="34" charset="-122"/>
                <a:cs typeface="Roboto" pitchFamily="34" charset="-120"/>
              </a:rPr>
              <a:t>• </a:t>
            </a:r>
            <a:pPr indent="0" marL="0">
              <a:lnSpc>
                <a:spcPct val="138000"/>
              </a:lnSpc>
              <a:buNone/>
            </a:pPr>
            <a:r>
              <a:rPr lang="en-US" sz="1350" dirty="0">
                <a:solidFill>
                  <a:srgbClr val="000000"/>
                </a:solidFill>
                <a:latin typeface="Roboto" pitchFamily="34" charset="0"/>
                <a:ea typeface="Roboto" pitchFamily="34" charset="-122"/>
                <a:cs typeface="Roboto" pitchFamily="34" charset="-120"/>
              </a:rPr>
              <a:t>Bast, Kalmbach, Tsiapalis, Ullinger. </a:t>
            </a:r>
            <a:pPr indent="0" marL="0">
              <a:lnSpc>
                <a:spcPct val="138000"/>
              </a:lnSpc>
              <a:buNone/>
            </a:pPr>
            <a:r>
              <a:rPr lang="en-US" sz="1350" b="1" dirty="0">
                <a:solidFill>
                  <a:srgbClr val="000000"/>
                </a:solidFill>
                <a:latin typeface="Roboto" pitchFamily="34" charset="0"/>
                <a:ea typeface="Roboto" pitchFamily="34" charset="-122"/>
                <a:cs typeface="Roboto" pitchFamily="34" charset="-120"/>
              </a:rPr>
              <a:t>Sparqloscope: a comprehensive SPARQL benchmark.</a:t>
            </a:r>
            <a:pPr indent="0" marL="0">
              <a:lnSpc>
                <a:spcPct val="138000"/>
              </a:lnSpc>
              <a:buNone/>
            </a:pPr>
            <a:r>
              <a:rPr lang="en-US" sz="1350" dirty="0">
                <a:solidFill>
                  <a:srgbClr val="000000"/>
                </a:solidFill>
                <a:latin typeface="Roboto" pitchFamily="34" charset="0"/>
                <a:ea typeface="Roboto" pitchFamily="34" charset="-122"/>
                <a:cs typeface="Roboto" pitchFamily="34" charset="-120"/>
              </a:rPr>
              <a:t> ISWC 2025.</a:t>
            </a:r>
            <a:endParaRPr lang="en-US" sz="1350" dirty="0"/>
          </a:p>
        </p:txBody>
      </p:sp>
      <p:sp>
        <p:nvSpPr>
          <p:cNvPr id="8" name="Text 5"/>
          <p:cNvSpPr txBox="1"/>
          <p:nvPr/>
        </p:nvSpPr>
        <p:spPr>
          <a:xfrm>
            <a:off x="660400" y="4090147"/>
            <a:ext cx="10871200" cy="268491"/>
          </a:xfrm>
          <a:prstGeom prst="rect">
            <a:avLst/>
          </a:prstGeom>
          <a:noFill/>
          <a:ln/>
        </p:spPr>
        <p:txBody>
          <a:bodyPr wrap="square" lIns="0" tIns="0" rIns="0" bIns="0" rtlCol="0" anchor="t"/>
          <a:lstStyle/>
          <a:p>
            <a:pPr algn="l" indent="0" marL="0">
              <a:lnSpc>
                <a:spcPct val="135000"/>
              </a:lnSpc>
              <a:buNone/>
            </a:pPr>
            <a:r>
              <a:rPr lang="en-US" sz="1450" b="1" dirty="0">
                <a:solidFill>
                  <a:srgbClr val="000000"/>
                </a:solidFill>
                <a:latin typeface="Roboto" pitchFamily="34" charset="0"/>
                <a:ea typeface="Roboto" pitchFamily="34" charset="-122"/>
                <a:cs typeface="Roboto" pitchFamily="34" charset="-120"/>
              </a:rPr>
              <a:t>Independent evaluations, and the migration:</a:t>
            </a:r>
            <a:endParaRPr lang="en-US" sz="1450" dirty="0"/>
          </a:p>
        </p:txBody>
      </p:sp>
      <p:sp>
        <p:nvSpPr>
          <p:cNvPr id="9" name="Text 6"/>
          <p:cNvSpPr txBox="1"/>
          <p:nvPr/>
        </p:nvSpPr>
        <p:spPr>
          <a:xfrm>
            <a:off x="660400" y="4485637"/>
            <a:ext cx="10871200" cy="1202139"/>
          </a:xfrm>
          <a:prstGeom prst="rect">
            <a:avLst/>
          </a:prstGeom>
          <a:noFill/>
          <a:ln/>
        </p:spPr>
        <p:txBody>
          <a:bodyPr wrap="square" lIns="0" tIns="0" rIns="0" bIns="0" rtlCol="0" anchor="t"/>
          <a:lstStyle/>
          <a:p>
            <a:pPr indent="0" marL="0">
              <a:lnSpc>
                <a:spcPct val="138000"/>
              </a:lnSpc>
              <a:buNone/>
            </a:pPr>
            <a:r>
              <a:rPr lang="en-US" sz="1350" dirty="0">
                <a:solidFill>
                  <a:srgbClr val="000000"/>
                </a:solidFill>
                <a:latin typeface="Roboto" pitchFamily="34" charset="0"/>
                <a:ea typeface="Roboto" pitchFamily="34" charset="-122"/>
                <a:cs typeface="Roboto" pitchFamily="34" charset="-120"/>
              </a:rPr>
              <a:t>• </a:t>
            </a:r>
            <a:pPr indent="0" marL="0">
              <a:lnSpc>
                <a:spcPct val="138000"/>
              </a:lnSpc>
              <a:buNone/>
            </a:pPr>
            <a:r>
              <a:rPr lang="en-US" sz="1350" dirty="0">
                <a:solidFill>
                  <a:srgbClr val="000000"/>
                </a:solidFill>
                <a:latin typeface="Roboto" pitchFamily="34" charset="0"/>
                <a:ea typeface="Roboto" pitchFamily="34" charset="-122"/>
                <a:cs typeface="Roboto" pitchFamily="34" charset="-120"/>
              </a:rPr>
              <a:t>Patel-Schneider. </a:t>
            </a:r>
            <a:pPr indent="0" marL="0">
              <a:lnSpc>
                <a:spcPct val="138000"/>
              </a:lnSpc>
              <a:buNone/>
            </a:pPr>
            <a:r>
              <a:rPr lang="en-US" sz="1350" b="1" dirty="0">
                <a:solidFill>
                  <a:srgbClr val="000000"/>
                </a:solidFill>
                <a:latin typeface="Roboto" pitchFamily="34" charset="0"/>
                <a:ea typeface="Roboto" pitchFamily="34" charset="-122"/>
                <a:cs typeface="Roboto" pitchFamily="34" charset="-120"/>
              </a:rPr>
              <a:t>Benchmarking SPARQL Engines on Wikidata Queries.</a:t>
            </a:r>
            <a:pPr indent="0" marL="0">
              <a:lnSpc>
                <a:spcPct val="138000"/>
              </a:lnSpc>
              <a:spcAft>
                <a:spcPts val="472"/>
              </a:spcAft>
              <a:buNone/>
            </a:pPr>
            <a:r>
              <a:rPr lang="en-US" sz="1350" dirty="0">
                <a:solidFill>
                  <a:srgbClr val="000000"/>
                </a:solidFill>
                <a:latin typeface="Roboto" pitchFamily="34" charset="0"/>
                <a:ea typeface="Roboto" pitchFamily="34" charset="-122"/>
                <a:cs typeface="Roboto" pitchFamily="34" charset="-120"/>
              </a:rPr>
              <a:t> Wikidata Workshop at ISWC 2025.</a:t>
            </a:r>
            <a:endParaRPr lang="en-US" sz="1350" dirty="0"/>
          </a:p>
          <a:p>
            <a:pPr indent="0" marL="0">
              <a:lnSpc>
                <a:spcPct val="138000"/>
              </a:lnSpc>
              <a:buNone/>
            </a:pPr>
            <a:r>
              <a:rPr lang="en-US" sz="1350" dirty="0">
                <a:solidFill>
                  <a:srgbClr val="000000"/>
                </a:solidFill>
                <a:latin typeface="Roboto" pitchFamily="34" charset="0"/>
                <a:ea typeface="Roboto" pitchFamily="34" charset="-122"/>
                <a:cs typeface="Roboto" pitchFamily="34" charset="-120"/>
              </a:rPr>
              <a:t>• </a:t>
            </a:r>
            <a:pPr indent="0" marL="0">
              <a:lnSpc>
                <a:spcPct val="138000"/>
              </a:lnSpc>
              <a:buNone/>
            </a:pPr>
            <a:r>
              <a:rPr lang="en-US" sz="1350" dirty="0">
                <a:solidFill>
                  <a:srgbClr val="000000"/>
                </a:solidFill>
                <a:latin typeface="Roboto" pitchFamily="34" charset="0"/>
                <a:ea typeface="Roboto" pitchFamily="34" charset="-122"/>
                <a:cs typeface="Roboto" pitchFamily="34" charset="-120"/>
              </a:rPr>
              <a:t>Lam, Elvesæter, Martin-Recuerda. </a:t>
            </a:r>
            <a:pPr indent="0" marL="0">
              <a:lnSpc>
                <a:spcPct val="138000"/>
              </a:lnSpc>
              <a:buNone/>
            </a:pPr>
            <a:r>
              <a:rPr lang="en-US" sz="1350" b="1" dirty="0">
                <a:solidFill>
                  <a:srgbClr val="000000"/>
                </a:solidFill>
                <a:latin typeface="Roboto" pitchFamily="34" charset="0"/>
                <a:ea typeface="Roboto" pitchFamily="34" charset="-122"/>
                <a:cs typeface="Roboto" pitchFamily="34" charset="-120"/>
              </a:rPr>
              <a:t>Evaluation of a Representative Selection of SPARQL Query Engines Using Wikidata.</a:t>
            </a:r>
            <a:pPr indent="0" marL="0">
              <a:lnSpc>
                <a:spcPct val="138000"/>
              </a:lnSpc>
              <a:spcAft>
                <a:spcPts val="472"/>
              </a:spcAft>
              <a:buNone/>
            </a:pPr>
            <a:r>
              <a:rPr lang="en-US" sz="1350" dirty="0">
                <a:solidFill>
                  <a:srgbClr val="000000"/>
                </a:solidFill>
                <a:latin typeface="Roboto" pitchFamily="34" charset="0"/>
                <a:ea typeface="Roboto" pitchFamily="34" charset="-122"/>
                <a:cs typeface="Roboto" pitchFamily="34" charset="-120"/>
              </a:rPr>
              <a:t> ESWC 2023, 679–696.</a:t>
            </a:r>
            <a:endParaRPr lang="en-US" sz="1350" dirty="0"/>
          </a:p>
          <a:p>
            <a:pPr indent="0" marL="0">
              <a:lnSpc>
                <a:spcPct val="138000"/>
              </a:lnSpc>
              <a:buNone/>
            </a:pPr>
            <a:r>
              <a:rPr lang="en-US" sz="1350" dirty="0">
                <a:solidFill>
                  <a:srgbClr val="000000"/>
                </a:solidFill>
                <a:latin typeface="Roboto" pitchFamily="34" charset="0"/>
                <a:ea typeface="Roboto" pitchFamily="34" charset="-122"/>
                <a:cs typeface="Roboto" pitchFamily="34" charset="-120"/>
              </a:rPr>
              <a:t>• </a:t>
            </a:r>
            <a:pPr indent="0" marL="0">
              <a:lnSpc>
                <a:spcPct val="138000"/>
              </a:lnSpc>
              <a:buNone/>
            </a:pPr>
            <a:r>
              <a:rPr lang="en-US" sz="1350" dirty="0">
                <a:solidFill>
                  <a:srgbClr val="000000"/>
                </a:solidFill>
                <a:latin typeface="Roboto" pitchFamily="34" charset="0"/>
                <a:ea typeface="Roboto" pitchFamily="34" charset="-122"/>
                <a:cs typeface="Roboto" pitchFamily="34" charset="-120"/>
              </a:rPr>
              <a:t>Wikidata Platform Team. </a:t>
            </a:r>
            <a:pPr indent="0" marL="0">
              <a:lnSpc>
                <a:spcPct val="138000"/>
              </a:lnSpc>
              <a:buNone/>
            </a:pPr>
            <a:r>
              <a:rPr lang="en-US" sz="1350" b="1" dirty="0">
                <a:solidFill>
                  <a:srgbClr val="000000"/>
                </a:solidFill>
                <a:latin typeface="Roboto" pitchFamily="34" charset="0"/>
                <a:ea typeface="Roboto" pitchFamily="34" charset="-122"/>
                <a:cs typeface="Roboto" pitchFamily="34" charset="-120"/>
              </a:rPr>
              <a:t>WDQS backend update — Backend Replacement.</a:t>
            </a:r>
            <a:pPr indent="0" marL="0">
              <a:lnSpc>
                <a:spcPct val="138000"/>
              </a:lnSpc>
              <a:buNone/>
            </a:pPr>
            <a:r>
              <a:rPr lang="en-US" sz="1350" dirty="0">
                <a:solidFill>
                  <a:srgbClr val="000000"/>
                </a:solidFill>
                <a:latin typeface="Roboto" pitchFamily="34" charset="0"/>
                <a:ea typeface="Roboto" pitchFamily="34" charset="-122"/>
                <a:cs typeface="Roboto" pitchFamily="34" charset="-120"/>
              </a:rPr>
              <a:t> wikidata.org.</a:t>
            </a:r>
            <a:endParaRPr lang="en-US" sz="1350" dirty="0"/>
          </a:p>
        </p:txBody>
      </p:sp>
      <p:sp>
        <p:nvSpPr>
          <p:cNvPr id="10" name="Text 7"/>
          <p:cNvSpPr txBox="1"/>
          <p:nvPr/>
        </p:nvSpPr>
        <p:spPr>
          <a:xfrm>
            <a:off x="660400" y="5814776"/>
            <a:ext cx="10871200" cy="529986"/>
          </a:xfrm>
          <a:prstGeom prst="rect">
            <a:avLst/>
          </a:prstGeom>
          <a:noFill/>
          <a:ln/>
        </p:spPr>
        <p:txBody>
          <a:bodyPr wrap="square" lIns="0" tIns="0" rIns="0" bIns="0" rtlCol="0" anchor="t"/>
          <a:lstStyle/>
          <a:p>
            <a:pPr algn="l" indent="0" marL="0">
              <a:lnSpc>
                <a:spcPct val="138000"/>
              </a:lnSpc>
              <a:buNone/>
            </a:pPr>
            <a:r>
              <a:rPr lang="en-US" sz="1400" b="1" dirty="0">
                <a:solidFill>
                  <a:srgbClr val="000000"/>
                </a:solidFill>
                <a:latin typeface="Roboto" pitchFamily="34" charset="0"/>
                <a:ea typeface="Roboto" pitchFamily="34" charset="-122"/>
                <a:cs typeface="Roboto" pitchFamily="34" charset="-120"/>
              </a:rPr>
              <a:t>Talks:</a:t>
            </a:r>
            <a:pPr algn="l" indent="0" marL="0">
              <a:lnSpc>
                <a:spcPct val="138000"/>
              </a:lnSpc>
              <a:buNone/>
            </a:pPr>
            <a:r>
              <a:rPr lang="en-US" sz="1400" dirty="0">
                <a:solidFill>
                  <a:srgbClr val="000000"/>
                </a:solidFill>
                <a:latin typeface="Roboto" pitchFamily="34" charset="0"/>
                <a:ea typeface="Roboto" pitchFamily="34" charset="-122"/>
                <a:cs typeface="Roboto" pitchFamily="34" charset="-120"/>
              </a:rPr>
              <a:t> Bast, </a:t>
            </a:r>
            <a:pPr algn="l" indent="0" marL="0">
              <a:lnSpc>
                <a:spcPct val="138000"/>
              </a:lnSpc>
              <a:buNone/>
            </a:pPr>
            <a:r>
              <a:rPr lang="en-US" sz="1400" i="1" dirty="0">
                <a:solidFill>
                  <a:srgbClr val="000000"/>
                </a:solidFill>
                <a:latin typeface="Roboto" pitchFamily="34" charset="0"/>
                <a:ea typeface="Roboto" pitchFamily="34" charset="-122"/>
                <a:cs typeface="Roboto" pitchFamily="34" charset="-120"/>
              </a:rPr>
              <a:t>The QLever SPARQL Engine</a:t>
            </a:r>
            <a:pPr algn="l" indent="0" marL="0">
              <a:lnSpc>
                <a:spcPct val="138000"/>
              </a:lnSpc>
              <a:buNone/>
            </a:pPr>
            <a:r>
              <a:rPr lang="en-US" sz="1400" dirty="0">
                <a:solidFill>
                  <a:srgbClr val="000000"/>
                </a:solidFill>
                <a:latin typeface="Roboto" pitchFamily="34" charset="0"/>
                <a:ea typeface="Roboto" pitchFamily="34" charset="-122"/>
                <a:cs typeface="Roboto" pitchFamily="34" charset="-120"/>
              </a:rPr>
              <a:t> — DSG Seminar, Waterloo 2022 (recorded) · Wikidata Data Modeling Days 2023 · DBpedia Day keynote, SEMANTiCS 2025. </a:t>
            </a:r>
            <a:pPr algn="l" indent="0" marL="0">
              <a:lnSpc>
                <a:spcPct val="138000"/>
              </a:lnSpc>
              <a:buNone/>
            </a:pPr>
            <a:r>
              <a:rPr lang="en-US" sz="1400" b="1" dirty="0">
                <a:solidFill>
                  <a:srgbClr val="000000"/>
                </a:solidFill>
                <a:latin typeface="Roboto" pitchFamily="34" charset="0"/>
                <a:ea typeface="Roboto" pitchFamily="34" charset="-122"/>
                <a:cs typeface="Roboto" pitchFamily="34" charset="-120"/>
              </a:rPr>
              <a:t>Docs:</a:t>
            </a:r>
            <a:pPr algn="l" indent="0" marL="0">
              <a:lnSpc>
                <a:spcPct val="138000"/>
              </a:lnSpc>
              <a:buNone/>
            </a:pPr>
            <a:r>
              <a:rPr lang="en-US" sz="1400" dirty="0">
                <a:solidFill>
                  <a:srgbClr val="000000"/>
                </a:solidFill>
                <a:latin typeface="Roboto" pitchFamily="34" charset="0"/>
                <a:ea typeface="Roboto" pitchFamily="34" charset="-122"/>
                <a:cs typeface="Roboto" pitchFamily="34" charset="-120"/>
              </a:rPr>
              <a:t> docs.qlever.dev · github.com/ad-freiburg/qlever/wiki</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QLever as a Passage backend</dc:title>
  <dc:subject>PptxGenJS Presentation</dc:subject>
  <dc:creator>PptxGenJS</dc:creator>
  <cp:lastModifiedBy>PptxGenJS</cp:lastModifiedBy>
  <cp:revision>1</cp:revision>
  <dcterms:created xsi:type="dcterms:W3CDTF">2026-10-18T15:00:53Z</dcterms:created>
  <dcterms:modified xsi:type="dcterms:W3CDTF">2026-10-18T15:00:53Z</dcterms:modified>
</cp:coreProperties>
</file>