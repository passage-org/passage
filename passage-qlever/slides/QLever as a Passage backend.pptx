
<file path=[Content_Types].xml><?xml version="1.0" encoding="utf-8"?>
<Types xmlns="http://schemas.openxmlformats.org/package/2006/content-types">
  <Default Extension="xml" ContentType="application/xml"/>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3.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slides/slide7.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notesMasters/notesMaster1.xml" ContentType="application/vnd.openxmlformats-officedocument.presentationml.notesMaster+xml"/>
  <Override PartName="/ppt/slideLayouts/slideLayout2.xml" ContentType="application/vnd.openxmlformats-officedocument.presentationml.slideLayout+xml"/>
  <Override PartName="/ppt/notesSlides/notesSlide7.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slideMasters/slideMaster1.xml" ContentType="application/vnd.openxmlformats-officedocument.presentationml.slideMaster+xml"/>
  <Override PartName="/ppt/slides/slide12.xml" ContentType="application/vnd.openxmlformats-officedocument.presentationml.slide+xml"/>
  <Override PartName="/ppt/slideLayouts/slideLayout1.xml" ContentType="application/vnd.openxmlformats-officedocument.presentationml.slideLayout+xml"/>
  <Override PartName="/ppt/presentation.xml" ContentType="application/vnd.openxmlformats-officedocument.presentationml.presentation.main+xml"/>
  <Override PartName="/docProps/core.xml" ContentType="application/vnd.openxmlformats-package.core-properties+xml"/>
  <Override PartName="/ppt/notesSlides/notesSlide15.xml" ContentType="application/vnd.openxmlformats-officedocument.presentationml.notesSlide+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docProps/app.xml" ContentType="application/vnd.openxmlformats-officedocument.extended-properties+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11"/>
    <p:restoredTop sz="94610"/>
  </p:normalViewPr>
  <p:slideViewPr>
    <p:cSldViewPr snapToGrid="0" snapToObjects="1">
      <p:cViewPr varScale="1">
        <p:scale>
          <a:sx n="136" d="100"/>
          <a:sy n="136" d="100"/>
        </p:scale>
        <p:origin x="216" y="312"/>
      </p:cViewPr>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notesMaster" Target="notesMasters/notesMaster1.xml"/><Relationship Id="rId20" Type="http://schemas.openxmlformats.org/officeDocument/2006/relationships/presProps" Target="presProps.xml" /><Relationship Id="rId21" Type="http://schemas.openxmlformats.org/officeDocument/2006/relationships/tableStyles" Target="tableStyles.xml" /><Relationship Id="rId2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ChangeAspect="1" noGrp="1" noRo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Blazegraph carries tuple counts inside its B+tree nodes, so "how many matches" and "which match sits at rank k" are both a tree descent. Its own uniform sampler is built straight on keyAt. QLever has neither — that is the whole question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Source: the Wikidata SPARQL query service backend replacement proposal. Worth saying plainly that it is a proposal open for community review rather than a finished switch, and that Blazegraph-specific services and functions will not carry over, so queries using them must be rewritten. The timing is a gift: the Query Service Days are this 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Use this to make the point that the choice is not ours: an independent author, four engines, a benchmark we had no hand in. The median matters more than the mean here — the mean is dominated by a handful of very long queries, and the author says so explicitly, preferring the arithmetic mean to show server load rather than user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Two things to point at. The per-block metadata lives at the END of the permutation file, not in the sidecar: the reader seeks to the last offset and deserialises it at start-up. And the .meta sidecar is 992 bytes for PSO but 32 bytes for SPO — because SPO has 521,585 relations that each live inside a single block and are addressed by an offset within it, so they need no entry of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The point that matters downstream: a bound component in a scan is an Id, and resolving it is a vocabulary lookup — unless it is a number or a date, which cost nothing. It is also where the absent-value trap lives: a string not in the vocabulary has no Id at all, and that has to be reported rather than silently turned into a wildcard.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Every Id on this slide was read from the fig2 index by asking QLever for the string behind it. The right-hand column is the honest catch: ordering by Id groups by datatype first, in enum order, so it is not SPARQL's comparison — that lives in ValueIdComparators and is a different function. An offset into a scan is a position in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86 predicates against a million objects, for the same ten million triples: that asymmetry is why the block counts differ, and the next slide explains the rest. Note that the bound components have to be a PREFIX of the key order — that constraint is what decides which of the six a given pattern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The third rule is the one that matters for correctness later: because a block never splits triples that differ only by graph, a block's row count can be trusted without opening it — which is exactly the guard the offset patch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The counter-intuitive row is PSO. Its col0 has only 86 distinct values and compresses to nothing, yet the file is larger than SPO's — because what matters is the other columns: sorted by predicate, the subjects inside one predicate are a long ascending run but the objects are near-random, while SPO gets two low-entropy columns. Every number here was read from the index: the rows through the JNI bridge, the sizes with 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firstTriple_ and lastTriple_ are what the binary search uses to find the range of blocks a pattern touches, without reading any of them. numRows_ is what lets an offset be resolved before any I/O. Both were already there; nothing in this work added a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Step 4 is the forty-line patch: skipped blocks are counted, never opened, and the guard is that a block's row count can only be trusted when the block holds no duplicates differing by graph. Step 5 is why a per-thread cache of decompressed blocks is worth 38x on scan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An index built before the patch is read by the patched engine unchanged. That matters more than the size of the patch: a mechanism needing the index format to change would not port to the next engine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Read the third row against the first two: an exact count is three orders of magnitude dearer than the estimate, and the block cache closes most but not all of that. The engine asks for the exact one wherever an answer depends on it, and for the estimate everywhere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Three of the four limitations are constants, and this is the one that is a difference in kind. If the random-walk estimators matter on this backend, the thing to build is a per-block distinct count or a cheap rank — not a bigger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This slide answers the obvious question from the audience: why read the source rather than the documentation. The honest answer is that for the storage layer there is none, and the one paper that describes a block structure describes one that no longer exists and that was explicitly uncompressed.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spTree>
      <p:nvGrpSpPr>
        <p:cNvPr id="1" name=""/>
        <p:cNvGrpSpPr/>
        <p:nvPr/>
      </p:nvGrpSpPr>
      <p:grpSpPr>
        <a:xfrm>
          <a:off x="0" y="0"/>
          <a:ext cx="0" cy="0"/>
          <a:chOff x="0" y="0"/>
          <a:chExt cx="0" cy="0"/>
        </a:xfrm>
      </p:grpSpPr>
      <p:sp>
        <p:nvSpPr>
          <p:cNvPr id="2" name="Slide Image Placeholder 1"/>
          <p:cNvSpPr>
            <a:spLocks noChangeAspect="1" noGrp="1" noRot="1"/>
          </p:cNvSpPr>
          <p:nvPr>
            <p:ph type="sldImg"/>
          </p:nvPr>
        </p:nvSpPr>
        <p:spPr/>
      </p:sp>
      <p:sp>
        <p:nvSpPr>
          <p:cNvPr id="3" name="Notes Placeholder 2"/>
          <p:cNvSpPr>
            <a:spLocks noGrp="1"/>
          </p:cNvSpPr>
          <p:nvPr>
            <p:ph type="body" idx="1"/>
          </p:nvPr>
        </p:nvSpPr>
        <p:spPr/>
        <p:txBody>
          <a:bodyPr/>
          <a:lstStyle/>
          <a:p>
            <a:r>
              <a:rPr lang="en-US" dirty="0"/>
              <a:t>This list is the one the upstream README asks for, not the one on Wikipedia, which misses the TGDK, GRASP and Sparqloscope papers and dates the autocompletion work to an arXiv preprint rather than CIKM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0" y="228600"/>
            <a:ext cx="12192000" cy="642620"/>
          </a:xfrm>
          <a:prstGeom prst="rect">
            <a:avLst/>
          </a:prstGeom>
          <a:noFill/>
          <a:ln/>
        </p:spPr>
        <p:txBody>
          <a:bodyPr wrap="square" lIns="0" tIns="0" rIns="0" bIns="0" rtlCol="0" anchor="t"/>
          <a:lstStyle>
            <a:lvl1pPr marL="0" indent="0" algn="l">
              <a:lnSpc>
                <a:spcPct val="115000"/>
              </a:lnSpc>
              <a:buNone/>
              <a:defRPr lang="en-US" sz="4600" dirty="0">
                <a:solidFill>
                  <a:srgbClr val="000000"/>
                </a:solidFill>
                <a:latin typeface="Roboto Slab" pitchFamily="34" charset="0"/>
                <a:ea typeface="Roboto Slab" pitchFamily="34" charset="-122"/>
                <a:cs typeface="Roboto Slab" pitchFamily="34" charset="-120"/>
              </a:defRPr>
            </a:lvl1pPr>
          </a:lstStyle>
          <a:p>
            <a:pPr marL="0" indent="0" algn="l">
              <a:lnSpc>
                <a:spcPct val="115000"/>
              </a:lnSpc>
              <a:buNone/>
            </a:pPr>
            <a:endParaRPr lang="en-US" sz="4600" dirty="0"/>
          </a:p>
        </p:txBody>
      </p:sp>
      <p:sp>
        <p:nvSpPr>
          <p:cNvPr id="3" name="Text Placeholder 2"/>
          <p:cNvSpPr/>
          <p:nvPr>
            <p:ph type="body" idx="101"/>
          </p:nvPr>
        </p:nvSpPr>
        <p:spPr>
          <a:xfrm>
            <a:off x="0" y="1176020"/>
            <a:ext cx="11379200" cy="4869180"/>
          </a:xfrm>
          <a:prstGeom prst="rect">
            <a:avLst/>
          </a:prstGeom>
          <a:noFill/>
          <a:ln/>
        </p:spPr>
        <p:txBody>
          <a:bodyPr wrap="square" lIns="0" tIns="0" rIns="0" bIns="0" rtlCol="0" anchor="t"/>
          <a:lstStyle>
            <a:lvl1pPr marL="0" indent="0" algn="l">
              <a:lnSpc>
                <a:spcPct val="140000"/>
              </a:lnSpc>
              <a:buNone/>
              <a:defRPr lang="en-US" sz="1600" dirty="0">
                <a:solidFill>
                  <a:srgbClr val="000000"/>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0" y="228600"/>
            <a:ext cx="12192000" cy="642620"/>
          </a:xfrm>
          <a:prstGeom prst="rect">
            <a:avLst/>
          </a:prstGeom>
          <a:noFill/>
          <a:ln/>
        </p:spPr>
        <p:txBody>
          <a:bodyPr wrap="square" lIns="0" tIns="0" rIns="0" bIns="0" rtlCol="0" anchor="t"/>
          <a:lstStyle>
            <a:lvl1pPr marL="0" indent="0" algn="l">
              <a:lnSpc>
                <a:spcPct val="115000"/>
              </a:lnSpc>
              <a:buNone/>
              <a:defRPr lang="en-US" sz="4600" dirty="0">
                <a:solidFill>
                  <a:srgbClr val="000000"/>
                </a:solidFill>
                <a:latin typeface="Roboto Slab" pitchFamily="34" charset="0"/>
                <a:ea typeface="Roboto Slab" pitchFamily="34" charset="-122"/>
                <a:cs typeface="Roboto Slab" pitchFamily="34" charset="-120"/>
              </a:defRPr>
            </a:lvl1pPr>
          </a:lstStyle>
          <a:p>
            <a:pPr marL="0" indent="0" algn="l">
              <a:lnSpc>
                <a:spcPct val="115000"/>
              </a:lnSpc>
              <a:buNone/>
            </a:pPr>
            <a:endParaRPr lang="en-US" sz="4600" dirty="0"/>
          </a:p>
        </p:txBody>
      </p:sp>
      <p:sp>
        <p:nvSpPr>
          <p:cNvPr id="3" name="Text Placeholder 2"/>
          <p:cNvSpPr/>
          <p:nvPr>
            <p:ph type="body" idx="101"/>
          </p:nvPr>
        </p:nvSpPr>
        <p:spPr>
          <a:xfrm>
            <a:off x="0" y="1176020"/>
            <a:ext cx="11379200" cy="4869180"/>
          </a:xfrm>
          <a:prstGeom prst="rect">
            <a:avLst/>
          </a:prstGeom>
          <a:noFill/>
          <a:ln/>
        </p:spPr>
        <p:txBody>
          <a:bodyPr wrap="square" lIns="0" tIns="0" rIns="0" bIns="0" rtlCol="0" anchor="t"/>
          <a:lstStyle>
            <a:lvl1pPr marL="0" indent="0" algn="l">
              <a:lnSpc>
                <a:spcPct val="140000"/>
              </a:lnSpc>
              <a:buNone/>
              <a:defRPr lang="en-US" sz="1600" dirty="0">
                <a:solidFill>
                  <a:srgbClr val="000000"/>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dt="0" ftr="0" hdr="0" sldNum="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Why change the backend?</a:t>
            </a:r>
            <a:endParaRPr lang="en-US" sz="4600" dirty="0"/>
          </a:p>
        </p:txBody>
      </p:sp>
      <p:sp>
        <p:nvSpPr>
          <p:cNvPr id="4" name="Text 2"/>
          <p:cNvSpPr/>
          <p:nvPr/>
        </p:nvSpPr>
        <p:spPr>
          <a:xfrm>
            <a:off x="681736" y="1447800"/>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FF0000"/>
                </a:solidFill>
                <a:latin typeface="Roboto" pitchFamily="34" charset="0"/>
                <a:ea typeface="Roboto" pitchFamily="34" charset="-122"/>
                <a:cs typeface="Roboto" pitchFamily="34" charset="-120"/>
              </a:rPr>
              <a:t>Blazegraph is no longer maintained</a:t>
            </a:r>
            <a:endParaRPr lang="en-US" sz="2200" dirty="0"/>
          </a:p>
        </p:txBody>
      </p:sp>
      <p:sp>
        <p:nvSpPr>
          <p:cNvPr id="5" name="Text 3"/>
          <p:cNvSpPr/>
          <p:nvPr/>
        </p:nvSpPr>
        <p:spPr>
          <a:xfrm>
            <a:off x="681736" y="2016760"/>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000000"/>
                </a:solidFill>
                <a:latin typeface="Roboto" pitchFamily="34" charset="0"/>
                <a:ea typeface="Roboto" pitchFamily="34" charset="-122"/>
                <a:cs typeface="Roboto" pitchFamily="34" charset="-120"/>
              </a:rPr>
              <a:t>QLever is maintained, and six times smaller</a:t>
            </a:r>
            <a:endParaRPr lang="en-US" sz="2200" dirty="0"/>
          </a:p>
        </p:txBody>
      </p:sp>
      <p:sp>
        <p:nvSpPr>
          <p:cNvPr id="6" name="Text 4"/>
          <p:cNvSpPr/>
          <p:nvPr/>
        </p:nvSpPr>
        <p:spPr>
          <a:xfrm>
            <a:off x="1007872" y="2585720"/>
            <a:ext cx="10833100" cy="372745"/>
          </a:xfrm>
          <a:prstGeom prst="rect">
            <a:avLst/>
          </a:prstGeom>
          <a:noFill/>
          <a:ln/>
        </p:spPr>
        <p:txBody>
          <a:bodyPr wrap="square" lIns="0" tIns="0" rIns="0" bIns="0" rtlCol="0" anchor="t">
            <a:normAutofit/>
          </a:bodyPr>
          <a:lstStyle/>
          <a:p>
            <a:pPr marL="211328" indent="-211328" algn="l">
              <a:lnSpc>
                <a:spcPts val="2660"/>
              </a:lnSpc>
              <a:buSzPct val="100000"/>
              <a:buChar char="•"/>
            </a:pPr>
            <a:r>
              <a:rPr lang="en-US" sz="1900" b="1" dirty="0">
                <a:solidFill>
                  <a:srgbClr val="38761D"/>
                </a:solidFill>
                <a:latin typeface="Roboto" pitchFamily="34" charset="0"/>
                <a:ea typeface="Roboto" pitchFamily="34" charset="-122"/>
                <a:cs typeface="Roboto" pitchFamily="34" charset="-120"/>
              </a:rPr>
              <a:t>283 MB</a:t>
            </a:r>
            <a:r>
              <a:rPr lang="en-US" sz="1900" dirty="0">
                <a:solidFill>
                  <a:srgbClr val="000000"/>
                </a:solidFill>
                <a:latin typeface="Roboto" pitchFamily="34" charset="0"/>
                <a:ea typeface="Roboto" pitchFamily="34" charset="-122"/>
                <a:cs typeface="Roboto" pitchFamily="34" charset="-120"/>
              </a:rPr>
              <a:t> against </a:t>
            </a:r>
            <a:r>
              <a:rPr lang="en-US" sz="1900" b="1" dirty="0">
                <a:solidFill>
                  <a:srgbClr val="000000"/>
                </a:solidFill>
                <a:latin typeface="Roboto" pitchFamily="34" charset="0"/>
                <a:ea typeface="Roboto" pitchFamily="34" charset="-122"/>
                <a:cs typeface="Roboto" pitchFamily="34" charset="-120"/>
              </a:rPr>
              <a:t>1.7 GB</a:t>
            </a:r>
            <a:r>
              <a:rPr lang="en-US" sz="1900" dirty="0">
                <a:solidFill>
                  <a:srgbClr val="000000"/>
                </a:solidFill>
                <a:latin typeface="Roboto" pitchFamily="34" charset="0"/>
                <a:ea typeface="Roboto" pitchFamily="34" charset="-122"/>
                <a:cs typeface="Roboto" pitchFamily="34" charset="-120"/>
              </a:rPr>
              <a:t>, for the same 10,916,457 triples</a:t>
            </a:r>
            <a:endParaRPr lang="en-US" sz="1900" dirty="0"/>
          </a:p>
        </p:txBody>
      </p:sp>
      <p:sp>
        <p:nvSpPr>
          <p:cNvPr id="7" name="Text 5"/>
          <p:cNvSpPr/>
          <p:nvPr/>
        </p:nvSpPr>
        <p:spPr>
          <a:xfrm>
            <a:off x="681736" y="3098165"/>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FF0000"/>
                </a:solidFill>
                <a:latin typeface="Roboto" pitchFamily="34" charset="0"/>
                <a:ea typeface="Roboto" pitchFamily="34" charset="-122"/>
                <a:cs typeface="Roboto" pitchFamily="34" charset="-120"/>
              </a:rPr>
              <a:t>But it has no augmented B+tree</a:t>
            </a:r>
            <a:endParaRPr lang="en-US" sz="2200" dirty="0"/>
          </a:p>
        </p:txBody>
      </p:sp>
      <p:sp>
        <p:nvSpPr>
          <p:cNvPr id="8" name="Text 6"/>
          <p:cNvSpPr/>
          <p:nvPr/>
        </p:nvSpPr>
        <p:spPr>
          <a:xfrm>
            <a:off x="1007872" y="3667125"/>
            <a:ext cx="10833100" cy="720090"/>
          </a:xfrm>
          <a:prstGeom prst="rect">
            <a:avLst/>
          </a:prstGeom>
          <a:noFill/>
          <a:ln/>
        </p:spPr>
        <p:txBody>
          <a:bodyPr wrap="square" lIns="0" tIns="0" rIns="0" bIns="0" rtlCol="0" anchor="t">
            <a:normAutofit/>
          </a:bodyPr>
          <a:lstStyle/>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no </a:t>
            </a:r>
            <a:r>
              <a:rPr lang="en-US" sz="1900" b="1" dirty="0">
                <a:solidFill>
                  <a:srgbClr val="000000"/>
                </a:solidFill>
                <a:latin typeface="Roboto" pitchFamily="34" charset="0"/>
                <a:ea typeface="Roboto" pitchFamily="34" charset="-122"/>
                <a:cs typeface="Roboto" pitchFamily="34" charset="-120"/>
              </a:rPr>
              <a:t>rangeCount</a:t>
            </a:r>
            <a:r>
              <a:rPr lang="en-US" sz="1900" dirty="0">
                <a:solidFill>
                  <a:srgbClr val="000000"/>
                </a:solidFill>
                <a:latin typeface="Roboto" pitchFamily="34" charset="0"/>
                <a:ea typeface="Roboto" pitchFamily="34" charset="-122"/>
                <a:cs typeface="Roboto" pitchFamily="34" charset="-120"/>
              </a:rPr>
              <a:t>, no </a:t>
            </a:r>
            <a:r>
              <a:rPr lang="en-US" sz="1900" b="1" dirty="0">
                <a:solidFill>
                  <a:srgbClr val="000000"/>
                </a:solidFill>
                <a:latin typeface="Roboto" pitchFamily="34" charset="0"/>
                <a:ea typeface="Roboto" pitchFamily="34" charset="-122"/>
                <a:cs typeface="Roboto" pitchFamily="34" charset="-120"/>
              </a:rPr>
              <a:t>keyAt(rank)</a:t>
            </a:r>
            <a:endParaRPr lang="en-US" sz="1900" dirty="0"/>
          </a:p>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which are exactly the two questions a continuation asks</a:t>
            </a:r>
            <a:endParaRPr lang="en-US" sz="1900" dirty="0"/>
          </a:p>
        </p:txBody>
      </p:sp>
      <p:sp>
        <p:nvSpPr>
          <p:cNvPr id="9" name="Text 7"/>
          <p:cNvSpPr/>
          <p:nvPr/>
        </p:nvSpPr>
        <p:spPr>
          <a:xfrm>
            <a:off x="10744200" y="6322060"/>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Wikidata reached the same conclusion</a:t>
            </a:r>
            <a:endParaRPr lang="en-US" sz="4600" dirty="0"/>
          </a:p>
        </p:txBody>
      </p:sp>
      <p:sp>
        <p:nvSpPr>
          <p:cNvPr id="4" name="Text 2"/>
          <p:cNvSpPr/>
          <p:nvPr/>
        </p:nvSpPr>
        <p:spPr>
          <a:xfrm>
            <a:off x="660400" y="1358900"/>
            <a:ext cx="11197336" cy="616268"/>
          </a:xfrm>
          <a:prstGeom prst="rect">
            <a:avLst/>
          </a:prstGeom>
          <a:noFill/>
          <a:ln/>
        </p:spPr>
        <p:txBody>
          <a:bodyPr wrap="square" lIns="0" tIns="0" rIns="0" bIns="0" rtlCol="0" anchor="t">
            <a:normAutofit/>
          </a:bodyPr>
          <a:lstStyle/>
          <a:p>
            <a:pPr marL="0" indent="0" algn="l">
              <a:lnSpc>
                <a:spcPts val="2335"/>
              </a:lnSpc>
              <a:buNone/>
            </a:pPr>
            <a:r>
              <a:rPr lang="en-US" sz="1668" dirty="0">
                <a:solidFill>
                  <a:srgbClr val="000000"/>
                </a:solidFill>
                <a:latin typeface="Roboto" pitchFamily="34" charset="0"/>
                <a:ea typeface="Roboto" pitchFamily="34" charset="-122"/>
                <a:cs typeface="Roboto" pitchFamily="34" charset="-120"/>
              </a:rPr>
              <a:t>The Wikidata Platform Team proposes </a:t>
            </a:r>
            <a:r>
              <a:rPr lang="en-US" sz="1668" b="1" dirty="0">
                <a:solidFill>
                  <a:srgbClr val="000000"/>
                </a:solidFill>
                <a:latin typeface="Roboto" pitchFamily="34" charset="0"/>
                <a:ea typeface="Roboto" pitchFamily="34" charset="-122"/>
                <a:cs typeface="Roboto" pitchFamily="34" charset="-120"/>
              </a:rPr>
              <a:t>QLever</a:t>
            </a:r>
            <a:r>
              <a:rPr lang="en-US" sz="1668" dirty="0">
                <a:solidFill>
                  <a:srgbClr val="000000"/>
                </a:solidFill>
                <a:latin typeface="Roboto" pitchFamily="34" charset="0"/>
                <a:ea typeface="Roboto" pitchFamily="34" charset="-122"/>
                <a:cs typeface="Roboto" pitchFamily="34" charset="-120"/>
              </a:rPr>
              <a:t> as the replacement for Blazegraph in the Wikidata Query Service. Their reasons, quoted:</a:t>
            </a:r>
            <a:endParaRPr lang="en-US" sz="1668" dirty="0"/>
          </a:p>
        </p:txBody>
      </p:sp>
      <p:sp>
        <p:nvSpPr>
          <p:cNvPr id="5" name="Text 3"/>
          <p:cNvSpPr/>
          <p:nvPr/>
        </p:nvSpPr>
        <p:spPr>
          <a:xfrm>
            <a:off x="660400" y="2102168"/>
            <a:ext cx="10871200" cy="1114213"/>
          </a:xfrm>
          <a:prstGeom prst="rect">
            <a:avLst/>
          </a:prstGeom>
          <a:solidFill>
            <a:srgbClr val="F2F8FD"/>
          </a:solidFill>
          <a:ln/>
        </p:spPr>
        <p:txBody>
          <a:bodyPr wrap="square" lIns="177800" tIns="127000" rIns="0" bIns="101600" rtlCol="0" anchor="t">
            <a:normAutofit/>
          </a:bodyPr>
          <a:lstStyle/>
          <a:p>
            <a:pPr marL="0" indent="0" algn="l">
              <a:lnSpc>
                <a:spcPts val="2259"/>
              </a:lnSpc>
              <a:buNone/>
            </a:pPr>
            <a:r>
              <a:rPr lang="en-US" sz="1614" dirty="0">
                <a:solidFill>
                  <a:srgbClr val="000000"/>
                </a:solidFill>
                <a:latin typeface="Roboto" pitchFamily="34" charset="0"/>
                <a:ea typeface="Roboto" pitchFamily="34" charset="-122"/>
                <a:cs typeface="Roboto" pitchFamily="34" charset="-120"/>
              </a:rPr>
              <a:t>“an open source project that has gone </a:t>
            </a:r>
            <a:r>
              <a:rPr lang="en-US" sz="1614" b="1" dirty="0">
                <a:solidFill>
                  <a:srgbClr val="000000"/>
                </a:solidFill>
                <a:latin typeface="Roboto" pitchFamily="34" charset="0"/>
                <a:ea typeface="Roboto" pitchFamily="34" charset="-122"/>
                <a:cs typeface="Roboto" pitchFamily="34" charset="-120"/>
              </a:rPr>
              <a:t>unmaintained</a:t>
            </a:r>
            <a:r>
              <a:rPr lang="en-US" sz="1614" dirty="0">
                <a:solidFill>
                  <a:srgbClr val="000000"/>
                </a:solidFill>
                <a:latin typeface="Roboto" pitchFamily="34" charset="0"/>
                <a:ea typeface="Roboto" pitchFamily="34" charset="-122"/>
                <a:cs typeface="Roboto" pitchFamily="34" charset="-120"/>
              </a:rPr>
              <a:t> since being acquired by Amazon in 2018”</a:t>
            </a:r>
            <a:endParaRPr lang="en-US" sz="1614" dirty="0"/>
          </a:p>
          <a:p>
            <a:pPr marL="0" indent="0" algn="l">
              <a:lnSpc>
                <a:spcPts val="2259"/>
              </a:lnSpc>
              <a:buNone/>
            </a:pPr>
            <a:r>
              <a:rPr lang="en-US" sz="1614" dirty="0">
                <a:solidFill>
                  <a:srgbClr val="000000"/>
                </a:solidFill>
                <a:latin typeface="Roboto" pitchFamily="34" charset="0"/>
                <a:ea typeface="Roboto" pitchFamily="34" charset="-122"/>
                <a:cs typeface="Roboto" pitchFamily="34" charset="-120"/>
              </a:rPr>
              <a:t>“</a:t>
            </a:r>
            <a:r>
              <a:rPr lang="en-US" sz="1614" b="1" dirty="0">
                <a:solidFill>
                  <a:srgbClr val="000000"/>
                </a:solidFill>
                <a:latin typeface="Roboto" pitchFamily="34" charset="0"/>
                <a:ea typeface="Roboto" pitchFamily="34" charset="-122"/>
                <a:cs typeface="Roboto" pitchFamily="34" charset="-120"/>
              </a:rPr>
              <a:t>unable to scale</a:t>
            </a:r>
            <a:r>
              <a:rPr lang="en-US" sz="1614" dirty="0">
                <a:solidFill>
                  <a:srgbClr val="000000"/>
                </a:solidFill>
                <a:latin typeface="Roboto" pitchFamily="34" charset="0"/>
                <a:ea typeface="Roboto" pitchFamily="34" charset="-122"/>
                <a:cs typeface="Roboto" pitchFamily="34" charset="-120"/>
              </a:rPr>
              <a:t> to meet the growth targets of Wikidata”</a:t>
            </a:r>
            <a:endParaRPr lang="en-US" sz="1614" dirty="0"/>
          </a:p>
          <a:p>
            <a:pPr marL="0" indent="0" algn="l">
              <a:lnSpc>
                <a:spcPts val="2259"/>
              </a:lnSpc>
              <a:buNone/>
            </a:pPr>
            <a:r>
              <a:rPr lang="en-US" sz="1614" dirty="0">
                <a:solidFill>
                  <a:srgbClr val="000000"/>
                </a:solidFill>
                <a:latin typeface="Roboto" pitchFamily="34" charset="0"/>
                <a:ea typeface="Roboto" pitchFamily="34" charset="-122"/>
                <a:cs typeface="Roboto" pitchFamily="34" charset="-120"/>
              </a:rPr>
              <a:t>“the cause of much of the </a:t>
            </a:r>
            <a:r>
              <a:rPr lang="en-US" sz="1614" b="1" dirty="0">
                <a:solidFill>
                  <a:srgbClr val="000000"/>
                </a:solidFill>
                <a:latin typeface="Roboto" pitchFamily="34" charset="0"/>
                <a:ea typeface="Roboto" pitchFamily="34" charset="-122"/>
                <a:cs typeface="Roboto" pitchFamily="34" charset="-120"/>
              </a:rPr>
              <a:t>volatility</a:t>
            </a:r>
            <a:r>
              <a:rPr lang="en-US" sz="1614" dirty="0">
                <a:solidFill>
                  <a:srgbClr val="000000"/>
                </a:solidFill>
                <a:latin typeface="Roboto" pitchFamily="34" charset="0"/>
                <a:ea typeface="Roboto" pitchFamily="34" charset="-122"/>
                <a:cs typeface="Roboto" pitchFamily="34" charset="-120"/>
              </a:rPr>
              <a:t> of the Wikidata Query Service”</a:t>
            </a:r>
            <a:endParaRPr lang="en-US" sz="1614" dirty="0"/>
          </a:p>
        </p:txBody>
      </p:sp>
      <p:sp>
        <p:nvSpPr>
          <p:cNvPr id="6" name="Shape 4"/>
          <p:cNvSpPr/>
          <p:nvPr/>
        </p:nvSpPr>
        <p:spPr>
          <a:xfrm>
            <a:off x="685800" y="2102168"/>
            <a:ext cx="0" cy="1114213"/>
          </a:xfrm>
          <a:prstGeom prst="line">
            <a:avLst/>
          </a:prstGeom>
          <a:noFill/>
          <a:ln w="50800">
            <a:solidFill>
              <a:srgbClr val="0084D1"/>
            </a:solidFill>
            <a:prstDash val="solid"/>
          </a:ln>
        </p:spPr>
      </p:sp>
      <p:sp>
        <p:nvSpPr>
          <p:cNvPr id="7" name="Shape 5"/>
          <p:cNvSpPr/>
          <p:nvPr/>
        </p:nvSpPr>
        <p:spPr>
          <a:xfrm>
            <a:off x="11525250" y="3368780"/>
            <a:ext cx="0" cy="2298171"/>
          </a:xfrm>
          <a:prstGeom prst="line">
            <a:avLst/>
          </a:prstGeom>
          <a:noFill/>
          <a:ln w="12700">
            <a:solidFill>
              <a:srgbClr val="000000"/>
            </a:solidFill>
            <a:prstDash val="solid"/>
          </a:ln>
        </p:spPr>
      </p:sp>
      <p:sp>
        <p:nvSpPr>
          <p:cNvPr id="8" name="Shape 6"/>
          <p:cNvSpPr/>
          <p:nvPr/>
        </p:nvSpPr>
        <p:spPr>
          <a:xfrm>
            <a:off x="660400" y="5660601"/>
            <a:ext cx="10871200" cy="0"/>
          </a:xfrm>
          <a:prstGeom prst="line">
            <a:avLst/>
          </a:prstGeom>
          <a:noFill/>
          <a:ln w="12700">
            <a:solidFill>
              <a:srgbClr val="000000"/>
            </a:solidFill>
            <a:prstDash val="solid"/>
          </a:ln>
        </p:spPr>
      </p:sp>
      <p:sp>
        <p:nvSpPr>
          <p:cNvPr id="9" name="Shape 7"/>
          <p:cNvSpPr/>
          <p:nvPr/>
        </p:nvSpPr>
        <p:spPr>
          <a:xfrm>
            <a:off x="660400" y="3375130"/>
            <a:ext cx="10871200" cy="0"/>
          </a:xfrm>
          <a:prstGeom prst="line">
            <a:avLst/>
          </a:prstGeom>
          <a:noFill/>
          <a:ln w="12700">
            <a:solidFill>
              <a:srgbClr val="141413">
                <a:alpha val="22000"/>
              </a:srgbClr>
            </a:solidFill>
            <a:prstDash val="solid"/>
          </a:ln>
        </p:spPr>
      </p:sp>
      <p:sp>
        <p:nvSpPr>
          <p:cNvPr id="10" name="Shape 8"/>
          <p:cNvSpPr/>
          <p:nvPr/>
        </p:nvSpPr>
        <p:spPr>
          <a:xfrm>
            <a:off x="666750" y="3368780"/>
            <a:ext cx="0" cy="2298171"/>
          </a:xfrm>
          <a:prstGeom prst="line">
            <a:avLst/>
          </a:prstGeom>
          <a:noFill/>
          <a:ln w="12700">
            <a:solidFill>
              <a:srgbClr val="141413">
                <a:alpha val="22000"/>
              </a:srgbClr>
            </a:solidFill>
            <a:prstDash val="solid"/>
          </a:ln>
        </p:spPr>
      </p:sp>
      <p:graphicFrame>
        <p:nvGraphicFramePr>
          <p:cNvPr id="11" name="Table 0"/>
          <p:cNvGraphicFramePr>
            <a:graphicFrameLocks xmlns:a="http://schemas.openxmlformats.org/drawingml/2006/main" noGrp="1"/>
          </p:cNvGraphicFramePr>
          <p:nvPr/>
        </p:nvGraphicFramePr>
        <p:xfrm>
          <a:off x="768350" y="3476730"/>
          <a:ext cx="10655300" cy="2084917"/>
        </p:xfrm>
        <a:graphic>
          <a:graphicData uri="http://schemas.openxmlformats.org/drawingml/2006/table">
            <a:tbl>
              <a:tblPr/>
              <a:tblGrid>
                <a:gridCol w="3196590"/>
                <a:gridCol w="7458710"/>
              </a:tblGrid>
              <a:tr h="416983">
                <a:tc>
                  <a:txBody>
                    <a:bodyPr/>
                    <a:lstStyle/>
                    <a:p>
                      <a:pPr marL="0" indent="0">
                        <a:lnSpc>
                          <a:spcPts val="2123"/>
                        </a:lnSpc>
                        <a:buNone/>
                      </a:pPr>
                      <a:r>
                        <a:rPr lang="en-US" sz="1516" b="1" dirty="0">
                          <a:solidFill>
                            <a:srgbClr val="FFFFFF"/>
                          </a:solidFill>
                          <a:latin typeface="Roboto" pitchFamily="34" charset="0"/>
                          <a:ea typeface="Roboto" pitchFamily="34" charset="-122"/>
                          <a:cs typeface="Roboto" pitchFamily="34" charset="-120"/>
                        </a:rPr>
                        <a:t>when</a:t>
                      </a:r>
                      <a:endParaRPr lang="en-US" sz="1516" dirty="0">
                        <a:latin typeface="Roboto" charset="0"/>
                        <a:ea typeface="Roboto" charset="0"/>
                        <a:cs typeface="Roboto" charset="0"/>
                      </a:endParaRPr>
                    </a:p>
                  </a:txBody>
                  <a:tcPr marL="67390" marR="67390" marT="67390" marB="67390"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123"/>
                        </a:lnSpc>
                        <a:buNone/>
                      </a:pPr>
                      <a:r>
                        <a:rPr lang="en-US" sz="1516" b="1" dirty="0">
                          <a:solidFill>
                            <a:srgbClr val="FFFFFF"/>
                          </a:solidFill>
                          <a:latin typeface="Roboto" pitchFamily="34" charset="0"/>
                          <a:ea typeface="Roboto" pitchFamily="34" charset="-122"/>
                          <a:cs typeface="Roboto" pitchFamily="34" charset="-120"/>
                        </a:rPr>
                        <a:t>what</a:t>
                      </a:r>
                      <a:endParaRPr lang="en-US" sz="1516" dirty="0">
                        <a:latin typeface="Roboto" charset="0"/>
                        <a:ea typeface="Roboto" charset="0"/>
                        <a:cs typeface="Roboto" charset="0"/>
                      </a:endParaRPr>
                    </a:p>
                  </a:txBody>
                  <a:tcPr marL="67390" marR="67390" marT="67390" marB="6739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416983">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Oct 2025 – Mar 2026</a:t>
                      </a:r>
                      <a:endParaRPr lang="en-US" sz="1516" dirty="0">
                        <a:latin typeface="Roboto" charset="0"/>
                        <a:ea typeface="Roboto" charset="0"/>
                        <a:cs typeface="Roboto" charset="0"/>
                      </a:endParaRPr>
                    </a:p>
                  </a:txBody>
                  <a:tcPr marL="67390" marR="67390" marT="67390" marB="6739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benchmarking and production-replay testing of the candidates</a:t>
                      </a:r>
                      <a:endParaRPr lang="en-US" sz="1516" dirty="0">
                        <a:latin typeface="Roboto" charset="0"/>
                        <a:ea typeface="Roboto" charset="0"/>
                        <a:cs typeface="Roboto" charset="0"/>
                      </a:endParaRPr>
                    </a:p>
                  </a:txBody>
                  <a:tcPr marL="67390" marR="67390" marT="67390" marB="6739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6983">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November 2025</a:t>
                      </a:r>
                      <a:endParaRPr lang="en-US" sz="1516" dirty="0">
                        <a:latin typeface="Roboto" charset="0"/>
                        <a:ea typeface="Roboto" charset="0"/>
                        <a:cs typeface="Roboto" charset="0"/>
                      </a:endParaRPr>
                    </a:p>
                  </a:txBody>
                  <a:tcPr marL="67390" marR="67390" marT="67390" marB="6739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triple store evaluation report published</a:t>
                      </a:r>
                      <a:endParaRPr lang="en-US" sz="1516" dirty="0">
                        <a:latin typeface="Roboto" charset="0"/>
                        <a:ea typeface="Roboto" charset="0"/>
                        <a:cs typeface="Roboto" charset="0"/>
                      </a:endParaRPr>
                    </a:p>
                  </a:txBody>
                  <a:tcPr marL="67390" marR="67390" marT="67390" marB="6739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6983">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April 2026</a:t>
                      </a:r>
                      <a:endParaRPr lang="en-US" sz="1516" dirty="0">
                        <a:latin typeface="Roboto" charset="0"/>
                        <a:ea typeface="Roboto" charset="0"/>
                        <a:cs typeface="Roboto" charset="0"/>
                      </a:endParaRPr>
                    </a:p>
                  </a:txBody>
                  <a:tcPr marL="67390" marR="67390" marT="67390" marB="6739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contractor engaged for documentation and query rewriting</a:t>
                      </a:r>
                      <a:endParaRPr lang="en-US" sz="1516" dirty="0">
                        <a:latin typeface="Roboto" charset="0"/>
                        <a:ea typeface="Roboto" charset="0"/>
                        <a:cs typeface="Roboto" charset="0"/>
                      </a:endParaRPr>
                    </a:p>
                  </a:txBody>
                  <a:tcPr marL="67390" marR="67390" marT="67390" marB="6739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6983">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17–23 Oct 2026</a:t>
                      </a:r>
                      <a:endParaRPr lang="en-US" sz="1516" dirty="0">
                        <a:latin typeface="Roboto" charset="0"/>
                        <a:ea typeface="Roboto" charset="0"/>
                        <a:cs typeface="Roboto" charset="0"/>
                      </a:endParaRPr>
                    </a:p>
                  </a:txBody>
                  <a:tcPr marL="67390" marR="67390" marT="67390" marB="67390"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23"/>
                        </a:lnSpc>
                        <a:buNone/>
                      </a:pPr>
                      <a:r>
                        <a:rPr lang="en-US" sz="1516" dirty="0">
                          <a:solidFill>
                            <a:srgbClr val="000000"/>
                          </a:solidFill>
                          <a:latin typeface="Roboto" pitchFamily="34" charset="0"/>
                          <a:ea typeface="Roboto" pitchFamily="34" charset="-122"/>
                          <a:cs typeface="Roboto" pitchFamily="34" charset="-120"/>
                        </a:rPr>
                        <a:t>Query Service Days: the migration from Blazegraph to QLever</a:t>
                      </a:r>
                      <a:endParaRPr lang="en-US" sz="1516" dirty="0">
                        <a:latin typeface="Roboto" charset="0"/>
                        <a:ea typeface="Roboto" charset="0"/>
                        <a:cs typeface="Roboto" charset="0"/>
                      </a:endParaRPr>
                    </a:p>
                  </a:txBody>
                  <a:tcPr marL="67390" marR="67390" marT="67390" marB="67390"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bl>
          </a:graphicData>
        </a:graphic>
      </p:graphicFrame>
      <p:sp>
        <p:nvSpPr>
          <p:cNvPr id="12" name="Text 9"/>
          <p:cNvSpPr/>
          <p:nvPr/>
        </p:nvSpPr>
        <p:spPr>
          <a:xfrm>
            <a:off x="660400" y="5819352"/>
            <a:ext cx="11197336" cy="581448"/>
          </a:xfrm>
          <a:prstGeom prst="rect">
            <a:avLst/>
          </a:prstGeom>
          <a:noFill/>
          <a:ln/>
        </p:spPr>
        <p:txBody>
          <a:bodyPr wrap="square" lIns="0" tIns="0" rIns="0" bIns="0" rtlCol="0" anchor="t">
            <a:normAutofit/>
          </a:bodyPr>
          <a:lstStyle/>
          <a:p>
            <a:pPr marL="0" indent="0" algn="l">
              <a:lnSpc>
                <a:spcPts val="2212"/>
              </a:lnSpc>
              <a:buNone/>
            </a:pPr>
            <a:r>
              <a:rPr lang="en-US" sz="1580" b="1" dirty="0">
                <a:solidFill>
                  <a:srgbClr val="000000"/>
                </a:solidFill>
                <a:latin typeface="Roboto" pitchFamily="34" charset="0"/>
                <a:ea typeface="Roboto" pitchFamily="34" charset="-122"/>
                <a:cs typeface="Roboto" pitchFamily="34" charset="-120"/>
              </a:rPr>
              <a:t>Our backend problem is </a:t>
            </a:r>
            <a:r>
              <a:rPr lang="en-US" sz="1580" b="1" dirty="0">
                <a:solidFill>
                  <a:srgbClr val="38761D"/>
                </a:solidFill>
                <a:latin typeface="Roboto" pitchFamily="34" charset="0"/>
                <a:ea typeface="Roboto" pitchFamily="34" charset="-122"/>
                <a:cs typeface="Roboto" pitchFamily="34" charset="-120"/>
              </a:rPr>
              <a:t>the same problem the largest public SPARQL endpoint is solving</a:t>
            </a:r>
            <a:r>
              <a:rPr lang="en-US" sz="1580" b="1" dirty="0">
                <a:solidFill>
                  <a:srgbClr val="000000"/>
                </a:solidFill>
                <a:latin typeface="Roboto" pitchFamily="34" charset="0"/>
                <a:ea typeface="Roboto" pitchFamily="34" charset="-122"/>
                <a:cs typeface="Roboto" pitchFamily="34" charset="-120"/>
              </a:rPr>
              <a:t> — which is why porting Passage to QLever is worth doing now.</a:t>
            </a:r>
            <a:endParaRPr lang="en-US" sz="1580" dirty="0"/>
          </a:p>
        </p:txBody>
      </p:sp>
      <p:sp>
        <p:nvSpPr>
          <p:cNvPr id="13" name="Text 10"/>
          <p:cNvSpPr/>
          <p:nvPr/>
        </p:nvSpPr>
        <p:spPr>
          <a:xfrm>
            <a:off x="10744200" y="6347461"/>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An independent benchmark</a:t>
            </a:r>
            <a:endParaRPr lang="en-US" sz="4600" dirty="0"/>
          </a:p>
        </p:txBody>
      </p:sp>
      <p:sp>
        <p:nvSpPr>
          <p:cNvPr id="4" name="Text 2"/>
          <p:cNvSpPr/>
          <p:nvPr/>
        </p:nvSpPr>
        <p:spPr>
          <a:xfrm>
            <a:off x="660400" y="1358900"/>
            <a:ext cx="11197336" cy="5943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000000"/>
                </a:solidFill>
                <a:latin typeface="Roboto" pitchFamily="34" charset="0"/>
                <a:ea typeface="Roboto" pitchFamily="34" charset="-122"/>
                <a:cs typeface="Roboto" pitchFamily="34" charset="-120"/>
              </a:rPr>
              <a:t>Patel-Schneider, </a:t>
            </a:r>
            <a:r>
              <a:rPr lang="en-US" sz="1600" i="1" dirty="0">
                <a:solidFill>
                  <a:srgbClr val="000000"/>
                </a:solidFill>
                <a:latin typeface="Roboto" pitchFamily="34" charset="0"/>
                <a:ea typeface="Roboto" pitchFamily="34" charset="-122"/>
                <a:cs typeface="Roboto" pitchFamily="34" charset="-120"/>
              </a:rPr>
              <a:t>Benchmarking SPARQL Engines on Wikidata Queries</a:t>
            </a:r>
            <a:r>
              <a:rPr lang="en-US" sz="1600" dirty="0">
                <a:solidFill>
                  <a:srgbClr val="000000"/>
                </a:solidFill>
                <a:latin typeface="Roboto" pitchFamily="34" charset="0"/>
                <a:ea typeface="Roboto" pitchFamily="34" charset="-122"/>
                <a:cs typeface="Roboto" pitchFamily="34" charset="-120"/>
              </a:rPr>
              <a:t>, Wikidata Workshop at ISWC 2025. Wikidata of October 2024 — about </a:t>
            </a:r>
            <a:r>
              <a:rPr lang="en-US" sz="1600" b="1" dirty="0">
                <a:solidFill>
                  <a:srgbClr val="000000"/>
                </a:solidFill>
                <a:latin typeface="Roboto" pitchFamily="34" charset="0"/>
                <a:ea typeface="Roboto" pitchFamily="34" charset="-122"/>
                <a:cs typeface="Roboto" pitchFamily="34" charset="-120"/>
              </a:rPr>
              <a:t>20 billion triples</a:t>
            </a:r>
            <a:r>
              <a:rPr lang="en-US" sz="1600" dirty="0">
                <a:solidFill>
                  <a:srgbClr val="000000"/>
                </a:solidFill>
                <a:latin typeface="Roboto" pitchFamily="34" charset="0"/>
                <a:ea typeface="Roboto" pitchFamily="34" charset="-122"/>
                <a:cs typeface="Roboto" pitchFamily="34" charset="-120"/>
              </a:rPr>
              <a:t> — 298 WDQS queries, 10-minute timeout, 192 GB of RAM.</a:t>
            </a:r>
            <a:endParaRPr lang="en-US" sz="1600" dirty="0"/>
          </a:p>
        </p:txBody>
      </p:sp>
      <p:sp>
        <p:nvSpPr>
          <p:cNvPr id="5" name="Shape 3"/>
          <p:cNvSpPr/>
          <p:nvPr/>
        </p:nvSpPr>
        <p:spPr>
          <a:xfrm>
            <a:off x="11525250" y="2092961"/>
            <a:ext cx="0" cy="2438400"/>
          </a:xfrm>
          <a:prstGeom prst="line">
            <a:avLst/>
          </a:prstGeom>
          <a:noFill/>
          <a:ln w="12700">
            <a:solidFill>
              <a:srgbClr val="000000"/>
            </a:solidFill>
            <a:prstDash val="solid"/>
          </a:ln>
        </p:spPr>
      </p:sp>
      <p:sp>
        <p:nvSpPr>
          <p:cNvPr id="6" name="Shape 4"/>
          <p:cNvSpPr/>
          <p:nvPr/>
        </p:nvSpPr>
        <p:spPr>
          <a:xfrm>
            <a:off x="660400" y="4525011"/>
            <a:ext cx="10871200" cy="0"/>
          </a:xfrm>
          <a:prstGeom prst="line">
            <a:avLst/>
          </a:prstGeom>
          <a:noFill/>
          <a:ln w="12700">
            <a:solidFill>
              <a:srgbClr val="000000"/>
            </a:solidFill>
            <a:prstDash val="solid"/>
          </a:ln>
        </p:spPr>
      </p:sp>
      <p:sp>
        <p:nvSpPr>
          <p:cNvPr id="7" name="Shape 5"/>
          <p:cNvSpPr/>
          <p:nvPr/>
        </p:nvSpPr>
        <p:spPr>
          <a:xfrm>
            <a:off x="660400" y="2099311"/>
            <a:ext cx="10871200" cy="0"/>
          </a:xfrm>
          <a:prstGeom prst="line">
            <a:avLst/>
          </a:prstGeom>
          <a:noFill/>
          <a:ln w="12700">
            <a:solidFill>
              <a:srgbClr val="141413">
                <a:alpha val="22000"/>
              </a:srgbClr>
            </a:solidFill>
            <a:prstDash val="solid"/>
          </a:ln>
        </p:spPr>
      </p:sp>
      <p:sp>
        <p:nvSpPr>
          <p:cNvPr id="8" name="Shape 6"/>
          <p:cNvSpPr/>
          <p:nvPr/>
        </p:nvSpPr>
        <p:spPr>
          <a:xfrm>
            <a:off x="666750" y="2092961"/>
            <a:ext cx="0" cy="2438400"/>
          </a:xfrm>
          <a:prstGeom prst="line">
            <a:avLst/>
          </a:prstGeom>
          <a:noFill/>
          <a:ln w="12700">
            <a:solidFill>
              <a:srgbClr val="141413">
                <a:alpha val="22000"/>
              </a:srgbClr>
            </a:solidFill>
            <a:prstDash val="solid"/>
          </a:ln>
        </p:spPr>
      </p:sp>
      <p:graphicFrame>
        <p:nvGraphicFramePr>
          <p:cNvPr id="9" name="Table 0"/>
          <p:cNvGraphicFramePr>
            <a:graphicFrameLocks xmlns:a="http://schemas.openxmlformats.org/drawingml/2006/main" noGrp="1"/>
          </p:cNvGraphicFramePr>
          <p:nvPr/>
        </p:nvGraphicFramePr>
        <p:xfrm>
          <a:off x="781050" y="2213611"/>
          <a:ext cx="10629900" cy="2197100"/>
        </p:xfrm>
        <a:graphic>
          <a:graphicData uri="http://schemas.openxmlformats.org/drawingml/2006/table">
            <a:tbl>
              <a:tblPr/>
              <a:tblGrid>
                <a:gridCol w="3614166"/>
                <a:gridCol w="2338578"/>
                <a:gridCol w="2338578"/>
                <a:gridCol w="2338578"/>
              </a:tblGrid>
              <a:tr h="439420">
                <a:tc>
                  <a:txBody>
                    <a:bodyPr/>
                    <a:lstStyle/>
                    <a:p>
                      <a:pPr marL="0" indent="0">
                        <a:lnSpc>
                          <a:spcPts val="2240"/>
                        </a:lnSpc>
                        <a:buNone/>
                      </a:pPr>
                      <a:r>
                        <a:rPr lang="en-US" sz="1600" b="1" dirty="0">
                          <a:solidFill>
                            <a:srgbClr val="FFFFFF"/>
                          </a:solidFill>
                          <a:latin typeface="Roboto" pitchFamily="34" charset="0"/>
                          <a:ea typeface="Roboto" pitchFamily="34" charset="-122"/>
                          <a:cs typeface="Roboto" pitchFamily="34" charset="-120"/>
                        </a:rPr>
                        <a:t>engine</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240"/>
                        </a:lnSpc>
                        <a:buNone/>
                      </a:pPr>
                      <a:r>
                        <a:rPr lang="en-US" sz="1600" b="1" dirty="0">
                          <a:solidFill>
                            <a:srgbClr val="FFFFFF"/>
                          </a:solidFill>
                          <a:latin typeface="Roboto" pitchFamily="34" charset="0"/>
                          <a:ea typeface="Roboto" pitchFamily="34" charset="-122"/>
                          <a:cs typeface="Roboto" pitchFamily="34" charset="-120"/>
                        </a:rPr>
                        <a:t>median</a:t>
                      </a:r>
                      <a:endParaRPr lang="en-US" sz="1600" dirty="0">
                        <a:latin typeface="Roboto" charset="0"/>
                        <a:ea typeface="Roboto" charset="0"/>
                        <a:cs typeface="Roboto" charset="0"/>
                      </a:endParaRPr>
                    </a:p>
                  </a:txBody>
                  <a:tcPr marL="71120" marR="71120" marT="71120" marB="7112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240"/>
                        </a:lnSpc>
                        <a:buNone/>
                      </a:pPr>
                      <a:r>
                        <a:rPr lang="en-US" sz="1600" b="1" dirty="0">
                          <a:solidFill>
                            <a:srgbClr val="FFFFFF"/>
                          </a:solidFill>
                          <a:latin typeface="Roboto" pitchFamily="34" charset="0"/>
                          <a:ea typeface="Roboto" pitchFamily="34" charset="-122"/>
                          <a:cs typeface="Roboto" pitchFamily="34" charset="-120"/>
                        </a:rPr>
                        <a:t>mean</a:t>
                      </a:r>
                      <a:endParaRPr lang="en-US" sz="1600" dirty="0">
                        <a:latin typeface="Roboto" charset="0"/>
                        <a:ea typeface="Roboto" charset="0"/>
                        <a:cs typeface="Roboto" charset="0"/>
                      </a:endParaRPr>
                    </a:p>
                  </a:txBody>
                  <a:tcPr marL="71120" marR="71120" marT="71120" marB="7112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240"/>
                        </a:lnSpc>
                        <a:buNone/>
                      </a:pPr>
                      <a:r>
                        <a:rPr lang="en-US" sz="1600" b="1" dirty="0">
                          <a:solidFill>
                            <a:srgbClr val="FFFFFF"/>
                          </a:solidFill>
                          <a:latin typeface="Roboto" pitchFamily="34" charset="0"/>
                          <a:ea typeface="Roboto" pitchFamily="34" charset="-122"/>
                          <a:cs typeface="Roboto" pitchFamily="34" charset="-120"/>
                        </a:rPr>
                        <a:t>timeouts</a:t>
                      </a:r>
                      <a:endParaRPr lang="en-US" sz="1600" dirty="0">
                        <a:latin typeface="Roboto" charset="0"/>
                        <a:ea typeface="Roboto" charset="0"/>
                        <a:cs typeface="Roboto" charset="0"/>
                      </a:endParaRPr>
                    </a:p>
                  </a:txBody>
                  <a:tcPr marL="71120" marR="71120" marT="71120" marB="7112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QLever</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1C6CA"/>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1C6CA"/>
                      </a:solidFill>
                      <a:prstDash val="solid"/>
                      <a:round/>
                      <a:headEnd type="none" w="med" len="med"/>
                      <a:tailEnd type="none" w="med" len="med"/>
                    </a:lnB>
                    <a:solidFill>
                      <a:srgbClr val="F2F8FD"/>
                    </a:solidFill>
                  </a:tcPr>
                </a:tc>
                <a:tc>
                  <a:txBody>
                    <a:bodyPr/>
                    <a:lstStyle/>
                    <a:p>
                      <a:pPr marL="0" indent="0" algn="r">
                        <a:lnSpc>
                          <a:spcPts val="2240"/>
                        </a:lnSpc>
                        <a:buNone/>
                      </a:pPr>
                      <a:r>
                        <a:rPr lang="en-US" sz="1600" dirty="0">
                          <a:solidFill>
                            <a:srgbClr val="38761D"/>
                          </a:solidFill>
                          <a:latin typeface="Roboto" pitchFamily="34" charset="0"/>
                          <a:ea typeface="Roboto" pitchFamily="34" charset="-122"/>
                          <a:cs typeface="Roboto" pitchFamily="34" charset="-120"/>
                        </a:rPr>
                        <a:t>103 ms</a:t>
                      </a:r>
                      <a:endParaRPr lang="en-US" sz="1600" dirty="0">
                        <a:latin typeface="Roboto" charset="0"/>
                        <a:ea typeface="Roboto" charset="0"/>
                        <a:cs typeface="Roboto" charset="0"/>
                      </a:endParaRPr>
                    </a:p>
                  </a:txBody>
                  <a:tcPr marL="71120" marR="71120" marT="71120" marB="71120" anchor="t">
                    <a:lnL w="12700" cap="flat" cmpd="sng" algn="ctr">
                      <a:solidFill>
                        <a:srgbClr val="C1C6CA"/>
                      </a:solidFill>
                      <a:prstDash val="solid"/>
                      <a:round/>
                      <a:headEnd type="none" w="med" len="med"/>
                      <a:tailEnd type="none" w="med" len="med"/>
                    </a:lnL>
                    <a:lnR w="12700" cap="flat" cmpd="sng" algn="ctr">
                      <a:solidFill>
                        <a:srgbClr val="C1C6CA"/>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1C6CA"/>
                      </a:solidFill>
                      <a:prstDash val="solid"/>
                      <a:round/>
                      <a:headEnd type="none" w="med" len="med"/>
                      <a:tailEnd type="none" w="med" len="med"/>
                    </a:lnB>
                    <a:solidFill>
                      <a:srgbClr val="F2F8FD"/>
                    </a:solidFill>
                  </a:tcPr>
                </a:tc>
                <a:tc>
                  <a:txBody>
                    <a:bodyPr/>
                    <a:lstStyle/>
                    <a:p>
                      <a:pPr marL="0" indent="0" algn="r">
                        <a:lnSpc>
                          <a:spcPts val="2240"/>
                        </a:lnSpc>
                        <a:buNone/>
                      </a:pPr>
                      <a:r>
                        <a:rPr lang="en-US" sz="1600" dirty="0">
                          <a:solidFill>
                            <a:srgbClr val="38761D"/>
                          </a:solidFill>
                          <a:latin typeface="Roboto" pitchFamily="34" charset="0"/>
                          <a:ea typeface="Roboto" pitchFamily="34" charset="-122"/>
                          <a:cs typeface="Roboto" pitchFamily="34" charset="-120"/>
                        </a:rPr>
                        <a:t>4,583 ms</a:t>
                      </a:r>
                      <a:endParaRPr lang="en-US" sz="1600" dirty="0">
                        <a:latin typeface="Roboto" charset="0"/>
                        <a:ea typeface="Roboto" charset="0"/>
                        <a:cs typeface="Roboto" charset="0"/>
                      </a:endParaRPr>
                    </a:p>
                  </a:txBody>
                  <a:tcPr marL="71120" marR="71120" marT="71120" marB="71120" anchor="t">
                    <a:lnL w="12700" cap="flat" cmpd="sng" algn="ctr">
                      <a:solidFill>
                        <a:srgbClr val="C1C6CA"/>
                      </a:solidFill>
                      <a:prstDash val="solid"/>
                      <a:round/>
                      <a:headEnd type="none" w="med" len="med"/>
                      <a:tailEnd type="none" w="med" len="med"/>
                    </a:lnL>
                    <a:lnR w="12700" cap="flat" cmpd="sng" algn="ctr">
                      <a:solidFill>
                        <a:srgbClr val="C1C6CA"/>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1C6CA"/>
                      </a:solidFill>
                      <a:prstDash val="solid"/>
                      <a:round/>
                      <a:headEnd type="none" w="med" len="med"/>
                      <a:tailEnd type="none" w="med" len="med"/>
                    </a:lnB>
                    <a:solidFill>
                      <a:srgbClr val="F2F8FD"/>
                    </a:solidFill>
                  </a:tcPr>
                </a:tc>
                <a:tc>
                  <a:txBody>
                    <a:bodyPr/>
                    <a:lstStyle/>
                    <a:p>
                      <a:pPr marL="0" indent="0" algn="r">
                        <a:lnSpc>
                          <a:spcPts val="2240"/>
                        </a:lnSpc>
                        <a:buNone/>
                      </a:pPr>
                      <a:r>
                        <a:rPr lang="en-US" sz="1600" dirty="0">
                          <a:solidFill>
                            <a:srgbClr val="38761D"/>
                          </a:solidFill>
                          <a:latin typeface="Roboto" pitchFamily="34" charset="0"/>
                          <a:ea typeface="Roboto" pitchFamily="34" charset="-122"/>
                          <a:cs typeface="Roboto" pitchFamily="34" charset="-120"/>
                        </a:rPr>
                        <a:t>0</a:t>
                      </a:r>
                      <a:endParaRPr lang="en-US" sz="1600" dirty="0">
                        <a:latin typeface="Roboto" charset="0"/>
                        <a:ea typeface="Roboto" charset="0"/>
                        <a:cs typeface="Roboto" charset="0"/>
                      </a:endParaRPr>
                    </a:p>
                  </a:txBody>
                  <a:tcPr marL="71120" marR="71120" marT="71120" marB="71120" anchor="t">
                    <a:lnL w="12700" cap="flat" cmpd="sng" algn="ctr">
                      <a:solidFill>
                        <a:srgbClr val="C1C6CA"/>
                      </a:solidFill>
                      <a:prstDash val="solid"/>
                      <a:round/>
                      <a:headEnd type="none" w="med" len="med"/>
                      <a:tailEnd type="none" w="med" len="med"/>
                    </a:lnL>
                    <a:lnR w="12700" cap="flat" cmpd="sng" algn="ctr">
                      <a:solidFill>
                        <a:srgbClr val="C1C6CA"/>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1C6CA"/>
                      </a:solidFill>
                      <a:prstDash val="solid"/>
                      <a:round/>
                      <a:headEnd type="none" w="med" len="med"/>
                      <a:tailEnd type="none" w="med" len="med"/>
                    </a:lnB>
                    <a:solidFill>
                      <a:srgbClr val="F2F8FD"/>
                    </a:solidFill>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Virtuoso</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1C6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461 ms</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1C6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14,645 ms</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1C6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2</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1C6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Blazegraph</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511 ms</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12,560 ms</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1</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MillenniumDB</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588 ms</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103,271 ms</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FF0000"/>
                          </a:solidFill>
                          <a:latin typeface="Roboto" pitchFamily="34" charset="0"/>
                          <a:ea typeface="Roboto" pitchFamily="34" charset="-122"/>
                          <a:cs typeface="Roboto" pitchFamily="34" charset="-120"/>
                        </a:rPr>
                        <a:t>43</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Text 7"/>
          <p:cNvSpPr/>
          <p:nvPr/>
        </p:nvSpPr>
        <p:spPr>
          <a:xfrm>
            <a:off x="660400" y="4696461"/>
            <a:ext cx="11197336" cy="318770"/>
          </a:xfrm>
          <a:prstGeom prst="rect">
            <a:avLst/>
          </a:prstGeom>
          <a:noFill/>
          <a:ln/>
        </p:spPr>
        <p:txBody>
          <a:bodyPr wrap="square" lIns="0" tIns="0" rIns="0" bIns="0" rtlCol="0" anchor="t">
            <a:normAutofit/>
          </a:bodyPr>
          <a:lstStyle/>
          <a:p>
            <a:pPr marL="0" indent="0" algn="l">
              <a:lnSpc>
                <a:spcPts val="2310"/>
              </a:lnSpc>
              <a:buNone/>
            </a:pPr>
            <a:r>
              <a:rPr lang="en-US" sz="1650" b="1" dirty="0">
                <a:solidFill>
                  <a:srgbClr val="000000"/>
                </a:solidFill>
                <a:latin typeface="Roboto" pitchFamily="34" charset="0"/>
                <a:ea typeface="Roboto" pitchFamily="34" charset="-122"/>
                <a:cs typeface="Roboto" pitchFamily="34" charset="-120"/>
              </a:rPr>
              <a:t>Loading the same dump: QLever </a:t>
            </a:r>
            <a:r>
              <a:rPr lang="en-US" sz="1650" b="1" dirty="0">
                <a:solidFill>
                  <a:srgbClr val="38761D"/>
                </a:solidFill>
                <a:latin typeface="Roboto" pitchFamily="34" charset="0"/>
                <a:ea typeface="Roboto" pitchFamily="34" charset="-122"/>
                <a:cs typeface="Roboto" pitchFamily="34" charset="-120"/>
              </a:rPr>
              <a:t>about 4.5 hours</a:t>
            </a:r>
            <a:r>
              <a:rPr lang="en-US" sz="1650" b="1" dirty="0">
                <a:solidFill>
                  <a:srgbClr val="000000"/>
                </a:solidFill>
                <a:latin typeface="Roboto" pitchFamily="34" charset="0"/>
                <a:ea typeface="Roboto" pitchFamily="34" charset="-122"/>
                <a:cs typeface="Roboto" pitchFamily="34" charset="-120"/>
              </a:rPr>
              <a:t>, Blazegraph </a:t>
            </a:r>
            <a:r>
              <a:rPr lang="en-US" sz="1650" b="1" dirty="0">
                <a:solidFill>
                  <a:srgbClr val="FF0000"/>
                </a:solidFill>
                <a:latin typeface="Roboto" pitchFamily="34" charset="0"/>
                <a:ea typeface="Roboto" pitchFamily="34" charset="-122"/>
                <a:cs typeface="Roboto" pitchFamily="34" charset="-120"/>
              </a:rPr>
              <a:t>over 10 days — and the first attempt failed</a:t>
            </a:r>
            <a:r>
              <a:rPr lang="en-US" sz="1650" b="1" dirty="0">
                <a:solidFill>
                  <a:srgbClr val="000000"/>
                </a:solidFill>
                <a:latin typeface="Roboto" pitchFamily="34" charset="0"/>
                <a:ea typeface="Roboto" pitchFamily="34" charset="-122"/>
                <a:cs typeface="Roboto" pitchFamily="34" charset="-120"/>
              </a:rPr>
              <a:t>.</a:t>
            </a:r>
            <a:endParaRPr lang="en-US" sz="1650" dirty="0"/>
          </a:p>
        </p:txBody>
      </p:sp>
      <p:sp>
        <p:nvSpPr>
          <p:cNvPr id="11" name="Text 8"/>
          <p:cNvSpPr/>
          <p:nvPr/>
        </p:nvSpPr>
        <p:spPr>
          <a:xfrm>
            <a:off x="660400" y="5154930"/>
            <a:ext cx="11197336"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000000"/>
                </a:solidFill>
                <a:latin typeface="Roboto" pitchFamily="34" charset="0"/>
                <a:ea typeface="Roboto" pitchFamily="34" charset="-122"/>
                <a:cs typeface="Roboto" pitchFamily="34" charset="-120"/>
              </a:rPr>
              <a:t>All four engines deviate from the SPARQL standard in places. QLever is the fastest of the four.</a:t>
            </a:r>
            <a:endParaRPr lang="en-US" sz="1500" dirty="0"/>
          </a:p>
        </p:txBody>
      </p:sp>
      <p:sp>
        <p:nvSpPr>
          <p:cNvPr id="12" name="Text 9"/>
          <p:cNvSpPr/>
          <p:nvPr/>
        </p:nvSpPr>
        <p:spPr>
          <a:xfrm>
            <a:off x="10744200" y="6347461"/>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An index on disk</a:t>
            </a:r>
            <a:endParaRPr lang="en-US" sz="4600" dirty="0"/>
          </a:p>
        </p:txBody>
      </p:sp>
      <p:sp>
        <p:nvSpPr>
          <p:cNvPr id="4" name="Shape 2"/>
          <p:cNvSpPr/>
          <p:nvPr/>
        </p:nvSpPr>
        <p:spPr>
          <a:xfrm>
            <a:off x="11525250" y="1409700"/>
            <a:ext cx="0" cy="4487333"/>
          </a:xfrm>
          <a:prstGeom prst="line">
            <a:avLst/>
          </a:prstGeom>
          <a:noFill/>
          <a:ln w="12700">
            <a:solidFill>
              <a:srgbClr val="000000"/>
            </a:solidFill>
            <a:prstDash val="solid"/>
          </a:ln>
        </p:spPr>
      </p:sp>
      <p:sp>
        <p:nvSpPr>
          <p:cNvPr id="5" name="Shape 3"/>
          <p:cNvSpPr/>
          <p:nvPr/>
        </p:nvSpPr>
        <p:spPr>
          <a:xfrm>
            <a:off x="660400" y="5890683"/>
            <a:ext cx="10871200" cy="0"/>
          </a:xfrm>
          <a:prstGeom prst="line">
            <a:avLst/>
          </a:prstGeom>
          <a:noFill/>
          <a:ln w="12700">
            <a:solidFill>
              <a:srgbClr val="000000"/>
            </a:solidFill>
            <a:prstDash val="solid"/>
          </a:ln>
        </p:spPr>
      </p:sp>
      <p:sp>
        <p:nvSpPr>
          <p:cNvPr id="6" name="Shape 4"/>
          <p:cNvSpPr/>
          <p:nvPr/>
        </p:nvSpPr>
        <p:spPr>
          <a:xfrm>
            <a:off x="660400" y="1416050"/>
            <a:ext cx="10871200" cy="0"/>
          </a:xfrm>
          <a:prstGeom prst="line">
            <a:avLst/>
          </a:prstGeom>
          <a:noFill/>
          <a:ln w="12700">
            <a:solidFill>
              <a:srgbClr val="141413">
                <a:alpha val="22000"/>
              </a:srgbClr>
            </a:solidFill>
            <a:prstDash val="solid"/>
          </a:ln>
        </p:spPr>
      </p:sp>
      <p:sp>
        <p:nvSpPr>
          <p:cNvPr id="7" name="Shape 5"/>
          <p:cNvSpPr/>
          <p:nvPr/>
        </p:nvSpPr>
        <p:spPr>
          <a:xfrm>
            <a:off x="666750" y="1409700"/>
            <a:ext cx="0" cy="4487333"/>
          </a:xfrm>
          <a:prstGeom prst="line">
            <a:avLst/>
          </a:prstGeom>
          <a:noFill/>
          <a:ln w="12700">
            <a:solidFill>
              <a:srgbClr val="141413">
                <a:alpha val="22000"/>
              </a:srgbClr>
            </a:solidFill>
            <a:prstDash val="solid"/>
          </a:ln>
        </p:spPr>
      </p:sp>
      <p:graphicFrame>
        <p:nvGraphicFramePr>
          <p:cNvPr id="8" name="Table 0"/>
          <p:cNvGraphicFramePr>
            <a:graphicFrameLocks xmlns:a="http://schemas.openxmlformats.org/drawingml/2006/main" noGrp="1"/>
          </p:cNvGraphicFramePr>
          <p:nvPr/>
        </p:nvGraphicFramePr>
        <p:xfrm>
          <a:off x="774700" y="1524000"/>
          <a:ext cx="10642600" cy="4258733"/>
        </p:xfrm>
        <a:graphic>
          <a:graphicData uri="http://schemas.openxmlformats.org/drawingml/2006/table">
            <a:tbl>
              <a:tblPr/>
              <a:tblGrid>
                <a:gridCol w="4469892"/>
                <a:gridCol w="4576318"/>
                <a:gridCol w="1596390"/>
              </a:tblGrid>
              <a:tr h="434234">
                <a:tc>
                  <a:txBody>
                    <a:bodyPr/>
                    <a:lstStyle/>
                    <a:p>
                      <a:pPr marL="0" indent="0">
                        <a:lnSpc>
                          <a:spcPts val="2062"/>
                        </a:lnSpc>
                        <a:buNone/>
                      </a:pPr>
                      <a:r>
                        <a:rPr lang="en-US" sz="1473" b="1" dirty="0">
                          <a:solidFill>
                            <a:srgbClr val="FFFFFF"/>
                          </a:solidFill>
                          <a:latin typeface="Roboto" pitchFamily="34" charset="0"/>
                          <a:ea typeface="Roboto" pitchFamily="34" charset="-122"/>
                          <a:cs typeface="Roboto" pitchFamily="34" charset="-120"/>
                        </a:rPr>
                        <a:t>file</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062"/>
                        </a:lnSpc>
                        <a:buNone/>
                      </a:pPr>
                      <a:r>
                        <a:rPr lang="en-US" sz="1473" b="1" dirty="0">
                          <a:solidFill>
                            <a:srgbClr val="FFFFFF"/>
                          </a:solidFill>
                          <a:latin typeface="Roboto" pitchFamily="34" charset="0"/>
                          <a:ea typeface="Roboto" pitchFamily="34" charset="-122"/>
                          <a:cs typeface="Roboto" pitchFamily="34" charset="-120"/>
                        </a:rPr>
                        <a:t>what it holds</a:t>
                      </a:r>
                      <a:endParaRPr lang="en-US" sz="1473" dirty="0">
                        <a:latin typeface="Roboto" charset="0"/>
                        <a:ea typeface="Roboto" charset="0"/>
                        <a:cs typeface="Roboto" charset="0"/>
                      </a:endParaRPr>
                    </a:p>
                  </a:txBody>
                  <a:tcPr marL="65453" marR="65453" marT="65453" marB="65453"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062"/>
                        </a:lnSpc>
                        <a:buNone/>
                      </a:pPr>
                      <a:r>
                        <a:rPr lang="en-US" sz="1473" b="1" dirty="0">
                          <a:solidFill>
                            <a:srgbClr val="FFFFFF"/>
                          </a:solidFill>
                          <a:latin typeface="Roboto" pitchFamily="34" charset="0"/>
                          <a:ea typeface="Roboto" pitchFamily="34" charset="-122"/>
                          <a:cs typeface="Roboto" pitchFamily="34" charset="-120"/>
                        </a:rPr>
                        <a:t>size</a:t>
                      </a:r>
                      <a:endParaRPr lang="en-US" sz="1473" dirty="0">
                        <a:latin typeface="Roboto" charset="0"/>
                        <a:ea typeface="Roboto" charset="0"/>
                        <a:cs typeface="Roboto" charset="0"/>
                      </a:endParaRPr>
                    </a:p>
                  </a:txBody>
                  <a:tcPr marL="65453" marR="65453" marT="65453" marB="65453"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695960">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watdiv10m.index.pso</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compressed blocks, then the per-block metadata at the end of the same file</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47.5 MB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4234">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watdiv10m.index.pso.meta</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per-relation metadata</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992 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4234">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 and the same for 5 other permutations</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POS, SPO, SOP, OPS, OSP</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258 MB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95960">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watdiv10m.vocabulary.words.external</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the strings themselves, plus a file of offsets into them</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36 MB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4128">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watdiv10m.vocabulary.words.internal</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the words kept in RAM, plus their ids and codebooks</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53 kB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4128">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watdiv10m.internal.index.pso / .pos</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QLever’s own triples (patterns, graph names)</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1.7 MB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95854">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watdiv10m.meta-data.json</a:t>
                      </a:r>
                      <a:endParaRPr lang="en-US" sz="1473" dirty="0">
                        <a:latin typeface="Roboto" charset="0"/>
                        <a:ea typeface="Roboto" charset="0"/>
                        <a:cs typeface="Roboto" charset="0"/>
                      </a:endParaRPr>
                    </a:p>
                  </a:txBody>
                  <a:tcPr marL="65453" marR="65453" marT="65453" marB="6545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62"/>
                        </a:lnSpc>
                        <a:buNone/>
                      </a:pPr>
                      <a:r>
                        <a:rPr lang="en-US" sz="1473" dirty="0">
                          <a:solidFill>
                            <a:srgbClr val="000000"/>
                          </a:solidFill>
                          <a:latin typeface="Roboto" pitchFamily="34" charset="0"/>
                          <a:ea typeface="Roboto" pitchFamily="34" charset="-122"/>
                          <a:cs typeface="Roboto" pitchFamily="34" charset="-120"/>
                        </a:rPr>
                        <a:t>build settings: locale, prefixes, index-rows-per-block, format version</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062"/>
                        </a:lnSpc>
                        <a:buNone/>
                      </a:pPr>
                      <a:r>
                        <a:rPr lang="en-US" sz="1473" dirty="0">
                          <a:solidFill>
                            <a:srgbClr val="000000"/>
                          </a:solidFill>
                          <a:latin typeface="Roboto" pitchFamily="34" charset="0"/>
                          <a:ea typeface="Roboto" pitchFamily="34" charset="-122"/>
                          <a:cs typeface="Roboto" pitchFamily="34" charset="-120"/>
                        </a:rPr>
                        <a:t>809 B</a:t>
                      </a:r>
                      <a:endParaRPr lang="en-US" sz="1473" dirty="0">
                        <a:latin typeface="Roboto" charset="0"/>
                        <a:ea typeface="Roboto" charset="0"/>
                        <a:cs typeface="Roboto" charset="0"/>
                      </a:endParaRPr>
                    </a:p>
                  </a:txBody>
                  <a:tcPr marL="65453" marR="65453" marT="65453" marB="6545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6"/>
          <p:cNvSpPr/>
          <p:nvPr/>
        </p:nvSpPr>
        <p:spPr>
          <a:xfrm>
            <a:off x="660400" y="6074832"/>
            <a:ext cx="11197336" cy="300567"/>
          </a:xfrm>
          <a:prstGeom prst="rect">
            <a:avLst/>
          </a:prstGeom>
          <a:noFill/>
          <a:ln/>
        </p:spPr>
        <p:txBody>
          <a:bodyPr wrap="square" lIns="0" tIns="0" rIns="0" bIns="0" rtlCol="0" anchor="t">
            <a:normAutofit/>
          </a:bodyPr>
          <a:lstStyle/>
          <a:p>
            <a:pPr marL="0" indent="0" algn="l">
              <a:lnSpc>
                <a:spcPts val="2173"/>
              </a:lnSpc>
              <a:buNone/>
            </a:pPr>
            <a:r>
              <a:rPr lang="en-US" sz="1610" b="1" dirty="0">
                <a:solidFill>
                  <a:srgbClr val="000000"/>
                </a:solidFill>
                <a:latin typeface="Roboto" pitchFamily="34" charset="0"/>
                <a:ea typeface="Roboto" pitchFamily="34" charset="-122"/>
                <a:cs typeface="Roboto" pitchFamily="34" charset="-120"/>
              </a:rPr>
              <a:t>10,916,457 triples — </a:t>
            </a:r>
            <a:r>
              <a:rPr lang="en-US" sz="1610" b="1" dirty="0">
                <a:solidFill>
                  <a:srgbClr val="38761D"/>
                </a:solidFill>
                <a:latin typeface="Roboto" pitchFamily="34" charset="0"/>
                <a:ea typeface="Roboto" pitchFamily="34" charset="-122"/>
                <a:cs typeface="Roboto" pitchFamily="34" charset="-120"/>
              </a:rPr>
              <a:t>285 MB in total</a:t>
            </a:r>
            <a:r>
              <a:rPr lang="en-US" sz="1610" b="1" dirty="0">
                <a:solidFill>
                  <a:srgbClr val="000000"/>
                </a:solidFill>
                <a:latin typeface="Roboto" pitchFamily="34" charset="0"/>
                <a:ea typeface="Roboto" pitchFamily="34" charset="-122"/>
                <a:cs typeface="Roboto" pitchFamily="34" charset="-120"/>
              </a:rPr>
              <a:t>, against 1.7 GB for the same data in Blazegraph.</a:t>
            </a:r>
            <a:endParaRPr lang="en-US" sz="1610" dirty="0"/>
          </a:p>
        </p:txBody>
      </p:sp>
      <p:sp>
        <p:nvSpPr>
          <p:cNvPr id="10" name="Text 7"/>
          <p:cNvSpPr/>
          <p:nvPr/>
        </p:nvSpPr>
        <p:spPr>
          <a:xfrm>
            <a:off x="10744200" y="6322061"/>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Before the triples: the Id</a:t>
            </a:r>
            <a:endParaRPr lang="en-US" sz="4600" dirty="0"/>
          </a:p>
        </p:txBody>
      </p:sp>
      <p:sp>
        <p:nvSpPr>
          <p:cNvPr id="4" name="Text 2"/>
          <p:cNvSpPr/>
          <p:nvPr/>
        </p:nvSpPr>
        <p:spPr>
          <a:xfrm>
            <a:off x="660400" y="1358900"/>
            <a:ext cx="11197336" cy="612140"/>
          </a:xfrm>
          <a:prstGeom prst="rect">
            <a:avLst/>
          </a:prstGeom>
          <a:noFill/>
          <a:ln/>
        </p:spPr>
        <p:txBody>
          <a:bodyPr wrap="square" lIns="0" tIns="0" rIns="0" bIns="0" rtlCol="0" anchor="t">
            <a:normAutofit/>
          </a:bodyPr>
          <a:lstStyle/>
          <a:p>
            <a:pPr marL="0" indent="0" algn="l">
              <a:lnSpc>
                <a:spcPts val="2310"/>
              </a:lnSpc>
              <a:buNone/>
            </a:pPr>
            <a:r>
              <a:rPr lang="en-US" sz="1650" dirty="0">
                <a:solidFill>
                  <a:srgbClr val="000000"/>
                </a:solidFill>
                <a:latin typeface="Roboto" pitchFamily="34" charset="0"/>
                <a:ea typeface="Roboto" pitchFamily="34" charset="-122"/>
                <a:cs typeface="Roboto" pitchFamily="34" charset="-120"/>
              </a:rPr>
              <a:t>A permutation stores no strings, only </a:t>
            </a:r>
            <a:r>
              <a:rPr lang="en-US" sz="1650" b="1" dirty="0">
                <a:solidFill>
                  <a:srgbClr val="000000"/>
                </a:solidFill>
                <a:latin typeface="Roboto" pitchFamily="34" charset="0"/>
                <a:ea typeface="Roboto" pitchFamily="34" charset="-122"/>
                <a:cs typeface="Roboto" pitchFamily="34" charset="-120"/>
              </a:rPr>
              <a:t>64-bit Ids</a:t>
            </a:r>
            <a:r>
              <a:rPr lang="en-US" sz="1650" dirty="0">
                <a:solidFill>
                  <a:srgbClr val="000000"/>
                </a:solidFill>
                <a:latin typeface="Roboto" pitchFamily="34" charset="0"/>
                <a:ea typeface="Roboto" pitchFamily="34" charset="-122"/>
                <a:cs typeface="Roboto" pitchFamily="34" charset="-120"/>
              </a:rPr>
              <a:t>: </a:t>
            </a:r>
            <a:r>
              <a:rPr lang="en-US" sz="1650" b="1" dirty="0">
                <a:solidFill>
                  <a:srgbClr val="0084D1"/>
                </a:solidFill>
                <a:latin typeface="Roboto" pitchFamily="34" charset="0"/>
                <a:ea typeface="Roboto" pitchFamily="34" charset="-122"/>
                <a:cs typeface="Roboto" pitchFamily="34" charset="-120"/>
              </a:rPr>
              <a:t>4 bits of datatype</a:t>
            </a:r>
            <a:r>
              <a:rPr lang="en-US" sz="1650" dirty="0">
                <a:solidFill>
                  <a:srgbClr val="000000"/>
                </a:solidFill>
                <a:latin typeface="Roboto" pitchFamily="34" charset="0"/>
                <a:ea typeface="Roboto" pitchFamily="34" charset="-122"/>
                <a:cs typeface="Roboto" pitchFamily="34" charset="-120"/>
              </a:rPr>
              <a:t> and </a:t>
            </a:r>
            <a:r>
              <a:rPr lang="en-US" sz="1650" b="1" dirty="0">
                <a:solidFill>
                  <a:srgbClr val="38761D"/>
                </a:solidFill>
                <a:latin typeface="Roboto" pitchFamily="34" charset="0"/>
                <a:ea typeface="Roboto" pitchFamily="34" charset="-122"/>
                <a:cs typeface="Roboto" pitchFamily="34" charset="-120"/>
              </a:rPr>
              <a:t>60 bits of value</a:t>
            </a:r>
            <a:r>
              <a:rPr lang="en-US" sz="1650" dirty="0">
                <a:solidFill>
                  <a:srgbClr val="000000"/>
                </a:solidFill>
                <a:latin typeface="Roboto" pitchFamily="34" charset="0"/>
                <a:ea typeface="Roboto" pitchFamily="34" charset="-122"/>
                <a:cs typeface="Roboto" pitchFamily="34" charset="-120"/>
              </a:rPr>
              <a:t> — 13 datatypes defined of the 16 the tag allows.</a:t>
            </a:r>
            <a:endParaRPr lang="en-US" sz="1650" dirty="0"/>
          </a:p>
        </p:txBody>
      </p:sp>
      <p:sp>
        <p:nvSpPr>
          <p:cNvPr id="5" name="Text 3"/>
          <p:cNvSpPr/>
          <p:nvPr/>
        </p:nvSpPr>
        <p:spPr>
          <a:xfrm>
            <a:off x="666750" y="2091689"/>
            <a:ext cx="1892300" cy="774700"/>
          </a:xfrm>
          <a:prstGeom prst="rect">
            <a:avLst/>
          </a:prstGeom>
          <a:solidFill>
            <a:srgbClr val="0084D1"/>
          </a:solidFill>
          <a:ln w="12700">
            <a:solidFill>
              <a:srgbClr val="000000"/>
            </a:solidFill>
            <a:prstDash val="solid"/>
          </a:ln>
        </p:spPr>
        <p:txBody>
          <a:bodyPr wrap="square" lIns="95250" tIns="6350" rIns="95250" bIns="6350" rtlCol="0" anchor="ctr">
            <a:normAutofit/>
          </a:bodyPr>
          <a:lstStyle/>
          <a:p>
            <a:pPr marL="0" indent="0" algn="ctr">
              <a:lnSpc>
                <a:spcPts val="2100"/>
              </a:lnSpc>
              <a:buNone/>
            </a:pPr>
            <a:r>
              <a:rPr lang="en-US" sz="1500" b="1" dirty="0">
                <a:solidFill>
                  <a:srgbClr val="FFFFFF"/>
                </a:solidFill>
                <a:latin typeface="Roboto" pitchFamily="34" charset="0"/>
                <a:ea typeface="Roboto" pitchFamily="34" charset="-122"/>
                <a:cs typeface="Roboto" pitchFamily="34" charset="-120"/>
              </a:rPr>
              <a:t>4 bits</a:t>
            </a:r>
            <a:endParaRPr lang="en-US" sz="1500" dirty="0"/>
          </a:p>
          <a:p>
            <a:pPr marL="0" indent="0" algn="ctr">
              <a:lnSpc>
                <a:spcPts val="2100"/>
              </a:lnSpc>
              <a:buNone/>
            </a:pPr>
            <a:r>
              <a:rPr lang="en-US" sz="1500" b="1" dirty="0">
                <a:solidFill>
                  <a:srgbClr val="FFFFFF"/>
                </a:solidFill>
                <a:latin typeface="Roboto" pitchFamily="34" charset="0"/>
                <a:ea typeface="Roboto" pitchFamily="34" charset="-122"/>
                <a:cs typeface="Roboto" pitchFamily="34" charset="-120"/>
              </a:rPr>
              <a:t>datatype</a:t>
            </a:r>
            <a:endParaRPr lang="en-US" sz="1500" dirty="0"/>
          </a:p>
        </p:txBody>
      </p:sp>
      <p:sp>
        <p:nvSpPr>
          <p:cNvPr id="6" name="Text 4"/>
          <p:cNvSpPr/>
          <p:nvPr/>
        </p:nvSpPr>
        <p:spPr>
          <a:xfrm>
            <a:off x="2673350" y="2091689"/>
            <a:ext cx="8851900" cy="774700"/>
          </a:xfrm>
          <a:prstGeom prst="rect">
            <a:avLst/>
          </a:prstGeom>
          <a:solidFill>
            <a:srgbClr val="D9EAD3"/>
          </a:solidFill>
          <a:ln w="12700">
            <a:solidFill>
              <a:srgbClr val="000000"/>
            </a:solidFill>
            <a:prstDash val="solid"/>
          </a:ln>
        </p:spPr>
        <p:txBody>
          <a:bodyPr wrap="square" lIns="0" tIns="6350" rIns="0" bIns="6350" rtlCol="0" anchor="ctr">
            <a:normAutofit/>
          </a:bodyPr>
          <a:lstStyle/>
          <a:p>
            <a:pPr marL="0" indent="0" algn="ctr">
              <a:lnSpc>
                <a:spcPts val="2100"/>
              </a:lnSpc>
              <a:buNone/>
            </a:pPr>
            <a:r>
              <a:rPr lang="en-US" sz="1500" b="1" dirty="0">
                <a:solidFill>
                  <a:srgbClr val="000000"/>
                </a:solidFill>
                <a:latin typeface="Roboto" pitchFamily="34" charset="0"/>
                <a:ea typeface="Roboto" pitchFamily="34" charset="-122"/>
                <a:cs typeface="Roboto" pitchFamily="34" charset="-120"/>
              </a:rPr>
              <a:t>60 bits — a value, or an index into the vocabulary (max 2</a:t>
            </a:r>
            <a:r>
              <a:rPr lang="en-US" sz="1500" b="1" dirty="0">
                <a:solidFill>
                  <a:srgbClr val="000000"/>
                </a:solidFill>
                <a:latin typeface="Roboto" pitchFamily="34" charset="0"/>
                <a:ea typeface="Roboto" pitchFamily="34" charset="-122"/>
                <a:cs typeface="Roboto" pitchFamily="34" charset="-120"/>
              </a:rPr>
              <a:t>⁶⁰</a:t>
            </a:r>
            <a:r>
              <a:rPr lang="en-US" sz="1500" b="1" dirty="0">
                <a:solidFill>
                  <a:srgbClr val="000000"/>
                </a:solidFill>
                <a:latin typeface="Roboto" pitchFamily="34" charset="0"/>
                <a:ea typeface="Roboto" pitchFamily="34" charset="-122"/>
                <a:cs typeface="Roboto" pitchFamily="34" charset="-120"/>
              </a:rPr>
              <a:t>−1)</a:t>
            </a:r>
            <a:endParaRPr lang="en-US" sz="1500" dirty="0"/>
          </a:p>
        </p:txBody>
      </p:sp>
      <p:sp>
        <p:nvSpPr>
          <p:cNvPr id="7" name="Shape 5"/>
          <p:cNvSpPr/>
          <p:nvPr/>
        </p:nvSpPr>
        <p:spPr>
          <a:xfrm>
            <a:off x="11525250" y="3012439"/>
            <a:ext cx="0" cy="1800860"/>
          </a:xfrm>
          <a:prstGeom prst="line">
            <a:avLst/>
          </a:prstGeom>
          <a:noFill/>
          <a:ln w="12700">
            <a:solidFill>
              <a:srgbClr val="000000"/>
            </a:solidFill>
            <a:prstDash val="solid"/>
          </a:ln>
        </p:spPr>
      </p:sp>
      <p:sp>
        <p:nvSpPr>
          <p:cNvPr id="8" name="Shape 6"/>
          <p:cNvSpPr/>
          <p:nvPr/>
        </p:nvSpPr>
        <p:spPr>
          <a:xfrm>
            <a:off x="660400" y="4806949"/>
            <a:ext cx="10871200" cy="0"/>
          </a:xfrm>
          <a:prstGeom prst="line">
            <a:avLst/>
          </a:prstGeom>
          <a:noFill/>
          <a:ln w="12700">
            <a:solidFill>
              <a:srgbClr val="000000"/>
            </a:solidFill>
            <a:prstDash val="solid"/>
          </a:ln>
        </p:spPr>
      </p:sp>
      <p:sp>
        <p:nvSpPr>
          <p:cNvPr id="9" name="Shape 7"/>
          <p:cNvSpPr/>
          <p:nvPr/>
        </p:nvSpPr>
        <p:spPr>
          <a:xfrm>
            <a:off x="660400" y="3018789"/>
            <a:ext cx="10871200" cy="0"/>
          </a:xfrm>
          <a:prstGeom prst="line">
            <a:avLst/>
          </a:prstGeom>
          <a:noFill/>
          <a:ln w="12700">
            <a:solidFill>
              <a:srgbClr val="141413">
                <a:alpha val="22000"/>
              </a:srgbClr>
            </a:solidFill>
            <a:prstDash val="solid"/>
          </a:ln>
        </p:spPr>
      </p:sp>
      <p:sp>
        <p:nvSpPr>
          <p:cNvPr id="10" name="Shape 8"/>
          <p:cNvSpPr/>
          <p:nvPr/>
        </p:nvSpPr>
        <p:spPr>
          <a:xfrm>
            <a:off x="666750" y="3012439"/>
            <a:ext cx="0" cy="1800860"/>
          </a:xfrm>
          <a:prstGeom prst="line">
            <a:avLst/>
          </a:prstGeom>
          <a:noFill/>
          <a:ln w="12700">
            <a:solidFill>
              <a:srgbClr val="141413">
                <a:alpha val="22000"/>
              </a:srgbClr>
            </a:solidFill>
            <a:prstDash val="solid"/>
          </a:ln>
        </p:spPr>
      </p:sp>
      <p:graphicFrame>
        <p:nvGraphicFramePr>
          <p:cNvPr id="11" name="Table 0"/>
          <p:cNvGraphicFramePr>
            <a:graphicFrameLocks xmlns:a="http://schemas.openxmlformats.org/drawingml/2006/main" noGrp="1"/>
          </p:cNvGraphicFramePr>
          <p:nvPr/>
        </p:nvGraphicFramePr>
        <p:xfrm>
          <a:off x="762000" y="3114039"/>
          <a:ext cx="10668000" cy="1597660"/>
        </p:xfrm>
        <a:graphic>
          <a:graphicData uri="http://schemas.openxmlformats.org/drawingml/2006/table">
            <a:tbl>
              <a:tblPr/>
              <a:tblGrid>
                <a:gridCol w="4267200"/>
                <a:gridCol w="6400800"/>
              </a:tblGrid>
              <a:tr h="399415">
                <a:tc>
                  <a:txBody>
                    <a:bodyPr/>
                    <a:lstStyle/>
                    <a:p>
                      <a:pPr marL="0" indent="0">
                        <a:lnSpc>
                          <a:spcPts val="2030"/>
                        </a:lnSpc>
                        <a:buNone/>
                      </a:pPr>
                      <a:r>
                        <a:rPr lang="en-US" sz="1450" b="1" dirty="0">
                          <a:solidFill>
                            <a:srgbClr val="FFFFFF"/>
                          </a:solidFill>
                          <a:latin typeface="Roboto" pitchFamily="34" charset="0"/>
                          <a:ea typeface="Roboto" pitchFamily="34" charset="-122"/>
                          <a:cs typeface="Roboto" pitchFamily="34" charset="-120"/>
                        </a:rPr>
                        <a:t>datatype</a:t>
                      </a:r>
                      <a:endParaRPr lang="en-US" sz="1450" dirty="0">
                        <a:latin typeface="Roboto" charset="0"/>
                        <a:ea typeface="Roboto" charset="0"/>
                        <a:cs typeface="Roboto" charset="0"/>
                      </a:endParaRPr>
                    </a:p>
                  </a:txBody>
                  <a:tcPr marL="64452" marR="64452" marT="64452" marB="64452"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030"/>
                        </a:lnSpc>
                        <a:buNone/>
                      </a:pPr>
                      <a:r>
                        <a:rPr lang="en-US" sz="1450" b="1" dirty="0">
                          <a:solidFill>
                            <a:srgbClr val="FFFFFF"/>
                          </a:solidFill>
                          <a:latin typeface="Roboto" pitchFamily="34" charset="0"/>
                          <a:ea typeface="Roboto" pitchFamily="34" charset="-122"/>
                          <a:cs typeface="Roboto" pitchFamily="34" charset="-120"/>
                        </a:rPr>
                        <a:t>where the value lives</a:t>
                      </a:r>
                      <a:endParaRPr lang="en-US" sz="1450" dirty="0">
                        <a:latin typeface="Roboto" charset="0"/>
                        <a:ea typeface="Roboto" charset="0"/>
                        <a:cs typeface="Roboto" charset="0"/>
                      </a:endParaRPr>
                    </a:p>
                  </a:txBody>
                  <a:tcPr marL="64452" marR="64452" marT="64452" marB="64452"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399415">
                <a:tc>
                  <a:txBody>
                    <a:bodyPr/>
                    <a:lstStyle/>
                    <a:p>
                      <a:pPr marL="0" indent="0">
                        <a:lnSpc>
                          <a:spcPts val="2030"/>
                        </a:lnSpc>
                        <a:buNone/>
                      </a:pPr>
                      <a:r>
                        <a:rPr lang="en-US" sz="1450" dirty="0">
                          <a:solidFill>
                            <a:srgbClr val="000000"/>
                          </a:solidFill>
                          <a:latin typeface="Roboto" pitchFamily="34" charset="0"/>
                          <a:ea typeface="Roboto" pitchFamily="34" charset="-122"/>
                          <a:cs typeface="Roboto" pitchFamily="34" charset="-120"/>
                        </a:rPr>
                        <a:t>Int · Double · Bool · Date · GeoPoint</a:t>
                      </a:r>
                      <a:endParaRPr lang="en-US" sz="1450" dirty="0">
                        <a:latin typeface="Roboto" charset="0"/>
                        <a:ea typeface="Roboto" charset="0"/>
                        <a:cs typeface="Roboto" charset="0"/>
                      </a:endParaRPr>
                    </a:p>
                  </a:txBody>
                  <a:tcPr marL="64452" marR="64452" marT="64452" marB="64452"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30"/>
                        </a:lnSpc>
                        <a:buNone/>
                      </a:pPr>
                      <a:r>
                        <a:rPr lang="en-US" sz="1450" dirty="0">
                          <a:solidFill>
                            <a:srgbClr val="000000"/>
                          </a:solidFill>
                          <a:latin typeface="Roboto" pitchFamily="34" charset="0"/>
                          <a:ea typeface="Roboto" pitchFamily="34" charset="-122"/>
                          <a:cs typeface="Roboto" pitchFamily="34" charset="-120"/>
                        </a:rPr>
                        <a:t>inside the Id — no lookup, and they compare and sort directly</a:t>
                      </a:r>
                      <a:endParaRPr lang="en-US" sz="1450" dirty="0">
                        <a:latin typeface="Roboto" charset="0"/>
                        <a:ea typeface="Roboto" charset="0"/>
                        <a:cs typeface="Roboto" charset="0"/>
                      </a:endParaRPr>
                    </a:p>
                  </a:txBody>
                  <a:tcPr marL="64452" marR="64452" marT="64452" marB="64452"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99415">
                <a:tc>
                  <a:txBody>
                    <a:bodyPr/>
                    <a:lstStyle/>
                    <a:p>
                      <a:pPr marL="0" indent="0">
                        <a:lnSpc>
                          <a:spcPts val="2030"/>
                        </a:lnSpc>
                        <a:buNone/>
                      </a:pPr>
                      <a:r>
                        <a:rPr lang="en-US" sz="1450" dirty="0">
                          <a:solidFill>
                            <a:srgbClr val="000000"/>
                          </a:solidFill>
                          <a:latin typeface="Roboto" pitchFamily="34" charset="0"/>
                          <a:ea typeface="Roboto" pitchFamily="34" charset="-122"/>
                          <a:cs typeface="Roboto" pitchFamily="34" charset="-120"/>
                        </a:rPr>
                        <a:t>EncodedVal</a:t>
                      </a:r>
                      <a:endParaRPr lang="en-US" sz="1450" dirty="0">
                        <a:latin typeface="Roboto" charset="0"/>
                        <a:ea typeface="Roboto" charset="0"/>
                        <a:cs typeface="Roboto" charset="0"/>
                      </a:endParaRPr>
                    </a:p>
                  </a:txBody>
                  <a:tcPr marL="64452" marR="64452" marT="64452" marB="64452"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30"/>
                        </a:lnSpc>
                        <a:buNone/>
                      </a:pPr>
                      <a:r>
                        <a:rPr lang="en-US" sz="1450" dirty="0">
                          <a:solidFill>
                            <a:srgbClr val="000000"/>
                          </a:solidFill>
                          <a:latin typeface="Roboto" pitchFamily="34" charset="0"/>
                          <a:ea typeface="Roboto" pitchFamily="34" charset="-122"/>
                          <a:cs typeface="Roboto" pitchFamily="34" charset="-120"/>
                        </a:rPr>
                        <a:t>IRIs under a configured prefix, encoded in the Id itself</a:t>
                      </a:r>
                      <a:endParaRPr lang="en-US" sz="1450" dirty="0">
                        <a:latin typeface="Roboto" charset="0"/>
                        <a:ea typeface="Roboto" charset="0"/>
                        <a:cs typeface="Roboto" charset="0"/>
                      </a:endParaRPr>
                    </a:p>
                  </a:txBody>
                  <a:tcPr marL="64452" marR="64452" marT="64452" marB="64452"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99415">
                <a:tc>
                  <a:txBody>
                    <a:bodyPr/>
                    <a:lstStyle/>
                    <a:p>
                      <a:pPr marL="0" indent="0">
                        <a:lnSpc>
                          <a:spcPts val="2030"/>
                        </a:lnSpc>
                        <a:buNone/>
                      </a:pPr>
                      <a:r>
                        <a:rPr lang="en-US" sz="1450" dirty="0">
                          <a:solidFill>
                            <a:srgbClr val="000000"/>
                          </a:solidFill>
                          <a:latin typeface="Roboto" pitchFamily="34" charset="0"/>
                          <a:ea typeface="Roboto" pitchFamily="34" charset="-122"/>
                          <a:cs typeface="Roboto" pitchFamily="34" charset="-120"/>
                        </a:rPr>
                        <a:t>VocabIndex · LocalVocabIndex · BlankNodeIndex</a:t>
                      </a:r>
                      <a:endParaRPr lang="en-US" sz="1450" dirty="0">
                        <a:latin typeface="Roboto" charset="0"/>
                        <a:ea typeface="Roboto" charset="0"/>
                        <a:cs typeface="Roboto" charset="0"/>
                      </a:endParaRPr>
                    </a:p>
                  </a:txBody>
                  <a:tcPr marL="64452" marR="64452" marT="64452" marB="64452"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030"/>
                        </a:lnSpc>
                        <a:buNone/>
                      </a:pPr>
                      <a:r>
                        <a:rPr lang="en-US" sz="1450" dirty="0">
                          <a:solidFill>
                            <a:srgbClr val="000000"/>
                          </a:solidFill>
                          <a:latin typeface="Roboto" pitchFamily="34" charset="0"/>
                          <a:ea typeface="Roboto" pitchFamily="34" charset="-122"/>
                          <a:cs typeface="Roboto" pitchFamily="34" charset="-120"/>
                        </a:rPr>
                        <a:t>an index into the vocabulary — a lookup</a:t>
                      </a:r>
                      <a:endParaRPr lang="en-US" sz="1450" dirty="0">
                        <a:latin typeface="Roboto" charset="0"/>
                        <a:ea typeface="Roboto" charset="0"/>
                        <a:cs typeface="Roboto" charset="0"/>
                      </a:endParaRPr>
                    </a:p>
                  </a:txBody>
                  <a:tcPr marL="64452" marR="64452" marT="64452" marB="64452"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2" name="Text 9"/>
          <p:cNvSpPr/>
          <p:nvPr/>
        </p:nvSpPr>
        <p:spPr>
          <a:xfrm>
            <a:off x="660400" y="4953000"/>
            <a:ext cx="11197336"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00000"/>
                </a:solidFill>
                <a:latin typeface="Roboto" pitchFamily="34" charset="0"/>
                <a:ea typeface="Roboto" pitchFamily="34" charset="-122"/>
                <a:cs typeface="Roboto" pitchFamily="34" charset="-120"/>
              </a:rPr>
              <a:t>The vocabulary is split: </a:t>
            </a:r>
            <a:r>
              <a:rPr lang="en-US" sz="1500" b="1" dirty="0">
                <a:solidFill>
                  <a:srgbClr val="000000"/>
                </a:solidFill>
                <a:latin typeface="Roboto" pitchFamily="34" charset="0"/>
                <a:ea typeface="Roboto" pitchFamily="34" charset="-122"/>
                <a:cs typeface="Roboto" pitchFamily="34" charset="-120"/>
              </a:rPr>
              <a:t>internal</a:t>
            </a:r>
            <a:r>
              <a:rPr lang="en-US" sz="1500" dirty="0">
                <a:solidFill>
                  <a:srgbClr val="000000"/>
                </a:solidFill>
                <a:latin typeface="Roboto" pitchFamily="34" charset="0"/>
                <a:ea typeface="Roboto" pitchFamily="34" charset="-122"/>
                <a:cs typeface="Roboto" pitchFamily="34" charset="-120"/>
              </a:rPr>
              <a:t> in RAM (53 kB here) and </a:t>
            </a:r>
            <a:r>
              <a:rPr lang="en-US" sz="1500" b="1" dirty="0">
                <a:solidFill>
                  <a:srgbClr val="000000"/>
                </a:solidFill>
                <a:latin typeface="Roboto" pitchFamily="34" charset="0"/>
                <a:ea typeface="Roboto" pitchFamily="34" charset="-122"/>
                <a:cs typeface="Roboto" pitchFamily="34" charset="-120"/>
              </a:rPr>
              <a:t>external</a:t>
            </a:r>
            <a:r>
              <a:rPr lang="en-US" sz="1500" dirty="0">
                <a:solidFill>
                  <a:srgbClr val="000000"/>
                </a:solidFill>
                <a:latin typeface="Roboto" pitchFamily="34" charset="0"/>
                <a:ea typeface="Roboto" pitchFamily="34" charset="-122"/>
                <a:cs typeface="Roboto" pitchFamily="34" charset="-120"/>
              </a:rPr>
              <a:t> on disk (27.7 MB of words plus 8.4 MB of offsets). Ids are assigned so that </a:t>
            </a:r>
            <a:r>
              <a:rPr lang="en-US" sz="1500" b="1" dirty="0">
                <a:solidFill>
                  <a:srgbClr val="000000"/>
                </a:solidFill>
                <a:latin typeface="Roboto" pitchFamily="34" charset="0"/>
                <a:ea typeface="Roboto" pitchFamily="34" charset="-122"/>
                <a:cs typeface="Roboto" pitchFamily="34" charset="-120"/>
              </a:rPr>
              <a:t>their order is the strings’ order</a:t>
            </a:r>
            <a:r>
              <a:rPr lang="en-US" sz="1500" dirty="0">
                <a:solidFill>
                  <a:srgbClr val="000000"/>
                </a:solidFill>
                <a:latin typeface="Roboto" pitchFamily="34" charset="0"/>
                <a:ea typeface="Roboto" pitchFamily="34" charset="-122"/>
                <a:cs typeface="Roboto" pitchFamily="34" charset="-120"/>
              </a:rPr>
              <a:t>, which is what makes a prefix or a range a contiguous scan.</a:t>
            </a:r>
            <a:endParaRPr lang="en-US" sz="1500" dirty="0"/>
          </a:p>
        </p:txBody>
      </p:sp>
      <p:sp>
        <p:nvSpPr>
          <p:cNvPr id="13" name="Text 10"/>
          <p:cNvSpPr/>
          <p:nvPr/>
        </p:nvSpPr>
        <p:spPr>
          <a:xfrm>
            <a:off x="660400" y="5626100"/>
            <a:ext cx="11197336" cy="45466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95959"/>
                </a:solidFill>
                <a:latin typeface="Roboto" pitchFamily="34" charset="0"/>
                <a:ea typeface="Roboto" pitchFamily="34" charset="-122"/>
                <a:cs typeface="Roboto" pitchFamily="34" charset="-120"/>
              </a:rPr>
              <a:t>Published: wiki, “Internal and external vocabulary” and “QLever’s IDs for IRIs and literals” — conceptual, dated 2022, and it says the scheme “will soon be updated”. The 4/60 split is from the source.</a:t>
            </a:r>
            <a:endParaRPr lang="en-US" sz="1300" dirty="0"/>
          </a:p>
        </p:txBody>
      </p:sp>
      <p:sp>
        <p:nvSpPr>
          <p:cNvPr id="14" name="Text 11"/>
          <p:cNvSpPr/>
          <p:nvPr/>
        </p:nvSpPr>
        <p:spPr>
          <a:xfrm>
            <a:off x="10744200" y="6347461"/>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Id order </a:t>
            </a:r>
            <a:r>
              <a:rPr lang="en-US" sz="4600" b="1" i="1" dirty="0">
                <a:solidFill>
                  <a:srgbClr val="FFFFFF"/>
                </a:solidFill>
                <a:latin typeface="Roboto Slab" pitchFamily="18" charset="0"/>
                <a:ea typeface="Roboto Slab" pitchFamily="18" charset="-122"/>
                <a:cs typeface="Roboto Slab" pitchFamily="18" charset="-120"/>
              </a:rPr>
              <a:t>is</a:t>
            </a:r>
            <a:r>
              <a:rPr lang="en-US" sz="4600" b="1" i="0" dirty="0">
                <a:solidFill>
                  <a:srgbClr val="FFFFFF"/>
                </a:solidFill>
                <a:latin typeface="Roboto Slab" pitchFamily="18" charset="0"/>
                <a:ea typeface="Roboto Slab" pitchFamily="18" charset="-122"/>
                <a:cs typeface="Roboto Slab" pitchFamily="18" charset="-120"/>
              </a:rPr>
              <a:t> value order</a:t>
            </a:r>
            <a:endParaRPr lang="en-US" sz="4600" dirty="0"/>
          </a:p>
        </p:txBody>
      </p:sp>
      <p:sp>
        <p:nvSpPr>
          <p:cNvPr id="4" name="Text 2"/>
          <p:cNvSpPr/>
          <p:nvPr/>
        </p:nvSpPr>
        <p:spPr>
          <a:xfrm>
            <a:off x="660400" y="1346200"/>
            <a:ext cx="11197336" cy="556895"/>
          </a:xfrm>
          <a:prstGeom prst="rect">
            <a:avLst/>
          </a:prstGeom>
          <a:noFill/>
          <a:ln/>
        </p:spPr>
        <p:txBody>
          <a:bodyPr wrap="square" lIns="0" tIns="0" rIns="0" bIns="0" rtlCol="0" anchor="t">
            <a:normAutofit/>
          </a:bodyPr>
          <a:lstStyle/>
          <a:p>
            <a:pPr marL="0" indent="0" algn="l">
              <a:lnSpc>
                <a:spcPts val="2093"/>
              </a:lnSpc>
              <a:buNone/>
            </a:pPr>
            <a:r>
              <a:rPr lang="en-US" sz="1550" dirty="0">
                <a:solidFill>
                  <a:srgbClr val="000000"/>
                </a:solidFill>
                <a:latin typeface="Roboto" pitchFamily="34" charset="0"/>
                <a:ea typeface="Roboto" pitchFamily="34" charset="-122"/>
                <a:cs typeface="Roboto" pitchFamily="34" charset="-120"/>
              </a:rPr>
              <a:t>Permutations are sorted by a plain </a:t>
            </a:r>
            <a:r>
              <a:rPr lang="en-US" sz="1550" b="1" dirty="0">
                <a:solidFill>
                  <a:srgbClr val="000000"/>
                </a:solidFill>
                <a:latin typeface="Roboto" pitchFamily="34" charset="0"/>
                <a:ea typeface="Roboto" pitchFamily="34" charset="-122"/>
                <a:cs typeface="Roboto" pitchFamily="34" charset="-120"/>
              </a:rPr>
              <a:t>64-bit integer compare on the Id</a:t>
            </a:r>
            <a:r>
              <a:rPr lang="en-US" sz="1550" dirty="0">
                <a:solidFill>
                  <a:srgbClr val="000000"/>
                </a:solidFill>
                <a:latin typeface="Roboto" pitchFamily="34" charset="0"/>
                <a:ea typeface="Roboto" pitchFamily="34" charset="-122"/>
                <a:cs typeface="Roboto" pitchFamily="34" charset="-120"/>
              </a:rPr>
              <a:t>. No string is ever compared. The order still comes out right, because the Ids are handed out that way.</a:t>
            </a:r>
            <a:endParaRPr lang="en-US" sz="1550" dirty="0"/>
          </a:p>
        </p:txBody>
      </p:sp>
      <p:sp>
        <p:nvSpPr>
          <p:cNvPr id="5" name="Shape 3"/>
          <p:cNvSpPr/>
          <p:nvPr/>
        </p:nvSpPr>
        <p:spPr>
          <a:xfrm>
            <a:off x="666750" y="2011046"/>
            <a:ext cx="5334000" cy="3399790"/>
          </a:xfrm>
          <a:prstGeom prst="rect">
            <a:avLst/>
          </a:prstGeom>
          <a:noFill/>
          <a:ln w="12700">
            <a:solidFill>
              <a:srgbClr val="000000"/>
            </a:solidFill>
            <a:prstDash val="solid"/>
          </a:ln>
        </p:spPr>
      </p:sp>
      <p:sp>
        <p:nvSpPr>
          <p:cNvPr id="6" name="Text 4"/>
          <p:cNvSpPr/>
          <p:nvPr/>
        </p:nvSpPr>
        <p:spPr>
          <a:xfrm>
            <a:off x="673100" y="2017396"/>
            <a:ext cx="5321300" cy="379730"/>
          </a:xfrm>
          <a:prstGeom prst="rect">
            <a:avLst/>
          </a:prstGeom>
          <a:solidFill>
            <a:srgbClr val="0084D1"/>
          </a:solidFill>
          <a:ln/>
        </p:spPr>
        <p:txBody>
          <a:bodyPr wrap="square" lIns="0" tIns="69850" rIns="0" bIns="44450" rtlCol="0" anchor="t">
            <a:normAutofit/>
          </a:bodyPr>
          <a:lstStyle/>
          <a:p>
            <a:pPr marL="0" indent="0" algn="ctr">
              <a:lnSpc>
                <a:spcPts val="1890"/>
              </a:lnSpc>
              <a:buNone/>
            </a:pPr>
            <a:r>
              <a:rPr lang="en-US" sz="1350" b="1" dirty="0">
                <a:solidFill>
                  <a:srgbClr val="FFFFFF"/>
                </a:solidFill>
                <a:latin typeface="Roboto" pitchFamily="34" charset="0"/>
                <a:ea typeface="Roboto" pitchFamily="34" charset="-122"/>
                <a:cs typeface="Roboto" pitchFamily="34" charset="-120"/>
              </a:rPr>
              <a:t>Count the payload up, read the strings out</a:t>
            </a:r>
            <a:endParaRPr lang="en-US" sz="1350" dirty="0"/>
          </a:p>
        </p:txBody>
      </p:sp>
      <p:sp>
        <p:nvSpPr>
          <p:cNvPr id="7" name="Shape 5"/>
          <p:cNvSpPr/>
          <p:nvPr/>
        </p:nvSpPr>
        <p:spPr>
          <a:xfrm>
            <a:off x="673100" y="2403475"/>
            <a:ext cx="5321300" cy="0"/>
          </a:xfrm>
          <a:prstGeom prst="line">
            <a:avLst/>
          </a:prstGeom>
          <a:noFill/>
          <a:ln w="12700">
            <a:solidFill>
              <a:srgbClr val="141413">
                <a:alpha val="22000"/>
              </a:srgbClr>
            </a:solidFill>
            <a:prstDash val="solid"/>
          </a:ln>
        </p:spPr>
      </p:sp>
      <p:sp>
        <p:nvSpPr>
          <p:cNvPr id="8" name="Shape 6"/>
          <p:cNvSpPr/>
          <p:nvPr/>
        </p:nvSpPr>
        <p:spPr>
          <a:xfrm>
            <a:off x="679450" y="2397125"/>
            <a:ext cx="0" cy="2443480"/>
          </a:xfrm>
          <a:prstGeom prst="line">
            <a:avLst/>
          </a:prstGeom>
          <a:noFill/>
          <a:ln w="12700">
            <a:solidFill>
              <a:srgbClr val="141413">
                <a:alpha val="22000"/>
              </a:srgbClr>
            </a:solidFill>
            <a:prstDash val="solid"/>
          </a:ln>
        </p:spPr>
      </p:sp>
      <p:graphicFrame>
        <p:nvGraphicFramePr>
          <p:cNvPr id="9" name="Table 0"/>
          <p:cNvGraphicFramePr>
            <a:graphicFrameLocks xmlns:a="http://schemas.openxmlformats.org/drawingml/2006/main" noGrp="1"/>
          </p:cNvGraphicFramePr>
          <p:nvPr/>
        </p:nvGraphicFramePr>
        <p:xfrm>
          <a:off x="730250" y="2454275"/>
          <a:ext cx="5219700" cy="2341880"/>
        </p:xfrm>
        <a:graphic>
          <a:graphicData uri="http://schemas.openxmlformats.org/drawingml/2006/table">
            <a:tbl>
              <a:tblPr/>
              <a:tblGrid>
                <a:gridCol w="2401062"/>
                <a:gridCol w="2818638"/>
              </a:tblGrid>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4000000000000000</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&lt;http://ex.org/H1&gt;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4000000000000001</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&lt;http://ex.org/H2&gt;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4000000000000002</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&lt;http://ex.org/H3&gt;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4000000000000003</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&lt;http://ex.org/Human&gt;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4000000000000004</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&lt;http://ex.org/O1&gt;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4000000000000006</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&lt;http://ex.org/O3&gt;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4000000000000007</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&lt;http://ex.org/occupation&gt;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4000000000000008</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&lt;http://ex.org/type&gt;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Text 7"/>
          <p:cNvSpPr/>
          <p:nvPr/>
        </p:nvSpPr>
        <p:spPr>
          <a:xfrm>
            <a:off x="749300" y="4916804"/>
            <a:ext cx="5323967"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000000"/>
                </a:solidFill>
                <a:latin typeface="Roboto" pitchFamily="34" charset="0"/>
                <a:ea typeface="Roboto" pitchFamily="34" charset="-122"/>
                <a:cs typeface="Roboto" pitchFamily="34" charset="-120"/>
              </a:rPr>
              <a:t>Byte-wise lexicographic: </a:t>
            </a:r>
            <a:r>
              <a:rPr lang="en-US" sz="1200" b="1" dirty="0">
                <a:solidFill>
                  <a:srgbClr val="000000"/>
                </a:solidFill>
                <a:latin typeface="Roboto" pitchFamily="34" charset="0"/>
                <a:ea typeface="Roboto" pitchFamily="34" charset="-122"/>
                <a:cs typeface="Roboto" pitchFamily="34" charset="-120"/>
              </a:rPr>
              <a:t>H3 &lt; Human</a:t>
            </a:r>
            <a:r>
              <a:rPr lang="en-US" sz="1200" dirty="0">
                <a:solidFill>
                  <a:srgbClr val="000000"/>
                </a:solidFill>
                <a:latin typeface="Roboto" pitchFamily="34" charset="0"/>
                <a:ea typeface="Roboto" pitchFamily="34" charset="-122"/>
                <a:cs typeface="Roboto" pitchFamily="34" charset="-120"/>
              </a:rPr>
              <a:t> because </a:t>
            </a:r>
            <a:r>
              <a:rPr lang="en-US" sz="1200" b="1" dirty="0">
                <a:solidFill>
                  <a:srgbClr val="000000"/>
                </a:solidFill>
                <a:latin typeface="Roboto" pitchFamily="34" charset="0"/>
                <a:ea typeface="Roboto" pitchFamily="34" charset="-122"/>
                <a:cs typeface="Roboto" pitchFamily="34" charset="-120"/>
              </a:rPr>
              <a:t>‘3’ &lt; ‘u’</a:t>
            </a:r>
            <a:r>
              <a:rPr lang="en-US" sz="1200" dirty="0">
                <a:solidFill>
                  <a:srgbClr val="000000"/>
                </a:solidFill>
                <a:latin typeface="Roboto" pitchFamily="34" charset="0"/>
                <a:ea typeface="Roboto" pitchFamily="34" charset="-122"/>
                <a:cs typeface="Roboto" pitchFamily="34" charset="-120"/>
              </a:rPr>
              <a:t>, </a:t>
            </a:r>
            <a:r>
              <a:rPr lang="en-US" sz="1200" b="1" dirty="0">
                <a:solidFill>
                  <a:srgbClr val="000000"/>
                </a:solidFill>
                <a:latin typeface="Roboto" pitchFamily="34" charset="0"/>
                <a:ea typeface="Roboto" pitchFamily="34" charset="-122"/>
                <a:cs typeface="Roboto" pitchFamily="34" charset="-120"/>
              </a:rPr>
              <a:t>O3 &lt; occupation</a:t>
            </a:r>
            <a:r>
              <a:rPr lang="en-US" sz="1200" dirty="0">
                <a:solidFill>
                  <a:srgbClr val="000000"/>
                </a:solidFill>
                <a:latin typeface="Roboto" pitchFamily="34" charset="0"/>
                <a:ea typeface="Roboto" pitchFamily="34" charset="-122"/>
                <a:cs typeface="Roboto" pitchFamily="34" charset="-120"/>
              </a:rPr>
              <a:t> because </a:t>
            </a:r>
            <a:r>
              <a:rPr lang="en-US" sz="1200" b="1" dirty="0">
                <a:solidFill>
                  <a:srgbClr val="000000"/>
                </a:solidFill>
                <a:latin typeface="Roboto" pitchFamily="34" charset="0"/>
                <a:ea typeface="Roboto" pitchFamily="34" charset="-122"/>
                <a:cs typeface="Roboto" pitchFamily="34" charset="-120"/>
              </a:rPr>
              <a:t>‘O’ &lt; ‘o’</a:t>
            </a:r>
            <a:r>
              <a:rPr lang="en-US" sz="1200" dirty="0">
                <a:solidFill>
                  <a:srgbClr val="000000"/>
                </a:solidFill>
                <a:latin typeface="Roboto" pitchFamily="34" charset="0"/>
                <a:ea typeface="Roboto" pitchFamily="34" charset="-122"/>
                <a:cs typeface="Roboto" pitchFamily="34" charset="-120"/>
              </a:rPr>
              <a:t>.</a:t>
            </a:r>
            <a:endParaRPr lang="en-US" sz="1200" dirty="0"/>
          </a:p>
        </p:txBody>
      </p:sp>
      <p:sp>
        <p:nvSpPr>
          <p:cNvPr id="11" name="Shape 8"/>
          <p:cNvSpPr/>
          <p:nvPr/>
        </p:nvSpPr>
        <p:spPr>
          <a:xfrm>
            <a:off x="6191250" y="2011046"/>
            <a:ext cx="5334000" cy="3399790"/>
          </a:xfrm>
          <a:prstGeom prst="rect">
            <a:avLst/>
          </a:prstGeom>
          <a:noFill/>
          <a:ln w="12700">
            <a:solidFill>
              <a:srgbClr val="000000"/>
            </a:solidFill>
            <a:prstDash val="solid"/>
          </a:ln>
        </p:spPr>
      </p:sp>
      <p:sp>
        <p:nvSpPr>
          <p:cNvPr id="12" name="Text 9"/>
          <p:cNvSpPr/>
          <p:nvPr/>
        </p:nvSpPr>
        <p:spPr>
          <a:xfrm>
            <a:off x="6197600" y="2017396"/>
            <a:ext cx="5321300" cy="379730"/>
          </a:xfrm>
          <a:prstGeom prst="rect">
            <a:avLst/>
          </a:prstGeom>
          <a:solidFill>
            <a:srgbClr val="0084D1"/>
          </a:solidFill>
          <a:ln/>
        </p:spPr>
        <p:txBody>
          <a:bodyPr wrap="square" lIns="0" tIns="69850" rIns="0" bIns="44450" rtlCol="0" anchor="t">
            <a:normAutofit/>
          </a:bodyPr>
          <a:lstStyle/>
          <a:p>
            <a:pPr marL="0" indent="0" algn="ctr">
              <a:lnSpc>
                <a:spcPts val="1890"/>
              </a:lnSpc>
              <a:buNone/>
            </a:pPr>
            <a:r>
              <a:rPr lang="en-US" sz="1350" b="1" dirty="0">
                <a:solidFill>
                  <a:srgbClr val="FFFFFF"/>
                </a:solidFill>
                <a:latin typeface="Roboto" pitchFamily="34" charset="0"/>
                <a:ea typeface="Roboto" pitchFamily="34" charset="-122"/>
                <a:cs typeface="Roboto" pitchFamily="34" charset="-120"/>
              </a:rPr>
              <a:t>The 4-bit tag decides the group</a:t>
            </a:r>
            <a:endParaRPr lang="en-US" sz="1350" dirty="0"/>
          </a:p>
        </p:txBody>
      </p:sp>
      <p:sp>
        <p:nvSpPr>
          <p:cNvPr id="13" name="Shape 10"/>
          <p:cNvSpPr/>
          <p:nvPr/>
        </p:nvSpPr>
        <p:spPr>
          <a:xfrm>
            <a:off x="6197600" y="2403475"/>
            <a:ext cx="5321300" cy="0"/>
          </a:xfrm>
          <a:prstGeom prst="line">
            <a:avLst/>
          </a:prstGeom>
          <a:noFill/>
          <a:ln w="12700">
            <a:solidFill>
              <a:srgbClr val="141413">
                <a:alpha val="22000"/>
              </a:srgbClr>
            </a:solidFill>
            <a:prstDash val="solid"/>
          </a:ln>
        </p:spPr>
      </p:sp>
      <p:sp>
        <p:nvSpPr>
          <p:cNvPr id="14" name="Shape 11"/>
          <p:cNvSpPr/>
          <p:nvPr/>
        </p:nvSpPr>
        <p:spPr>
          <a:xfrm>
            <a:off x="6203950" y="2397125"/>
            <a:ext cx="0" cy="1565275"/>
          </a:xfrm>
          <a:prstGeom prst="line">
            <a:avLst/>
          </a:prstGeom>
          <a:noFill/>
          <a:ln w="12700">
            <a:solidFill>
              <a:srgbClr val="141413">
                <a:alpha val="22000"/>
              </a:srgbClr>
            </a:solidFill>
            <a:prstDash val="solid"/>
          </a:ln>
        </p:spPr>
      </p:sp>
      <p:graphicFrame>
        <p:nvGraphicFramePr>
          <p:cNvPr id="15" name="Table 1"/>
          <p:cNvGraphicFramePr>
            <a:graphicFrameLocks xmlns:a="http://schemas.openxmlformats.org/drawingml/2006/main" noGrp="1"/>
          </p:cNvGraphicFramePr>
          <p:nvPr/>
        </p:nvGraphicFramePr>
        <p:xfrm>
          <a:off x="6254750" y="2454275"/>
          <a:ext cx="5219700" cy="1463675"/>
        </p:xfrm>
        <a:graphic>
          <a:graphicData uri="http://schemas.openxmlformats.org/drawingml/2006/table">
            <a:tbl>
              <a:tblPr/>
              <a:tblGrid>
                <a:gridCol w="2401062"/>
                <a:gridCol w="2818638"/>
              </a:tblGrid>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1000000000000001</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"true"^^xsd:boolean</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200000000000002A</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"42"^^xsd:int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20000000000003E8</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"1000"^^xsd:int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3800000000000000</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"-0.0"^^xsd:decimal</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92735">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4000000000000000</a:t>
                      </a:r>
                      <a:endParaRPr lang="en-US" sz="1050" dirty="0">
                        <a:latin typeface="Roboto Mono" charset="0"/>
                        <a:ea typeface="Roboto Mono" charset="0"/>
                        <a:cs typeface="Roboto Mono" charset="0"/>
                      </a:endParaRPr>
                    </a:p>
                  </a:txBody>
                  <a:tcPr marL="46673" marR="46673" marT="46673" marB="46673"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470"/>
                        </a:lnSpc>
                        <a:buNone/>
                      </a:pPr>
                      <a:r>
                        <a:rPr lang="en-US" sz="1050" dirty="0">
                          <a:solidFill>
                            <a:srgbClr val="000000"/>
                          </a:solidFill>
                          <a:latin typeface="Roboto Mono" pitchFamily="49" charset="0"/>
                          <a:ea typeface="Roboto Mono" pitchFamily="49" charset="-122"/>
                          <a:cs typeface="Roboto Mono" pitchFamily="49" charset="-120"/>
                        </a:rPr>
                        <a:t>&lt;http://ex.org/H1&gt;</a:t>
                      </a:r>
                      <a:endParaRPr lang="en-US" sz="1050" dirty="0">
                        <a:latin typeface="Roboto Mono" charset="0"/>
                        <a:ea typeface="Roboto Mono" charset="0"/>
                        <a:cs typeface="Roboto Mono" charset="0"/>
                      </a:endParaRPr>
                    </a:p>
                  </a:txBody>
                  <a:tcPr marL="46673" marR="46673" marT="46673" marB="466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6" name="Text 12"/>
          <p:cNvSpPr/>
          <p:nvPr/>
        </p:nvSpPr>
        <p:spPr>
          <a:xfrm>
            <a:off x="6273800" y="4038600"/>
            <a:ext cx="5323967"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000000"/>
                </a:solidFill>
                <a:latin typeface="Roboto" pitchFamily="34" charset="0"/>
                <a:ea typeface="Roboto" pitchFamily="34" charset="-122"/>
                <a:cs typeface="Roboto" pitchFamily="34" charset="-120"/>
              </a:rPr>
              <a:t>For </a:t>
            </a:r>
            <a:r>
              <a:rPr lang="en-US" sz="1200" b="1" dirty="0">
                <a:solidFill>
                  <a:srgbClr val="000000"/>
                </a:solidFill>
                <a:latin typeface="Roboto" pitchFamily="34" charset="0"/>
                <a:ea typeface="Roboto" pitchFamily="34" charset="-122"/>
                <a:cs typeface="Roboto" pitchFamily="34" charset="-120"/>
              </a:rPr>
              <a:t>Int</a:t>
            </a:r>
            <a:r>
              <a:rPr lang="en-US" sz="1200" dirty="0">
                <a:solidFill>
                  <a:srgbClr val="000000"/>
                </a:solidFill>
                <a:latin typeface="Roboto" pitchFamily="34" charset="0"/>
                <a:ea typeface="Roboto" pitchFamily="34" charset="-122"/>
                <a:cs typeface="Roboto" pitchFamily="34" charset="-120"/>
              </a:rPr>
              <a:t> the payload </a:t>
            </a:r>
            <a:r>
              <a:rPr lang="en-US" sz="1200" b="1" dirty="0">
                <a:solidFill>
                  <a:srgbClr val="000000"/>
                </a:solidFill>
                <a:latin typeface="Roboto" pitchFamily="34" charset="0"/>
                <a:ea typeface="Roboto" pitchFamily="34" charset="-122"/>
                <a:cs typeface="Roboto" pitchFamily="34" charset="-120"/>
              </a:rPr>
              <a:t>is</a:t>
            </a:r>
            <a:r>
              <a:rPr lang="en-US" sz="1200" dirty="0">
                <a:solidFill>
                  <a:srgbClr val="000000"/>
                </a:solidFill>
                <a:latin typeface="Roboto" pitchFamily="34" charset="0"/>
                <a:ea typeface="Roboto" pitchFamily="34" charset="-122"/>
                <a:cs typeface="Roboto" pitchFamily="34" charset="-120"/>
              </a:rPr>
              <a:t> the number — 42 is …002A. No vocabulary at all: this index contains no integers, and the Id still decodes.</a:t>
            </a:r>
            <a:endParaRPr lang="en-US" sz="1200" dirty="0"/>
          </a:p>
        </p:txBody>
      </p:sp>
      <p:sp>
        <p:nvSpPr>
          <p:cNvPr id="17" name="Text 13"/>
          <p:cNvSpPr/>
          <p:nvPr/>
        </p:nvSpPr>
        <p:spPr>
          <a:xfrm>
            <a:off x="669925" y="5553711"/>
            <a:ext cx="10852150" cy="762000"/>
          </a:xfrm>
          <a:prstGeom prst="rect">
            <a:avLst/>
          </a:prstGeom>
          <a:noFill/>
          <a:ln w="19050">
            <a:solidFill>
              <a:srgbClr val="FF0000"/>
            </a:solidFill>
            <a:prstDash val="solid"/>
          </a:ln>
        </p:spPr>
        <p:txBody>
          <a:bodyPr wrap="square" lIns="123825" tIns="123825" rIns="0" bIns="98425" rtlCol="0" anchor="t">
            <a:normAutofit/>
          </a:bodyPr>
          <a:lstStyle/>
          <a:p>
            <a:pPr marL="0" indent="0" algn="l">
              <a:lnSpc>
                <a:spcPts val="2025"/>
              </a:lnSpc>
              <a:buNone/>
            </a:pPr>
            <a:r>
              <a:rPr lang="en-US" sz="1500" dirty="0">
                <a:solidFill>
                  <a:srgbClr val="000000"/>
                </a:solidFill>
                <a:latin typeface="Roboto" pitchFamily="34" charset="0"/>
                <a:ea typeface="Roboto" pitchFamily="34" charset="-122"/>
                <a:cs typeface="Roboto" pitchFamily="34" charset="-120"/>
              </a:rPr>
              <a:t>Largest Int Id 2FFFFFFFFFFFFFFF &lt; smallest IRI Id 4000000000000000 — so </a:t>
            </a:r>
            <a:r>
              <a:rPr lang="en-US" sz="1500" b="1" dirty="0">
                <a:solidFill>
                  <a:srgbClr val="000000"/>
                </a:solidFill>
                <a:latin typeface="Roboto" pitchFamily="34" charset="0"/>
                <a:ea typeface="Roboto" pitchFamily="34" charset="-122"/>
                <a:cs typeface="Roboto" pitchFamily="34" charset="-120"/>
              </a:rPr>
              <a:t>every number sorts before every IRI</a:t>
            </a:r>
            <a:r>
              <a:rPr lang="en-US" sz="1500" dirty="0">
                <a:solidFill>
                  <a:srgbClr val="000000"/>
                </a:solidFill>
                <a:latin typeface="Roboto" pitchFamily="34" charset="0"/>
                <a:ea typeface="Roboto" pitchFamily="34" charset="-122"/>
                <a:cs typeface="Roboto" pitchFamily="34" charset="-120"/>
              </a:rPr>
              <a:t>. That is the storage order, not the SPARQL order.</a:t>
            </a:r>
            <a:endParaRPr lang="en-US" sz="1500" dirty="0"/>
          </a:p>
        </p:txBody>
      </p:sp>
      <p:sp>
        <p:nvSpPr>
          <p:cNvPr id="18" name="Text 14"/>
          <p:cNvSpPr/>
          <p:nvPr/>
        </p:nvSpPr>
        <p:spPr>
          <a:xfrm>
            <a:off x="10744200" y="6372861"/>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Six sorted permutations</a:t>
            </a:r>
            <a:endParaRPr lang="en-US" sz="4600" dirty="0"/>
          </a:p>
        </p:txBody>
      </p:sp>
      <p:sp>
        <p:nvSpPr>
          <p:cNvPr id="4" name="Text 2"/>
          <p:cNvSpPr/>
          <p:nvPr/>
        </p:nvSpPr>
        <p:spPr>
          <a:xfrm>
            <a:off x="660400" y="1409700"/>
            <a:ext cx="11197336" cy="6299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000000"/>
                </a:solidFill>
                <a:latin typeface="Roboto" pitchFamily="34" charset="0"/>
                <a:ea typeface="Roboto" pitchFamily="34" charset="-122"/>
                <a:cs typeface="Roboto" pitchFamily="34" charset="-120"/>
              </a:rPr>
              <a:t>Every triple is stored </a:t>
            </a:r>
            <a:r>
              <a:rPr lang="en-US" sz="1700" b="1" dirty="0">
                <a:solidFill>
                  <a:srgbClr val="000000"/>
                </a:solidFill>
                <a:latin typeface="Roboto" pitchFamily="34" charset="0"/>
                <a:ea typeface="Roboto" pitchFamily="34" charset="-122"/>
                <a:cs typeface="Roboto" pitchFamily="34" charset="-120"/>
              </a:rPr>
              <a:t>six times</a:t>
            </a:r>
            <a:r>
              <a:rPr lang="en-US" sz="1700" dirty="0">
                <a:solidFill>
                  <a:srgbClr val="000000"/>
                </a:solidFill>
                <a:latin typeface="Roboto" pitchFamily="34" charset="0"/>
                <a:ea typeface="Roboto" pitchFamily="34" charset="-122"/>
                <a:cs typeface="Roboto" pitchFamily="34" charset="-120"/>
              </a:rPr>
              <a:t>, each time sorted by a different key order. The first column is called </a:t>
            </a:r>
            <a:r>
              <a:rPr lang="en-US" sz="1700" b="1" dirty="0">
                <a:solidFill>
                  <a:srgbClr val="000000"/>
                </a:solidFill>
                <a:latin typeface="Roboto" pitchFamily="34" charset="0"/>
                <a:ea typeface="Roboto" pitchFamily="34" charset="-122"/>
                <a:cs typeface="Roboto" pitchFamily="34" charset="-120"/>
              </a:rPr>
              <a:t>col0</a:t>
            </a:r>
            <a:r>
              <a:rPr lang="en-US" sz="1700" dirty="0">
                <a:solidFill>
                  <a:srgbClr val="000000"/>
                </a:solidFill>
                <a:latin typeface="Roboto" pitchFamily="34" charset="0"/>
                <a:ea typeface="Roboto" pitchFamily="34" charset="-122"/>
                <a:cs typeface="Roboto" pitchFamily="34" charset="-120"/>
              </a:rPr>
              <a:t>, and its distinct values are the </a:t>
            </a:r>
            <a:r>
              <a:rPr lang="en-US" sz="1700" b="1" dirty="0">
                <a:solidFill>
                  <a:srgbClr val="000000"/>
                </a:solidFill>
                <a:latin typeface="Roboto" pitchFamily="34" charset="0"/>
                <a:ea typeface="Roboto" pitchFamily="34" charset="-122"/>
                <a:cs typeface="Roboto" pitchFamily="34" charset="-120"/>
              </a:rPr>
              <a:t>relations</a:t>
            </a:r>
            <a:r>
              <a:rPr lang="en-US" sz="1700" dirty="0">
                <a:solidFill>
                  <a:srgbClr val="000000"/>
                </a:solidFill>
                <a:latin typeface="Roboto" pitchFamily="34" charset="0"/>
                <a:ea typeface="Roboto" pitchFamily="34" charset="-122"/>
                <a:cs typeface="Roboto" pitchFamily="34" charset="-120"/>
              </a:rPr>
              <a:t>.</a:t>
            </a:r>
            <a:endParaRPr lang="en-US" sz="1700" dirty="0"/>
          </a:p>
        </p:txBody>
      </p:sp>
      <p:sp>
        <p:nvSpPr>
          <p:cNvPr id="5" name="Shape 3"/>
          <p:cNvSpPr/>
          <p:nvPr/>
        </p:nvSpPr>
        <p:spPr>
          <a:xfrm>
            <a:off x="11525250" y="2204721"/>
            <a:ext cx="0" cy="2011680"/>
          </a:xfrm>
          <a:prstGeom prst="line">
            <a:avLst/>
          </a:prstGeom>
          <a:noFill/>
          <a:ln w="12700">
            <a:solidFill>
              <a:srgbClr val="000000"/>
            </a:solidFill>
            <a:prstDash val="solid"/>
          </a:ln>
        </p:spPr>
      </p:sp>
      <p:sp>
        <p:nvSpPr>
          <p:cNvPr id="6" name="Shape 4"/>
          <p:cNvSpPr/>
          <p:nvPr/>
        </p:nvSpPr>
        <p:spPr>
          <a:xfrm>
            <a:off x="660400" y="4210051"/>
            <a:ext cx="10871200" cy="0"/>
          </a:xfrm>
          <a:prstGeom prst="line">
            <a:avLst/>
          </a:prstGeom>
          <a:noFill/>
          <a:ln w="12700">
            <a:solidFill>
              <a:srgbClr val="000000"/>
            </a:solidFill>
            <a:prstDash val="solid"/>
          </a:ln>
        </p:spPr>
      </p:sp>
      <p:sp>
        <p:nvSpPr>
          <p:cNvPr id="7" name="Shape 5"/>
          <p:cNvSpPr/>
          <p:nvPr/>
        </p:nvSpPr>
        <p:spPr>
          <a:xfrm>
            <a:off x="660400" y="2211071"/>
            <a:ext cx="10871200" cy="0"/>
          </a:xfrm>
          <a:prstGeom prst="line">
            <a:avLst/>
          </a:prstGeom>
          <a:noFill/>
          <a:ln w="12700">
            <a:solidFill>
              <a:srgbClr val="141413">
                <a:alpha val="22000"/>
              </a:srgbClr>
            </a:solidFill>
            <a:prstDash val="solid"/>
          </a:ln>
        </p:spPr>
      </p:sp>
      <p:sp>
        <p:nvSpPr>
          <p:cNvPr id="8" name="Shape 6"/>
          <p:cNvSpPr/>
          <p:nvPr/>
        </p:nvSpPr>
        <p:spPr>
          <a:xfrm>
            <a:off x="666750" y="2204721"/>
            <a:ext cx="0" cy="2011680"/>
          </a:xfrm>
          <a:prstGeom prst="line">
            <a:avLst/>
          </a:prstGeom>
          <a:noFill/>
          <a:ln w="12700">
            <a:solidFill>
              <a:srgbClr val="141413">
                <a:alpha val="22000"/>
              </a:srgbClr>
            </a:solidFill>
            <a:prstDash val="solid"/>
          </a:ln>
        </p:spPr>
      </p:sp>
      <p:graphicFrame>
        <p:nvGraphicFramePr>
          <p:cNvPr id="9" name="Table 0"/>
          <p:cNvGraphicFramePr>
            <a:graphicFrameLocks xmlns:a="http://schemas.openxmlformats.org/drawingml/2006/main" noGrp="1"/>
          </p:cNvGraphicFramePr>
          <p:nvPr/>
        </p:nvGraphicFramePr>
        <p:xfrm>
          <a:off x="787400" y="2331721"/>
          <a:ext cx="10617200" cy="1757680"/>
        </p:xfrm>
        <a:graphic>
          <a:graphicData uri="http://schemas.openxmlformats.org/drawingml/2006/table">
            <a:tbl>
              <a:tblPr/>
              <a:tblGrid>
                <a:gridCol w="2335784"/>
                <a:gridCol w="2760472"/>
                <a:gridCol w="2972816"/>
                <a:gridCol w="2548128"/>
              </a:tblGrid>
              <a:tr h="439420">
                <a:tc>
                  <a:txBody>
                    <a:bodyPr/>
                    <a:lstStyle/>
                    <a:p>
                      <a:pPr marL="0" indent="0">
                        <a:lnSpc>
                          <a:spcPts val="2240"/>
                        </a:lnSpc>
                        <a:buNone/>
                      </a:pPr>
                      <a:r>
                        <a:rPr lang="en-US" sz="1600" b="1" dirty="0">
                          <a:solidFill>
                            <a:srgbClr val="FFFFFF"/>
                          </a:solidFill>
                          <a:latin typeface="Roboto" pitchFamily="34" charset="0"/>
                          <a:ea typeface="Roboto" pitchFamily="34" charset="-122"/>
                          <a:cs typeface="Roboto" pitchFamily="34" charset="-120"/>
                        </a:rPr>
                        <a:t>permutation</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240"/>
                        </a:lnSpc>
                        <a:buNone/>
                      </a:pPr>
                      <a:r>
                        <a:rPr lang="en-US" sz="1600" b="1" dirty="0">
                          <a:solidFill>
                            <a:srgbClr val="FFFFFF"/>
                          </a:solidFill>
                          <a:latin typeface="Roboto" pitchFamily="34" charset="0"/>
                          <a:ea typeface="Roboto" pitchFamily="34" charset="-122"/>
                          <a:cs typeface="Roboto" pitchFamily="34" charset="-120"/>
                        </a:rPr>
                        <a:t>answers</a:t>
                      </a:r>
                      <a:endParaRPr lang="en-US" sz="1600" dirty="0">
                        <a:latin typeface="Roboto" charset="0"/>
                        <a:ea typeface="Roboto" charset="0"/>
                        <a:cs typeface="Roboto" charset="0"/>
                      </a:endParaRPr>
                    </a:p>
                  </a:txBody>
                  <a:tcPr marL="71120" marR="71120" marT="71120" marB="7112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240"/>
                        </a:lnSpc>
                        <a:buNone/>
                      </a:pPr>
                      <a:r>
                        <a:rPr lang="en-US" sz="1600" b="1" dirty="0">
                          <a:solidFill>
                            <a:srgbClr val="FFFFFF"/>
                          </a:solidFill>
                          <a:latin typeface="Roboto" pitchFamily="34" charset="0"/>
                          <a:ea typeface="Roboto" pitchFamily="34" charset="-122"/>
                          <a:cs typeface="Roboto" pitchFamily="34" charset="-120"/>
                        </a:rPr>
                        <a:t>relations (distinct col0)</a:t>
                      </a:r>
                      <a:endParaRPr lang="en-US" sz="1600" dirty="0">
                        <a:latin typeface="Roboto" charset="0"/>
                        <a:ea typeface="Roboto" charset="0"/>
                        <a:cs typeface="Roboto" charset="0"/>
                      </a:endParaRPr>
                    </a:p>
                  </a:txBody>
                  <a:tcPr marL="71120" marR="71120" marT="71120" marB="7112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240"/>
                        </a:lnSpc>
                        <a:buNone/>
                      </a:pPr>
                      <a:r>
                        <a:rPr lang="en-US" sz="1600" b="1" dirty="0">
                          <a:solidFill>
                            <a:srgbClr val="FFFFFF"/>
                          </a:solidFill>
                          <a:latin typeface="Roboto" pitchFamily="34" charset="0"/>
                          <a:ea typeface="Roboto" pitchFamily="34" charset="-122"/>
                          <a:cs typeface="Roboto" pitchFamily="34" charset="-120"/>
                        </a:rPr>
                        <a:t>blocks</a:t>
                      </a:r>
                      <a:endParaRPr lang="en-US" sz="1600" dirty="0">
                        <a:latin typeface="Roboto" charset="0"/>
                        <a:ea typeface="Roboto" charset="0"/>
                        <a:cs typeface="Roboto" charset="0"/>
                      </a:endParaRPr>
                    </a:p>
                  </a:txBody>
                  <a:tcPr marL="71120" marR="71120" marT="71120" marB="71120"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PSO · POS</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bound predicate</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86</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366</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SPO · SOP</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bound subject</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521,585</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234</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OPS · OSP</a:t>
                      </a:r>
                      <a:endParaRPr lang="en-US" sz="1600" dirty="0">
                        <a:latin typeface="Roboto" charset="0"/>
                        <a:ea typeface="Roboto" charset="0"/>
                        <a:cs typeface="Roboto" charset="0"/>
                      </a:endParaRPr>
                    </a:p>
                  </a:txBody>
                  <a:tcPr marL="71120" marR="71120" marT="71120" marB="7112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240"/>
                        </a:lnSpc>
                        <a:buNone/>
                      </a:pPr>
                      <a:r>
                        <a:rPr lang="en-US" sz="1600" dirty="0">
                          <a:solidFill>
                            <a:srgbClr val="000000"/>
                          </a:solidFill>
                          <a:latin typeface="Roboto" pitchFamily="34" charset="0"/>
                          <a:ea typeface="Roboto" pitchFamily="34" charset="-122"/>
                          <a:cs typeface="Roboto" pitchFamily="34" charset="-120"/>
                        </a:rPr>
                        <a:t>bound object</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1,005,832</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240"/>
                        </a:lnSpc>
                        <a:buNone/>
                      </a:pPr>
                      <a:r>
                        <a:rPr lang="en-US" sz="1600" dirty="0">
                          <a:solidFill>
                            <a:srgbClr val="000000"/>
                          </a:solidFill>
                          <a:latin typeface="Roboto" pitchFamily="34" charset="0"/>
                          <a:ea typeface="Roboto" pitchFamily="34" charset="-122"/>
                          <a:cs typeface="Roboto" pitchFamily="34" charset="-120"/>
                        </a:rPr>
                        <a:t>249</a:t>
                      </a:r>
                      <a:endParaRPr lang="en-US" sz="1600" dirty="0">
                        <a:latin typeface="Roboto" charset="0"/>
                        <a:ea typeface="Roboto" charset="0"/>
                        <a:cs typeface="Robo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Text 7"/>
          <p:cNvSpPr/>
          <p:nvPr/>
        </p:nvSpPr>
        <p:spPr>
          <a:xfrm>
            <a:off x="660400" y="4406900"/>
            <a:ext cx="11197336" cy="5943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000000"/>
                </a:solidFill>
                <a:latin typeface="Roboto" pitchFamily="34" charset="0"/>
                <a:ea typeface="Roboto" pitchFamily="34" charset="-122"/>
                <a:cs typeface="Roboto" pitchFamily="34" charset="-120"/>
              </a:rPr>
              <a:t>A scan picks the permutation whose key order puts the </a:t>
            </a:r>
            <a:r>
              <a:rPr lang="en-US" sz="1600" b="1" dirty="0">
                <a:solidFill>
                  <a:srgbClr val="000000"/>
                </a:solidFill>
                <a:latin typeface="Roboto" pitchFamily="34" charset="0"/>
                <a:ea typeface="Roboto" pitchFamily="34" charset="-122"/>
                <a:cs typeface="Roboto" pitchFamily="34" charset="-120"/>
              </a:rPr>
              <a:t>bound components first</a:t>
            </a:r>
            <a:r>
              <a:rPr lang="en-US" sz="1600" dirty="0">
                <a:solidFill>
                  <a:srgbClr val="000000"/>
                </a:solidFill>
                <a:latin typeface="Roboto" pitchFamily="34" charset="0"/>
                <a:ea typeface="Roboto" pitchFamily="34" charset="-122"/>
                <a:cs typeface="Roboto" pitchFamily="34" charset="-120"/>
              </a:rPr>
              <a:t>. The matching triples are then a </a:t>
            </a:r>
            <a:r>
              <a:rPr lang="en-US" sz="1600" b="1" dirty="0">
                <a:solidFill>
                  <a:srgbClr val="38761D"/>
                </a:solidFill>
                <a:latin typeface="Roboto" pitchFamily="34" charset="0"/>
                <a:ea typeface="Roboto" pitchFamily="34" charset="-122"/>
                <a:cs typeface="Roboto" pitchFamily="34" charset="-120"/>
              </a:rPr>
              <a:t>contiguous range</a:t>
            </a:r>
            <a:r>
              <a:rPr lang="en-US" sz="1600" dirty="0">
                <a:solidFill>
                  <a:srgbClr val="000000"/>
                </a:solidFill>
                <a:latin typeface="Roboto" pitchFamily="34" charset="0"/>
                <a:ea typeface="Roboto" pitchFamily="34" charset="-122"/>
                <a:cs typeface="Roboto" pitchFamily="34" charset="-120"/>
              </a:rPr>
              <a:t> — which is what makes an offset meaningful at all.</a:t>
            </a:r>
            <a:endParaRPr lang="en-US" sz="1600" dirty="0"/>
          </a:p>
        </p:txBody>
      </p:sp>
      <p:sp>
        <p:nvSpPr>
          <p:cNvPr id="11" name="Text 8"/>
          <p:cNvSpPr/>
          <p:nvPr/>
        </p:nvSpPr>
        <p:spPr>
          <a:xfrm>
            <a:off x="660400" y="5166361"/>
            <a:ext cx="11197336" cy="24003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95959"/>
                </a:solidFill>
                <a:latin typeface="Roboto" pitchFamily="34" charset="0"/>
                <a:ea typeface="Roboto" pitchFamily="34" charset="-122"/>
                <a:cs typeface="Roboto" pitchFamily="34" charset="-120"/>
              </a:rPr>
              <a:t>This much is published: Bast et al., </a:t>
            </a:r>
            <a:r>
              <a:rPr lang="en-US" sz="1300" i="1" dirty="0">
                <a:solidFill>
                  <a:srgbClr val="595959"/>
                </a:solidFill>
                <a:latin typeface="Roboto" pitchFamily="34" charset="0"/>
                <a:ea typeface="Roboto" pitchFamily="34" charset="-122"/>
                <a:cs typeface="Roboto" pitchFamily="34" charset="-120"/>
              </a:rPr>
              <a:t>Knowledge Graphs</a:t>
            </a:r>
            <a:r>
              <a:rPr lang="en-US" sz="1300" dirty="0">
                <a:solidFill>
                  <a:srgbClr val="595959"/>
                </a:solidFill>
                <a:latin typeface="Roboto" pitchFamily="34" charset="0"/>
                <a:ea typeface="Roboto" pitchFamily="34" charset="-122"/>
                <a:cs typeface="Roboto" pitchFamily="34" charset="-120"/>
              </a:rPr>
              <a:t>, 2023, §1.5.2. Everything from here on is not.</a:t>
            </a:r>
            <a:endParaRPr lang="en-US" sz="1300" dirty="0"/>
          </a:p>
        </p:txBody>
      </p:sp>
      <p:sp>
        <p:nvSpPr>
          <p:cNvPr id="12" name="Text 9"/>
          <p:cNvSpPr/>
          <p:nvPr/>
        </p:nvSpPr>
        <p:spPr>
          <a:xfrm>
            <a:off x="10744200" y="6322061"/>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Where a block ends</a:t>
            </a:r>
            <a:endParaRPr lang="en-US" sz="4600" dirty="0"/>
          </a:p>
        </p:txBody>
      </p:sp>
      <p:sp>
        <p:nvSpPr>
          <p:cNvPr id="4" name="Text 2"/>
          <p:cNvSpPr/>
          <p:nvPr/>
        </p:nvSpPr>
        <p:spPr>
          <a:xfrm>
            <a:off x="660400" y="1409700"/>
            <a:ext cx="11197336" cy="6299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000000"/>
                </a:solidFill>
                <a:latin typeface="Roboto" pitchFamily="34" charset="0"/>
                <a:ea typeface="Roboto" pitchFamily="34" charset="-122"/>
                <a:cs typeface="Roboto" pitchFamily="34" charset="-120"/>
              </a:rPr>
              <a:t>index-rows-per-block = 31,250</a:t>
            </a:r>
            <a:r>
              <a:rPr lang="en-US" sz="1700" dirty="0">
                <a:solidFill>
                  <a:srgbClr val="000000"/>
                </a:solidFill>
                <a:latin typeface="Roboto" pitchFamily="34" charset="0"/>
                <a:ea typeface="Roboto" pitchFamily="34" charset="-122"/>
                <a:cs typeface="Roboto" pitchFamily="34" charset="-120"/>
              </a:rPr>
              <a:t> is a </a:t>
            </a:r>
            <a:r>
              <a:rPr lang="en-US" sz="1700" b="1" dirty="0">
                <a:solidFill>
                  <a:srgbClr val="FF0000"/>
                </a:solidFill>
                <a:latin typeface="Roboto" pitchFamily="34" charset="0"/>
                <a:ea typeface="Roboto" pitchFamily="34" charset="-122"/>
                <a:cs typeface="Roboto" pitchFamily="34" charset="-120"/>
              </a:rPr>
              <a:t>soft</a:t>
            </a:r>
            <a:r>
              <a:rPr lang="en-US" sz="1700" dirty="0">
                <a:solidFill>
                  <a:srgbClr val="000000"/>
                </a:solidFill>
                <a:latin typeface="Roboto" pitchFamily="34" charset="0"/>
                <a:ea typeface="Roboto" pitchFamily="34" charset="-122"/>
                <a:cs typeface="Roboto" pitchFamily="34" charset="-120"/>
              </a:rPr>
              <a:t> target. Three rules bend it, and they explain the counts on the previous slide.</a:t>
            </a:r>
            <a:endParaRPr lang="en-US" sz="1700" dirty="0"/>
          </a:p>
        </p:txBody>
      </p:sp>
      <p:sp>
        <p:nvSpPr>
          <p:cNvPr id="5" name="Text 3"/>
          <p:cNvSpPr/>
          <p:nvPr/>
        </p:nvSpPr>
        <p:spPr>
          <a:xfrm>
            <a:off x="716534" y="2179321"/>
            <a:ext cx="11133582" cy="351790"/>
          </a:xfrm>
          <a:prstGeom prst="rect">
            <a:avLst/>
          </a:prstGeom>
          <a:noFill/>
          <a:ln/>
        </p:spPr>
        <p:txBody>
          <a:bodyPr wrap="square" lIns="0" tIns="0" rIns="0" bIns="0" rtlCol="0" anchor="t">
            <a:normAutofit/>
          </a:bodyPr>
          <a:lstStyle/>
          <a:p>
            <a:pPr marL="197866" indent="-197866" algn="l">
              <a:lnSpc>
                <a:spcPts val="2520"/>
              </a:lnSpc>
              <a:buSzPct val="100000"/>
              <a:buChar char="•"/>
            </a:pPr>
            <a:r>
              <a:rPr lang="en-US" sz="1800" b="1" dirty="0">
                <a:solidFill>
                  <a:srgbClr val="000000"/>
                </a:solidFill>
                <a:latin typeface="Roboto" pitchFamily="34" charset="0"/>
                <a:ea typeface="Roboto" pitchFamily="34" charset="-122"/>
                <a:cs typeface="Roboto" pitchFamily="34" charset="-120"/>
              </a:rPr>
              <a:t>A </a:t>
            </a:r>
            <a:r>
              <a:rPr lang="en-US" sz="1800" b="1" dirty="0">
                <a:solidFill>
                  <a:srgbClr val="000000"/>
                </a:solidFill>
                <a:latin typeface="Roboto" pitchFamily="34" charset="0"/>
                <a:ea typeface="Roboto" pitchFamily="34" charset="-122"/>
                <a:cs typeface="Roboto" pitchFamily="34" charset="-120"/>
              </a:rPr>
              <a:t>large relation</a:t>
            </a:r>
            <a:r>
              <a:rPr lang="en-US" sz="1800" b="1" dirty="0">
                <a:solidFill>
                  <a:srgbClr val="000000"/>
                </a:solidFill>
                <a:latin typeface="Roboto" pitchFamily="34" charset="0"/>
                <a:ea typeface="Roboto" pitchFamily="34" charset="-122"/>
                <a:cs typeface="Roboto" pitchFamily="34" charset="-120"/>
              </a:rPr>
              <a:t> starts a new block</a:t>
            </a:r>
            <a:endParaRPr lang="en-US" sz="1800" dirty="0"/>
          </a:p>
        </p:txBody>
      </p:sp>
      <p:sp>
        <p:nvSpPr>
          <p:cNvPr id="6" name="Text 4"/>
          <p:cNvSpPr/>
          <p:nvPr/>
        </p:nvSpPr>
        <p:spPr>
          <a:xfrm>
            <a:off x="1042289" y="2670811"/>
            <a:ext cx="10798683" cy="297497"/>
          </a:xfrm>
          <a:prstGeom prst="rect">
            <a:avLst/>
          </a:prstGeom>
          <a:noFill/>
          <a:ln/>
        </p:spPr>
        <p:txBody>
          <a:bodyPr wrap="square" lIns="0" tIns="0" rIns="0" bIns="0" rtlCol="0" anchor="t">
            <a:normAutofit/>
          </a:bodyPr>
          <a:lstStyle/>
          <a:p>
            <a:pPr marL="176911" indent="-176911" algn="l">
              <a:lnSpc>
                <a:spcPts val="2093"/>
              </a:lnSpc>
              <a:buSzPct val="100000"/>
              <a:buChar char="•"/>
            </a:pPr>
            <a:r>
              <a:rPr lang="en-US" sz="1550" dirty="0">
                <a:solidFill>
                  <a:srgbClr val="000000"/>
                </a:solidFill>
                <a:latin typeface="Roboto" pitchFamily="34" charset="0"/>
                <a:ea typeface="Roboto" pitchFamily="34" charset="-122"/>
                <a:cs typeface="Roboto" pitchFamily="34" charset="-120"/>
              </a:rPr>
              <a:t>PSO: 349 blocks of 31,250 rows, plus up to 85 relation boundaries → </a:t>
            </a:r>
            <a:r>
              <a:rPr lang="en-US" sz="1550" b="1" dirty="0">
                <a:solidFill>
                  <a:srgbClr val="000000"/>
                </a:solidFill>
                <a:latin typeface="Roboto" pitchFamily="34" charset="0"/>
                <a:ea typeface="Roboto" pitchFamily="34" charset="-122"/>
                <a:cs typeface="Roboto" pitchFamily="34" charset="-120"/>
              </a:rPr>
              <a:t>366</a:t>
            </a:r>
            <a:endParaRPr lang="en-US" sz="1550" dirty="0"/>
          </a:p>
        </p:txBody>
      </p:sp>
      <p:sp>
        <p:nvSpPr>
          <p:cNvPr id="7" name="Text 5"/>
          <p:cNvSpPr/>
          <p:nvPr/>
        </p:nvSpPr>
        <p:spPr>
          <a:xfrm>
            <a:off x="716534" y="3108009"/>
            <a:ext cx="11133582" cy="351790"/>
          </a:xfrm>
          <a:prstGeom prst="rect">
            <a:avLst/>
          </a:prstGeom>
          <a:noFill/>
          <a:ln/>
        </p:spPr>
        <p:txBody>
          <a:bodyPr wrap="square" lIns="0" tIns="0" rIns="0" bIns="0" rtlCol="0" anchor="t">
            <a:normAutofit/>
          </a:bodyPr>
          <a:lstStyle/>
          <a:p>
            <a:pPr marL="197866" indent="-197866" algn="l">
              <a:lnSpc>
                <a:spcPts val="2520"/>
              </a:lnSpc>
              <a:buSzPct val="100000"/>
              <a:buChar char="•"/>
            </a:pPr>
            <a:r>
              <a:rPr lang="en-US" sz="1800" b="1" dirty="0">
                <a:solidFill>
                  <a:srgbClr val="000000"/>
                </a:solidFill>
                <a:latin typeface="Roboto" pitchFamily="34" charset="0"/>
                <a:ea typeface="Roboto" pitchFamily="34" charset="-122"/>
                <a:cs typeface="Roboto" pitchFamily="34" charset="-120"/>
              </a:rPr>
              <a:t>Small relations</a:t>
            </a:r>
            <a:r>
              <a:rPr lang="en-US" sz="1800" b="1" dirty="0">
                <a:solidFill>
                  <a:srgbClr val="000000"/>
                </a:solidFill>
                <a:latin typeface="Roboto" pitchFamily="34" charset="0"/>
                <a:ea typeface="Roboto" pitchFamily="34" charset="-122"/>
                <a:cs typeface="Roboto" pitchFamily="34" charset="-120"/>
              </a:rPr>
              <a:t> share a block, filled to </a:t>
            </a:r>
            <a:r>
              <a:rPr lang="en-US" sz="1800" b="1" dirty="0">
                <a:solidFill>
                  <a:srgbClr val="000000"/>
                </a:solidFill>
                <a:latin typeface="Roboto" pitchFamily="34" charset="0"/>
                <a:ea typeface="Roboto" pitchFamily="34" charset="-122"/>
                <a:cs typeface="Roboto" pitchFamily="34" charset="-120"/>
              </a:rPr>
              <a:t>1.5 ×</a:t>
            </a:r>
            <a:r>
              <a:rPr lang="en-US" sz="1800" b="1" dirty="0">
                <a:solidFill>
                  <a:srgbClr val="000000"/>
                </a:solidFill>
                <a:latin typeface="Roboto" pitchFamily="34" charset="0"/>
                <a:ea typeface="Roboto" pitchFamily="34" charset="-122"/>
                <a:cs typeface="Roboto" pitchFamily="34" charset="-120"/>
              </a:rPr>
              <a:t> the target = 46,875 rows</a:t>
            </a:r>
            <a:endParaRPr lang="en-US" sz="1800" dirty="0"/>
          </a:p>
        </p:txBody>
      </p:sp>
      <p:sp>
        <p:nvSpPr>
          <p:cNvPr id="8" name="Text 6"/>
          <p:cNvSpPr/>
          <p:nvPr/>
        </p:nvSpPr>
        <p:spPr>
          <a:xfrm>
            <a:off x="1042289" y="3599498"/>
            <a:ext cx="10798683" cy="569595"/>
          </a:xfrm>
          <a:prstGeom prst="rect">
            <a:avLst/>
          </a:prstGeom>
          <a:noFill/>
          <a:ln/>
        </p:spPr>
        <p:txBody>
          <a:bodyPr wrap="square" lIns="0" tIns="0" rIns="0" bIns="0" rtlCol="0" anchor="t">
            <a:normAutofit/>
          </a:bodyPr>
          <a:lstStyle/>
          <a:p>
            <a:pPr marL="176911" indent="-176911" algn="l">
              <a:lnSpc>
                <a:spcPts val="2093"/>
              </a:lnSpc>
              <a:buSzPct val="100000"/>
              <a:buChar char="•"/>
            </a:pPr>
            <a:r>
              <a:rPr lang="en-US" sz="1550" dirty="0">
                <a:solidFill>
                  <a:srgbClr val="000000"/>
                </a:solidFill>
                <a:latin typeface="Roboto" pitchFamily="34" charset="0"/>
                <a:ea typeface="Roboto" pitchFamily="34" charset="-122"/>
                <a:cs typeface="Roboto" pitchFamily="34" charset="-120"/>
              </a:rPr>
              <a:t>SPO: 10,916,457 ÷ 46,875 = 233 → </a:t>
            </a:r>
            <a:r>
              <a:rPr lang="en-US" sz="1550" b="1" dirty="0">
                <a:solidFill>
                  <a:srgbClr val="000000"/>
                </a:solidFill>
                <a:latin typeface="Roboto" pitchFamily="34" charset="0"/>
                <a:ea typeface="Roboto" pitchFamily="34" charset="-122"/>
                <a:cs typeface="Roboto" pitchFamily="34" charset="-120"/>
              </a:rPr>
              <a:t>234</a:t>
            </a:r>
            <a:r>
              <a:rPr lang="en-US" sz="1550" dirty="0">
                <a:solidFill>
                  <a:srgbClr val="000000"/>
                </a:solidFill>
                <a:latin typeface="Roboto" pitchFamily="34" charset="0"/>
                <a:ea typeface="Roboto" pitchFamily="34" charset="-122"/>
                <a:cs typeface="Roboto" pitchFamily="34" charset="-120"/>
              </a:rPr>
              <a:t>, for 521,585 relations</a:t>
            </a:r>
            <a:endParaRPr lang="en-US" sz="1550" dirty="0"/>
          </a:p>
          <a:p>
            <a:pPr marL="176911" indent="-176911" algn="l">
              <a:lnSpc>
                <a:spcPts val="2093"/>
              </a:lnSpc>
              <a:buSzPct val="100000"/>
              <a:buChar char="•"/>
            </a:pPr>
            <a:r>
              <a:rPr lang="en-US" sz="1550" dirty="0">
                <a:solidFill>
                  <a:srgbClr val="000000"/>
                </a:solidFill>
                <a:latin typeface="Roboto" pitchFamily="34" charset="0"/>
                <a:ea typeface="Roboto" pitchFamily="34" charset="-122"/>
                <a:cs typeface="Roboto" pitchFamily="34" charset="-120"/>
              </a:rPr>
              <a:t>each is found by offsetInBlock_, so it needs no entry of its own</a:t>
            </a:r>
            <a:endParaRPr lang="en-US" sz="1550" dirty="0"/>
          </a:p>
        </p:txBody>
      </p:sp>
      <p:sp>
        <p:nvSpPr>
          <p:cNvPr id="9" name="Text 7"/>
          <p:cNvSpPr/>
          <p:nvPr/>
        </p:nvSpPr>
        <p:spPr>
          <a:xfrm>
            <a:off x="716534" y="4308791"/>
            <a:ext cx="11133582" cy="351790"/>
          </a:xfrm>
          <a:prstGeom prst="rect">
            <a:avLst/>
          </a:prstGeom>
          <a:noFill/>
          <a:ln/>
        </p:spPr>
        <p:txBody>
          <a:bodyPr wrap="square" lIns="0" tIns="0" rIns="0" bIns="0" rtlCol="0" anchor="t">
            <a:normAutofit/>
          </a:bodyPr>
          <a:lstStyle/>
          <a:p>
            <a:pPr marL="197866" indent="-197866" algn="l">
              <a:lnSpc>
                <a:spcPts val="2520"/>
              </a:lnSpc>
              <a:buSzPct val="100000"/>
              <a:buChar char="•"/>
            </a:pPr>
            <a:r>
              <a:rPr lang="en-US" sz="1800" b="1" dirty="0">
                <a:solidFill>
                  <a:srgbClr val="000000"/>
                </a:solidFill>
                <a:latin typeface="Roboto" pitchFamily="34" charset="0"/>
                <a:ea typeface="Roboto" pitchFamily="34" charset="-122"/>
                <a:cs typeface="Roboto" pitchFamily="34" charset="-120"/>
              </a:rPr>
              <a:t>A block </a:t>
            </a:r>
            <a:r>
              <a:rPr lang="en-US" sz="1800" b="1" dirty="0">
                <a:solidFill>
                  <a:srgbClr val="000000"/>
                </a:solidFill>
                <a:latin typeface="Roboto" pitchFamily="34" charset="0"/>
                <a:ea typeface="Roboto" pitchFamily="34" charset="-122"/>
                <a:cs typeface="Roboto" pitchFamily="34" charset="-120"/>
              </a:rPr>
              <a:t>grows past the target</a:t>
            </a:r>
            <a:r>
              <a:rPr lang="en-US" sz="1800" b="1" dirty="0">
                <a:solidFill>
                  <a:srgbClr val="000000"/>
                </a:solidFill>
                <a:latin typeface="Roboto" pitchFamily="34" charset="0"/>
                <a:ea typeface="Roboto" pitchFamily="34" charset="-122"/>
                <a:cs typeface="Roboto" pitchFamily="34" charset="-120"/>
              </a:rPr>
              <a:t> rather than split triples equal but for their graph</a:t>
            </a:r>
            <a:endParaRPr lang="en-US" sz="1800" dirty="0"/>
          </a:p>
        </p:txBody>
      </p:sp>
      <p:sp>
        <p:nvSpPr>
          <p:cNvPr id="10" name="Text 8"/>
          <p:cNvSpPr/>
          <p:nvPr/>
        </p:nvSpPr>
        <p:spPr>
          <a:xfrm>
            <a:off x="10744200" y="63220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What is actually in a block</a:t>
            </a:r>
            <a:endParaRPr lang="en-US" sz="4600" dirty="0"/>
          </a:p>
        </p:txBody>
      </p:sp>
      <p:sp>
        <p:nvSpPr>
          <p:cNvPr id="4" name="Text 2"/>
          <p:cNvSpPr/>
          <p:nvPr/>
        </p:nvSpPr>
        <p:spPr>
          <a:xfrm>
            <a:off x="660400" y="1308100"/>
            <a:ext cx="11197336" cy="265218"/>
          </a:xfrm>
          <a:prstGeom prst="rect">
            <a:avLst/>
          </a:prstGeom>
          <a:noFill/>
          <a:ln/>
        </p:spPr>
        <p:txBody>
          <a:bodyPr wrap="square" lIns="0" tIns="0" rIns="0" bIns="0" rtlCol="0" anchor="t">
            <a:normAutofit/>
          </a:bodyPr>
          <a:lstStyle/>
          <a:p>
            <a:pPr marL="0" indent="0" algn="l">
              <a:lnSpc>
                <a:spcPts val="1920"/>
              </a:lnSpc>
              <a:buNone/>
            </a:pPr>
            <a:r>
              <a:rPr lang="en-US" sz="1477" dirty="0">
                <a:solidFill>
                  <a:srgbClr val="000000"/>
                </a:solidFill>
                <a:latin typeface="Roboto" pitchFamily="34" charset="0"/>
                <a:ea typeface="Roboto" pitchFamily="34" charset="-122"/>
                <a:cs typeface="Roboto" pitchFamily="34" charset="-120"/>
              </a:rPr>
              <a:t>The first rows of a PSO block, as stored — </a:t>
            </a:r>
            <a:r>
              <a:rPr lang="en-US" sz="1477" b="1" dirty="0">
                <a:solidFill>
                  <a:srgbClr val="000000"/>
                </a:solidFill>
                <a:latin typeface="Roboto" pitchFamily="34" charset="0"/>
                <a:ea typeface="Roboto" pitchFamily="34" charset="-122"/>
                <a:cs typeface="Roboto" pitchFamily="34" charset="-120"/>
              </a:rPr>
              <a:t>four columns of 64-bit Ids</a:t>
            </a:r>
            <a:r>
              <a:rPr lang="en-US" sz="1477" dirty="0">
                <a:solidFill>
                  <a:srgbClr val="000000"/>
                </a:solidFill>
                <a:latin typeface="Roboto" pitchFamily="34" charset="0"/>
                <a:ea typeface="Roboto" pitchFamily="34" charset="-122"/>
                <a:cs typeface="Roboto" pitchFamily="34" charset="-120"/>
              </a:rPr>
              <a:t>, each column its own Zstd stream:</a:t>
            </a:r>
            <a:endParaRPr lang="en-US" sz="1477" dirty="0"/>
          </a:p>
        </p:txBody>
      </p:sp>
      <p:sp>
        <p:nvSpPr>
          <p:cNvPr id="5" name="Shape 3"/>
          <p:cNvSpPr/>
          <p:nvPr/>
        </p:nvSpPr>
        <p:spPr>
          <a:xfrm>
            <a:off x="11525250" y="1649518"/>
            <a:ext cx="0" cy="2394797"/>
          </a:xfrm>
          <a:prstGeom prst="line">
            <a:avLst/>
          </a:prstGeom>
          <a:noFill/>
          <a:ln w="12700">
            <a:solidFill>
              <a:srgbClr val="000000"/>
            </a:solidFill>
            <a:prstDash val="solid"/>
          </a:ln>
        </p:spPr>
      </p:sp>
      <p:sp>
        <p:nvSpPr>
          <p:cNvPr id="6" name="Shape 4"/>
          <p:cNvSpPr/>
          <p:nvPr/>
        </p:nvSpPr>
        <p:spPr>
          <a:xfrm>
            <a:off x="660400" y="4037965"/>
            <a:ext cx="10871200" cy="0"/>
          </a:xfrm>
          <a:prstGeom prst="line">
            <a:avLst/>
          </a:prstGeom>
          <a:noFill/>
          <a:ln w="12700">
            <a:solidFill>
              <a:srgbClr val="000000"/>
            </a:solidFill>
            <a:prstDash val="solid"/>
          </a:ln>
        </p:spPr>
      </p:sp>
      <p:sp>
        <p:nvSpPr>
          <p:cNvPr id="7" name="Shape 5"/>
          <p:cNvSpPr/>
          <p:nvPr/>
        </p:nvSpPr>
        <p:spPr>
          <a:xfrm>
            <a:off x="660400" y="1655868"/>
            <a:ext cx="10871200" cy="0"/>
          </a:xfrm>
          <a:prstGeom prst="line">
            <a:avLst/>
          </a:prstGeom>
          <a:noFill/>
          <a:ln w="12700">
            <a:solidFill>
              <a:srgbClr val="141413">
                <a:alpha val="22000"/>
              </a:srgbClr>
            </a:solidFill>
            <a:prstDash val="solid"/>
          </a:ln>
        </p:spPr>
      </p:sp>
      <p:sp>
        <p:nvSpPr>
          <p:cNvPr id="8" name="Shape 6"/>
          <p:cNvSpPr/>
          <p:nvPr/>
        </p:nvSpPr>
        <p:spPr>
          <a:xfrm>
            <a:off x="666750" y="1649518"/>
            <a:ext cx="0" cy="2394797"/>
          </a:xfrm>
          <a:prstGeom prst="line">
            <a:avLst/>
          </a:prstGeom>
          <a:noFill/>
          <a:ln w="12700">
            <a:solidFill>
              <a:srgbClr val="141413">
                <a:alpha val="22000"/>
              </a:srgbClr>
            </a:solidFill>
            <a:prstDash val="solid"/>
          </a:ln>
        </p:spPr>
      </p:sp>
      <p:graphicFrame>
        <p:nvGraphicFramePr>
          <p:cNvPr id="9" name="Table 0"/>
          <p:cNvGraphicFramePr>
            <a:graphicFrameLocks xmlns:a="http://schemas.openxmlformats.org/drawingml/2006/main" noGrp="1"/>
          </p:cNvGraphicFramePr>
          <p:nvPr/>
        </p:nvGraphicFramePr>
        <p:xfrm>
          <a:off x="730250" y="1719368"/>
          <a:ext cx="10731500" cy="2255097"/>
        </p:xfrm>
        <a:graphic>
          <a:graphicData uri="http://schemas.openxmlformats.org/drawingml/2006/table">
            <a:tbl>
              <a:tblPr/>
              <a:tblGrid>
                <a:gridCol w="1073150"/>
                <a:gridCol w="3219450"/>
                <a:gridCol w="3219450"/>
                <a:gridCol w="3219450"/>
              </a:tblGrid>
              <a:tr h="322157">
                <a:tc>
                  <a:txBody>
                    <a:bodyPr/>
                    <a:lstStyle/>
                    <a:p>
                      <a:pPr marL="0" indent="0">
                        <a:lnSpc>
                          <a:spcPts val="1622"/>
                        </a:lnSpc>
                        <a:buNone/>
                      </a:pPr>
                      <a:r>
                        <a:rPr lang="en-US" sz="1159" b="1" dirty="0">
                          <a:solidFill>
                            <a:srgbClr val="FFFFFF"/>
                          </a:solidFill>
                          <a:latin typeface="Roboto Mono" pitchFamily="49" charset="0"/>
                          <a:ea typeface="Roboto Mono" pitchFamily="49" charset="-122"/>
                          <a:cs typeface="Roboto Mono" pitchFamily="49" charset="-120"/>
                        </a:rPr>
                        <a:t>row</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1622"/>
                        </a:lnSpc>
                        <a:buNone/>
                      </a:pPr>
                      <a:r>
                        <a:rPr lang="en-US" sz="1159" b="1" dirty="0">
                          <a:solidFill>
                            <a:srgbClr val="FFFFFF"/>
                          </a:solidFill>
                          <a:latin typeface="Roboto Mono" pitchFamily="49" charset="0"/>
                          <a:ea typeface="Roboto Mono" pitchFamily="49" charset="-122"/>
                          <a:cs typeface="Roboto Mono" pitchFamily="49" charset="-120"/>
                        </a:rPr>
                        <a:t>col0 (P)</a:t>
                      </a:r>
                      <a:endParaRPr lang="en-US" sz="1159" dirty="0">
                        <a:latin typeface="Roboto Mono" charset="0"/>
                        <a:ea typeface="Roboto Mono" charset="0"/>
                        <a:cs typeface="Roboto Mono" charset="0"/>
                      </a:endParaRPr>
                    </a:p>
                  </a:txBody>
                  <a:tcPr marL="51506" marR="51506" marT="51506" marB="51506"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1622"/>
                        </a:lnSpc>
                        <a:buNone/>
                      </a:pPr>
                      <a:r>
                        <a:rPr lang="en-US" sz="1159" b="1" dirty="0">
                          <a:solidFill>
                            <a:srgbClr val="FFFFFF"/>
                          </a:solidFill>
                          <a:latin typeface="Roboto Mono" pitchFamily="49" charset="0"/>
                          <a:ea typeface="Roboto Mono" pitchFamily="49" charset="-122"/>
                          <a:cs typeface="Roboto Mono" pitchFamily="49" charset="-120"/>
                        </a:rPr>
                        <a:t>col1 (S)</a:t>
                      </a:r>
                      <a:endParaRPr lang="en-US" sz="1159" dirty="0">
                        <a:latin typeface="Roboto Mono" charset="0"/>
                        <a:ea typeface="Roboto Mono" charset="0"/>
                        <a:cs typeface="Roboto Mono" charset="0"/>
                      </a:endParaRPr>
                    </a:p>
                  </a:txBody>
                  <a:tcPr marL="51506" marR="51506" marT="51506" marB="51506"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1622"/>
                        </a:lnSpc>
                        <a:buNone/>
                      </a:pPr>
                      <a:r>
                        <a:rPr lang="en-US" sz="1159" b="1" dirty="0">
                          <a:solidFill>
                            <a:srgbClr val="FFFFFF"/>
                          </a:solidFill>
                          <a:latin typeface="Roboto Mono" pitchFamily="49" charset="0"/>
                          <a:ea typeface="Roboto Mono" pitchFamily="49" charset="-122"/>
                          <a:cs typeface="Roboto Mono" pitchFamily="49" charset="-120"/>
                        </a:rPr>
                        <a:t>col2 (O)</a:t>
                      </a:r>
                      <a:endParaRPr lang="en-US" sz="1159" dirty="0">
                        <a:latin typeface="Roboto Mono" charset="0"/>
                        <a:ea typeface="Roboto Mono" charset="0"/>
                        <a:cs typeface="Roboto Mono" charset="0"/>
                      </a:endParaRPr>
                    </a:p>
                  </a:txBody>
                  <a:tcPr marL="51506" marR="51506" marT="51506" marB="51506"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322157">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0</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4000000000100FF0</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40000000000979A6</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400000000009DB51</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2157">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1</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4000000000100FF0</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40000000000979A7</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400000000009DB51</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2157">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2</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4000000000100FF0</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40000000000979A8</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400000000009DB4F</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2157">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3</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4000000000100FF0</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40000000000979A9</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400000000009DB57</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2157">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4000000000100FF0</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40000000000979AA</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400000000009DB56</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2157">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a:t>
                      </a:r>
                      <a:endParaRPr lang="en-US" sz="1159" dirty="0">
                        <a:latin typeface="Roboto Mono" charset="0"/>
                        <a:ea typeface="Roboto Mono" charset="0"/>
                        <a:cs typeface="Roboto Mono" charset="0"/>
                      </a:endParaRPr>
                    </a:p>
                  </a:txBody>
                  <a:tcPr marL="51506" marR="51506" marT="51506" marB="51506"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identical, 31,250 times</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+1 every row</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22"/>
                        </a:lnSpc>
                        <a:buNone/>
                      </a:pPr>
                      <a:r>
                        <a:rPr lang="en-US" sz="1159" dirty="0">
                          <a:solidFill>
                            <a:srgbClr val="000000"/>
                          </a:solidFill>
                          <a:latin typeface="Roboto Mono" pitchFamily="49" charset="0"/>
                          <a:ea typeface="Roboto Mono" pitchFamily="49" charset="-122"/>
                          <a:cs typeface="Roboto Mono" pitchFamily="49" charset="-120"/>
                        </a:rPr>
                        <a:t>~10 distinct values</a:t>
                      </a:r>
                      <a:endParaRPr lang="en-US" sz="1159" dirty="0">
                        <a:latin typeface="Roboto Mono" charset="0"/>
                        <a:ea typeface="Roboto Mono" charset="0"/>
                        <a:cs typeface="Roboto Mono" charset="0"/>
                      </a:endParaRPr>
                    </a:p>
                  </a:txBody>
                  <a:tcPr marL="51506" marR="51506" marT="51506" marB="51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Text 7"/>
          <p:cNvSpPr/>
          <p:nvPr/>
        </p:nvSpPr>
        <p:spPr>
          <a:xfrm>
            <a:off x="660400" y="4145917"/>
            <a:ext cx="11197336" cy="241194"/>
          </a:xfrm>
          <a:prstGeom prst="rect">
            <a:avLst/>
          </a:prstGeom>
          <a:noFill/>
          <a:ln/>
        </p:spPr>
        <p:txBody>
          <a:bodyPr wrap="square" lIns="0" tIns="0" rIns="0" bIns="0" rtlCol="0" anchor="t">
            <a:normAutofit/>
          </a:bodyPr>
          <a:lstStyle/>
          <a:p>
            <a:pPr marL="0" indent="0" algn="l">
              <a:lnSpc>
                <a:spcPts val="1722"/>
              </a:lnSpc>
              <a:buNone/>
            </a:pPr>
            <a:r>
              <a:rPr lang="en-US" sz="1276" dirty="0">
                <a:solidFill>
                  <a:srgbClr val="000000"/>
                </a:solidFill>
                <a:latin typeface="Roboto" pitchFamily="34" charset="0"/>
                <a:ea typeface="Roboto" pitchFamily="34" charset="-122"/>
                <a:cs typeface="Roboto" pitchFamily="34" charset="-120"/>
              </a:rPr>
              <a:t>Row 0 spelled out: </a:t>
            </a:r>
            <a:r>
              <a:rPr lang="en-US" sz="1276" b="1" dirty="0">
                <a:solidFill>
                  <a:srgbClr val="000000"/>
                </a:solidFill>
                <a:latin typeface="Roboto" pitchFamily="34" charset="0"/>
                <a:ea typeface="Roboto" pitchFamily="34" charset="-122"/>
                <a:cs typeface="Roboto" pitchFamily="34" charset="-120"/>
              </a:rPr>
              <a:t>&lt;…#type&gt;</a:t>
            </a:r>
            <a:r>
              <a:rPr lang="en-US" sz="1276" dirty="0">
                <a:solidFill>
                  <a:srgbClr val="000000"/>
                </a:solidFill>
                <a:latin typeface="Roboto" pitchFamily="34" charset="0"/>
                <a:ea typeface="Roboto" pitchFamily="34" charset="-122"/>
                <a:cs typeface="Roboto" pitchFamily="34" charset="-120"/>
              </a:rPr>
              <a:t> · </a:t>
            </a:r>
            <a:r>
              <a:rPr lang="en-US" sz="1276" b="1" dirty="0">
                <a:solidFill>
                  <a:srgbClr val="000000"/>
                </a:solidFill>
                <a:latin typeface="Roboto" pitchFamily="34" charset="0"/>
                <a:ea typeface="Roboto" pitchFamily="34" charset="-122"/>
                <a:cs typeface="Roboto" pitchFamily="34" charset="-120"/>
              </a:rPr>
              <a:t>&lt;…wsdbm/Product0&gt;</a:t>
            </a:r>
            <a:r>
              <a:rPr lang="en-US" sz="1276" dirty="0">
                <a:solidFill>
                  <a:srgbClr val="000000"/>
                </a:solidFill>
                <a:latin typeface="Roboto" pitchFamily="34" charset="0"/>
                <a:ea typeface="Roboto" pitchFamily="34" charset="-122"/>
                <a:cs typeface="Roboto" pitchFamily="34" charset="-120"/>
              </a:rPr>
              <a:t> · </a:t>
            </a:r>
            <a:r>
              <a:rPr lang="en-US" sz="1276" b="1" dirty="0">
                <a:solidFill>
                  <a:srgbClr val="000000"/>
                </a:solidFill>
                <a:latin typeface="Roboto" pitchFamily="34" charset="0"/>
                <a:ea typeface="Roboto" pitchFamily="34" charset="-122"/>
                <a:cs typeface="Roboto" pitchFamily="34" charset="-120"/>
              </a:rPr>
              <a:t>&lt;…wsdbm/ProductCategory11&gt;</a:t>
            </a:r>
            <a:r>
              <a:rPr lang="en-US" sz="1276" dirty="0">
                <a:solidFill>
                  <a:srgbClr val="000000"/>
                </a:solidFill>
                <a:latin typeface="Roboto" pitchFamily="34" charset="0"/>
                <a:ea typeface="Roboto" pitchFamily="34" charset="-122"/>
                <a:cs typeface="Roboto" pitchFamily="34" charset="-120"/>
              </a:rPr>
              <a:t> — and a fourth column holds the graph.</a:t>
            </a:r>
            <a:endParaRPr lang="en-US" sz="1276" dirty="0"/>
          </a:p>
        </p:txBody>
      </p:sp>
      <p:sp>
        <p:nvSpPr>
          <p:cNvPr id="11" name="Text 8"/>
          <p:cNvSpPr/>
          <p:nvPr/>
        </p:nvSpPr>
        <p:spPr>
          <a:xfrm>
            <a:off x="660400" y="4463312"/>
            <a:ext cx="11197336" cy="265218"/>
          </a:xfrm>
          <a:prstGeom prst="rect">
            <a:avLst/>
          </a:prstGeom>
          <a:noFill/>
          <a:ln/>
        </p:spPr>
        <p:txBody>
          <a:bodyPr wrap="square" lIns="0" tIns="0" rIns="0" bIns="0" rtlCol="0" anchor="t">
            <a:normAutofit/>
          </a:bodyPr>
          <a:lstStyle/>
          <a:p>
            <a:pPr marL="0" indent="0" algn="l">
              <a:lnSpc>
                <a:spcPts val="1920"/>
              </a:lnSpc>
              <a:buNone/>
            </a:pPr>
            <a:r>
              <a:rPr lang="en-US" sz="1477" b="1" dirty="0">
                <a:solidFill>
                  <a:srgbClr val="000000"/>
                </a:solidFill>
                <a:latin typeface="Roboto" pitchFamily="34" charset="0"/>
                <a:ea typeface="Roboto" pitchFamily="34" charset="-122"/>
                <a:cs typeface="Roboto" pitchFamily="34" charset="-120"/>
              </a:rPr>
              <a:t>That shape is why it compresses, and why the six permutations do not compress alike:</a:t>
            </a:r>
            <a:endParaRPr lang="en-US" sz="1477" dirty="0"/>
          </a:p>
        </p:txBody>
      </p:sp>
      <p:sp>
        <p:nvSpPr>
          <p:cNvPr id="12" name="Shape 9"/>
          <p:cNvSpPr/>
          <p:nvPr/>
        </p:nvSpPr>
        <p:spPr>
          <a:xfrm>
            <a:off x="11525250" y="4804730"/>
            <a:ext cx="0" cy="1608773"/>
          </a:xfrm>
          <a:prstGeom prst="line">
            <a:avLst/>
          </a:prstGeom>
          <a:noFill/>
          <a:ln w="12700">
            <a:solidFill>
              <a:srgbClr val="000000"/>
            </a:solidFill>
            <a:prstDash val="solid"/>
          </a:ln>
        </p:spPr>
      </p:sp>
      <p:sp>
        <p:nvSpPr>
          <p:cNvPr id="13" name="Shape 10"/>
          <p:cNvSpPr/>
          <p:nvPr/>
        </p:nvSpPr>
        <p:spPr>
          <a:xfrm>
            <a:off x="660400" y="6407153"/>
            <a:ext cx="10871200" cy="0"/>
          </a:xfrm>
          <a:prstGeom prst="line">
            <a:avLst/>
          </a:prstGeom>
          <a:noFill/>
          <a:ln w="12700">
            <a:solidFill>
              <a:srgbClr val="000000"/>
            </a:solidFill>
            <a:prstDash val="solid"/>
          </a:ln>
        </p:spPr>
      </p:sp>
      <p:sp>
        <p:nvSpPr>
          <p:cNvPr id="14" name="Shape 11"/>
          <p:cNvSpPr/>
          <p:nvPr/>
        </p:nvSpPr>
        <p:spPr>
          <a:xfrm>
            <a:off x="660400" y="4811080"/>
            <a:ext cx="10871200" cy="0"/>
          </a:xfrm>
          <a:prstGeom prst="line">
            <a:avLst/>
          </a:prstGeom>
          <a:noFill/>
          <a:ln w="12700">
            <a:solidFill>
              <a:srgbClr val="141413">
                <a:alpha val="22000"/>
              </a:srgbClr>
            </a:solidFill>
            <a:prstDash val="solid"/>
          </a:ln>
        </p:spPr>
      </p:sp>
      <p:sp>
        <p:nvSpPr>
          <p:cNvPr id="15" name="Shape 12"/>
          <p:cNvSpPr/>
          <p:nvPr/>
        </p:nvSpPr>
        <p:spPr>
          <a:xfrm>
            <a:off x="666750" y="4804730"/>
            <a:ext cx="0" cy="1608773"/>
          </a:xfrm>
          <a:prstGeom prst="line">
            <a:avLst/>
          </a:prstGeom>
          <a:noFill/>
          <a:ln w="12700">
            <a:solidFill>
              <a:srgbClr val="141413">
                <a:alpha val="22000"/>
              </a:srgbClr>
            </a:solidFill>
            <a:prstDash val="solid"/>
          </a:ln>
        </p:spPr>
      </p:sp>
      <p:graphicFrame>
        <p:nvGraphicFramePr>
          <p:cNvPr id="16" name="Table 1"/>
          <p:cNvGraphicFramePr>
            <a:graphicFrameLocks xmlns:a="http://schemas.openxmlformats.org/drawingml/2006/main" noGrp="1"/>
          </p:cNvGraphicFramePr>
          <p:nvPr/>
        </p:nvGraphicFramePr>
        <p:xfrm>
          <a:off x="742950" y="4887280"/>
          <a:ext cx="10706100" cy="1443673"/>
        </p:xfrm>
        <a:graphic>
          <a:graphicData uri="http://schemas.openxmlformats.org/drawingml/2006/table">
            <a:tbl>
              <a:tblPr/>
              <a:tblGrid>
                <a:gridCol w="1927098"/>
                <a:gridCol w="3211830"/>
                <a:gridCol w="2783586"/>
                <a:gridCol w="2783586"/>
              </a:tblGrid>
              <a:tr h="360998">
                <a:tc>
                  <a:txBody>
                    <a:bodyPr/>
                    <a:lstStyle/>
                    <a:p>
                      <a:pPr marL="0" indent="0">
                        <a:lnSpc>
                          <a:spcPts val="1825"/>
                        </a:lnSpc>
                        <a:buNone/>
                      </a:pPr>
                      <a:r>
                        <a:rPr lang="en-US" sz="1304" b="1" dirty="0">
                          <a:solidFill>
                            <a:srgbClr val="FFFFFF"/>
                          </a:solidFill>
                          <a:latin typeface="Roboto" pitchFamily="34" charset="0"/>
                          <a:ea typeface="Roboto" pitchFamily="34" charset="-122"/>
                          <a:cs typeface="Roboto" pitchFamily="34" charset="-120"/>
                        </a:rPr>
                        <a:t>permutation</a:t>
                      </a:r>
                      <a:endParaRPr lang="en-US" sz="1304" dirty="0">
                        <a:latin typeface="Roboto" charset="0"/>
                        <a:ea typeface="Roboto" charset="0"/>
                        <a:cs typeface="Roboto" charset="0"/>
                      </a:endParaRPr>
                    </a:p>
                  </a:txBody>
                  <a:tcPr marL="57945" marR="57945" marT="57945" marB="57945"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1825"/>
                        </a:lnSpc>
                        <a:buNone/>
                      </a:pPr>
                      <a:r>
                        <a:rPr lang="en-US" sz="1304" b="1" dirty="0">
                          <a:solidFill>
                            <a:srgbClr val="FFFFFF"/>
                          </a:solidFill>
                          <a:latin typeface="Roboto" pitchFamily="34" charset="0"/>
                          <a:ea typeface="Roboto" pitchFamily="34" charset="-122"/>
                          <a:cs typeface="Roboto" pitchFamily="34" charset="-120"/>
                        </a:rPr>
                        <a:t>col0 is</a:t>
                      </a:r>
                      <a:endParaRPr lang="en-US" sz="1304" dirty="0">
                        <a:latin typeface="Roboto" charset="0"/>
                        <a:ea typeface="Roboto" charset="0"/>
                        <a:cs typeface="Roboto" charset="0"/>
                      </a:endParaRPr>
                    </a:p>
                  </a:txBody>
                  <a:tcPr marL="57945" marR="57945" marT="57945" marB="5794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1825"/>
                        </a:lnSpc>
                        <a:buNone/>
                      </a:pPr>
                      <a:r>
                        <a:rPr lang="en-US" sz="1304" b="1" dirty="0">
                          <a:solidFill>
                            <a:srgbClr val="FFFFFF"/>
                          </a:solidFill>
                          <a:latin typeface="Roboto" pitchFamily="34" charset="0"/>
                          <a:ea typeface="Roboto" pitchFamily="34" charset="-122"/>
                          <a:cs typeface="Roboto" pitchFamily="34" charset="-120"/>
                        </a:rPr>
                        <a:t>on disk (333 MB raw)</a:t>
                      </a:r>
                      <a:endParaRPr lang="en-US" sz="1304" dirty="0">
                        <a:latin typeface="Roboto" charset="0"/>
                        <a:ea typeface="Roboto" charset="0"/>
                        <a:cs typeface="Roboto" charset="0"/>
                      </a:endParaRPr>
                    </a:p>
                  </a:txBody>
                  <a:tcPr marL="57945" marR="57945" marT="57945" marB="5794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1825"/>
                        </a:lnSpc>
                        <a:buNone/>
                      </a:pPr>
                      <a:r>
                        <a:rPr lang="en-US" sz="1304" b="1" dirty="0">
                          <a:solidFill>
                            <a:srgbClr val="FFFFFF"/>
                          </a:solidFill>
                          <a:latin typeface="Roboto" pitchFamily="34" charset="0"/>
                          <a:ea typeface="Roboto" pitchFamily="34" charset="-122"/>
                          <a:cs typeface="Roboto" pitchFamily="34" charset="-120"/>
                        </a:rPr>
                        <a:t>ratio</a:t>
                      </a:r>
                      <a:endParaRPr lang="en-US" sz="1304" dirty="0">
                        <a:latin typeface="Roboto" charset="0"/>
                        <a:ea typeface="Roboto" charset="0"/>
                        <a:cs typeface="Roboto" charset="0"/>
                      </a:endParaRPr>
                    </a:p>
                  </a:txBody>
                  <a:tcPr marL="57945" marR="57945" marT="57945" marB="5794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360892">
                <a:tc>
                  <a:txBody>
                    <a:bodyPr/>
                    <a:lstStyle/>
                    <a:p>
                      <a:pPr marL="0" indent="0">
                        <a:lnSpc>
                          <a:spcPts val="1825"/>
                        </a:lnSpc>
                        <a:buNone/>
                      </a:pPr>
                      <a:r>
                        <a:rPr lang="en-US" sz="1304" dirty="0">
                          <a:solidFill>
                            <a:srgbClr val="000000"/>
                          </a:solidFill>
                          <a:latin typeface="Roboto" pitchFamily="34" charset="0"/>
                          <a:ea typeface="Roboto" pitchFamily="34" charset="-122"/>
                          <a:cs typeface="Roboto" pitchFamily="34" charset="-120"/>
                        </a:rPr>
                        <a:t>SPO</a:t>
                      </a:r>
                      <a:endParaRPr lang="en-US" sz="1304" dirty="0">
                        <a:latin typeface="Roboto" charset="0"/>
                        <a:ea typeface="Roboto" charset="0"/>
                        <a:cs typeface="Roboto" charset="0"/>
                      </a:endParaRPr>
                    </a:p>
                  </a:txBody>
                  <a:tcPr marL="57945" marR="57945" marT="57945" marB="5794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5"/>
                        </a:lnSpc>
                        <a:buNone/>
                      </a:pPr>
                      <a:r>
                        <a:rPr lang="en-US" sz="1304" dirty="0">
                          <a:solidFill>
                            <a:srgbClr val="000000"/>
                          </a:solidFill>
                          <a:latin typeface="Roboto" pitchFamily="34" charset="0"/>
                          <a:ea typeface="Roboto" pitchFamily="34" charset="-122"/>
                          <a:cs typeface="Roboto" pitchFamily="34" charset="-120"/>
                        </a:rPr>
                        <a:t>subject — 521,585 values</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5"/>
                        </a:lnSpc>
                        <a:buNone/>
                      </a:pPr>
                      <a:r>
                        <a:rPr lang="en-US" sz="1304" dirty="0">
                          <a:solidFill>
                            <a:srgbClr val="000000"/>
                          </a:solidFill>
                          <a:latin typeface="Roboto" pitchFamily="34" charset="0"/>
                          <a:ea typeface="Roboto" pitchFamily="34" charset="-122"/>
                          <a:cs typeface="Roboto" pitchFamily="34" charset="-120"/>
                        </a:rPr>
                        <a:t>28.4 MB</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5"/>
                        </a:lnSpc>
                        <a:buNone/>
                      </a:pPr>
                      <a:r>
                        <a:rPr lang="en-US" sz="1304" dirty="0">
                          <a:solidFill>
                            <a:srgbClr val="38761D"/>
                          </a:solidFill>
                          <a:latin typeface="Roboto" pitchFamily="34" charset="0"/>
                          <a:ea typeface="Roboto" pitchFamily="34" charset="-122"/>
                          <a:cs typeface="Roboto" pitchFamily="34" charset="-120"/>
                        </a:rPr>
                        <a:t>11.7×</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60892">
                <a:tc>
                  <a:txBody>
                    <a:bodyPr/>
                    <a:lstStyle/>
                    <a:p>
                      <a:pPr marL="0" indent="0">
                        <a:lnSpc>
                          <a:spcPts val="1825"/>
                        </a:lnSpc>
                        <a:buNone/>
                      </a:pPr>
                      <a:r>
                        <a:rPr lang="en-US" sz="1304" dirty="0">
                          <a:solidFill>
                            <a:srgbClr val="000000"/>
                          </a:solidFill>
                          <a:latin typeface="Roboto" pitchFamily="34" charset="0"/>
                          <a:ea typeface="Roboto" pitchFamily="34" charset="-122"/>
                          <a:cs typeface="Roboto" pitchFamily="34" charset="-120"/>
                        </a:rPr>
                        <a:t>PSO</a:t>
                      </a:r>
                      <a:endParaRPr lang="en-US" sz="1304" dirty="0">
                        <a:latin typeface="Roboto" charset="0"/>
                        <a:ea typeface="Roboto" charset="0"/>
                        <a:cs typeface="Roboto" charset="0"/>
                      </a:endParaRPr>
                    </a:p>
                  </a:txBody>
                  <a:tcPr marL="57945" marR="57945" marT="57945" marB="5794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5"/>
                        </a:lnSpc>
                        <a:buNone/>
                      </a:pPr>
                      <a:r>
                        <a:rPr lang="en-US" sz="1304" dirty="0">
                          <a:solidFill>
                            <a:srgbClr val="000000"/>
                          </a:solidFill>
                          <a:latin typeface="Roboto" pitchFamily="34" charset="0"/>
                          <a:ea typeface="Roboto" pitchFamily="34" charset="-122"/>
                          <a:cs typeface="Roboto" pitchFamily="34" charset="-120"/>
                        </a:rPr>
                        <a:t>predicate — 86 values</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5"/>
                        </a:lnSpc>
                        <a:buNone/>
                      </a:pPr>
                      <a:r>
                        <a:rPr lang="en-US" sz="1304" dirty="0">
                          <a:solidFill>
                            <a:srgbClr val="000000"/>
                          </a:solidFill>
                          <a:latin typeface="Roboto" pitchFamily="34" charset="0"/>
                          <a:ea typeface="Roboto" pitchFamily="34" charset="-122"/>
                          <a:cs typeface="Roboto" pitchFamily="34" charset="-120"/>
                        </a:rPr>
                        <a:t>45.3 MB</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5"/>
                        </a:lnSpc>
                        <a:buNone/>
                      </a:pPr>
                      <a:r>
                        <a:rPr lang="en-US" sz="1304" dirty="0">
                          <a:solidFill>
                            <a:srgbClr val="000000"/>
                          </a:solidFill>
                          <a:latin typeface="Roboto" pitchFamily="34" charset="0"/>
                          <a:ea typeface="Roboto" pitchFamily="34" charset="-122"/>
                          <a:cs typeface="Roboto" pitchFamily="34" charset="-120"/>
                        </a:rPr>
                        <a:t>7.4×</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60892">
                <a:tc>
                  <a:txBody>
                    <a:bodyPr/>
                    <a:lstStyle/>
                    <a:p>
                      <a:pPr marL="0" indent="0">
                        <a:lnSpc>
                          <a:spcPts val="1825"/>
                        </a:lnSpc>
                        <a:buNone/>
                      </a:pPr>
                      <a:r>
                        <a:rPr lang="en-US" sz="1304" dirty="0">
                          <a:solidFill>
                            <a:srgbClr val="000000"/>
                          </a:solidFill>
                          <a:latin typeface="Roboto" pitchFamily="34" charset="0"/>
                          <a:ea typeface="Roboto" pitchFamily="34" charset="-122"/>
                          <a:cs typeface="Roboto" pitchFamily="34" charset="-120"/>
                        </a:rPr>
                        <a:t>OPS</a:t>
                      </a:r>
                      <a:endParaRPr lang="en-US" sz="1304" dirty="0">
                        <a:latin typeface="Roboto" charset="0"/>
                        <a:ea typeface="Roboto" charset="0"/>
                        <a:cs typeface="Roboto" charset="0"/>
                      </a:endParaRPr>
                    </a:p>
                  </a:txBody>
                  <a:tcPr marL="57945" marR="57945" marT="57945" marB="5794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5"/>
                        </a:lnSpc>
                        <a:buNone/>
                      </a:pPr>
                      <a:r>
                        <a:rPr lang="en-US" sz="1304" dirty="0">
                          <a:solidFill>
                            <a:srgbClr val="000000"/>
                          </a:solidFill>
                          <a:latin typeface="Roboto" pitchFamily="34" charset="0"/>
                          <a:ea typeface="Roboto" pitchFamily="34" charset="-122"/>
                          <a:cs typeface="Roboto" pitchFamily="34" charset="-120"/>
                        </a:rPr>
                        <a:t>object — 1,005,832 values</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5"/>
                        </a:lnSpc>
                        <a:buNone/>
                      </a:pPr>
                      <a:r>
                        <a:rPr lang="en-US" sz="1304" dirty="0">
                          <a:solidFill>
                            <a:srgbClr val="000000"/>
                          </a:solidFill>
                          <a:latin typeface="Roboto" pitchFamily="34" charset="0"/>
                          <a:ea typeface="Roboto" pitchFamily="34" charset="-122"/>
                          <a:cs typeface="Roboto" pitchFamily="34" charset="-120"/>
                        </a:rPr>
                        <a:t>47.9 MB</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5"/>
                        </a:lnSpc>
                        <a:buNone/>
                      </a:pPr>
                      <a:r>
                        <a:rPr lang="en-US" sz="1304" dirty="0">
                          <a:solidFill>
                            <a:srgbClr val="000000"/>
                          </a:solidFill>
                          <a:latin typeface="Roboto" pitchFamily="34" charset="0"/>
                          <a:ea typeface="Roboto" pitchFamily="34" charset="-122"/>
                          <a:cs typeface="Roboto" pitchFamily="34" charset="-120"/>
                        </a:rPr>
                        <a:t>6.9×</a:t>
                      </a:r>
                      <a:endParaRPr lang="en-US" sz="1304" dirty="0">
                        <a:latin typeface="Roboto" charset="0"/>
                        <a:ea typeface="Roboto" charset="0"/>
                        <a:cs typeface="Roboto" charset="0"/>
                      </a:endParaRPr>
                    </a:p>
                  </a:txBody>
                  <a:tcPr marL="57945" marR="57945" marT="57945" marB="5794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7" name="Text 13"/>
          <p:cNvSpPr/>
          <p:nvPr/>
        </p:nvSpPr>
        <p:spPr>
          <a:xfrm>
            <a:off x="10744200" y="63855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What is held in RAM</a:t>
            </a:r>
            <a:endParaRPr lang="en-US" sz="4600" dirty="0"/>
          </a:p>
        </p:txBody>
      </p:sp>
      <p:sp>
        <p:nvSpPr>
          <p:cNvPr id="4" name="Shape 2"/>
          <p:cNvSpPr/>
          <p:nvPr/>
        </p:nvSpPr>
        <p:spPr>
          <a:xfrm>
            <a:off x="666750" y="1365250"/>
            <a:ext cx="5321300" cy="3365500"/>
          </a:xfrm>
          <a:prstGeom prst="rect">
            <a:avLst/>
          </a:prstGeom>
          <a:noFill/>
          <a:ln w="12700">
            <a:solidFill>
              <a:srgbClr val="000000"/>
            </a:solidFill>
            <a:prstDash val="solid"/>
          </a:ln>
        </p:spPr>
      </p:sp>
      <p:sp>
        <p:nvSpPr>
          <p:cNvPr id="5" name="Text 3"/>
          <p:cNvSpPr/>
          <p:nvPr/>
        </p:nvSpPr>
        <p:spPr>
          <a:xfrm>
            <a:off x="673100" y="1371600"/>
            <a:ext cx="5308600" cy="444500"/>
          </a:xfrm>
          <a:prstGeom prst="rect">
            <a:avLst/>
          </a:prstGeom>
          <a:solidFill>
            <a:srgbClr val="0084D1"/>
          </a:solidFill>
          <a:ln/>
        </p:spPr>
        <p:txBody>
          <a:bodyPr wrap="square" lIns="11938" tIns="88900" rIns="11938" bIns="63500" rtlCol="0" anchor="t">
            <a:normAutofit/>
          </a:bodyPr>
          <a:lstStyle/>
          <a:p>
            <a:pPr marL="0" indent="0" algn="ctr">
              <a:lnSpc>
                <a:spcPts val="2100"/>
              </a:lnSpc>
              <a:buNone/>
            </a:pPr>
            <a:r>
              <a:rPr lang="en-US" sz="1500" b="1" dirty="0">
                <a:solidFill>
                  <a:srgbClr val="FFFFFF"/>
                </a:solidFill>
                <a:latin typeface="Roboto" pitchFamily="34" charset="0"/>
                <a:ea typeface="Roboto" pitchFamily="34" charset="-122"/>
                <a:cs typeface="Roboto" pitchFamily="34" charset="-120"/>
              </a:rPr>
              <a:t>CompressedBlockMetadata — one per block</a:t>
            </a:r>
            <a:endParaRPr lang="en-US" sz="1500" dirty="0"/>
          </a:p>
        </p:txBody>
      </p:sp>
      <p:sp>
        <p:nvSpPr>
          <p:cNvPr id="6" name="Shape 4"/>
          <p:cNvSpPr/>
          <p:nvPr/>
        </p:nvSpPr>
        <p:spPr>
          <a:xfrm>
            <a:off x="673100" y="1822450"/>
            <a:ext cx="5308600" cy="0"/>
          </a:xfrm>
          <a:prstGeom prst="line">
            <a:avLst/>
          </a:prstGeom>
          <a:noFill/>
          <a:ln w="12700">
            <a:solidFill>
              <a:srgbClr val="141413">
                <a:alpha val="22000"/>
              </a:srgbClr>
            </a:solidFill>
            <a:prstDash val="solid"/>
          </a:ln>
        </p:spPr>
      </p:sp>
      <p:sp>
        <p:nvSpPr>
          <p:cNvPr id="7" name="Shape 5"/>
          <p:cNvSpPr/>
          <p:nvPr/>
        </p:nvSpPr>
        <p:spPr>
          <a:xfrm>
            <a:off x="679450" y="1816100"/>
            <a:ext cx="0" cy="2908300"/>
          </a:xfrm>
          <a:prstGeom prst="line">
            <a:avLst/>
          </a:prstGeom>
          <a:noFill/>
          <a:ln w="12700">
            <a:solidFill>
              <a:srgbClr val="141413">
                <a:alpha val="22000"/>
              </a:srgbClr>
            </a:solidFill>
            <a:prstDash val="solid"/>
          </a:ln>
        </p:spPr>
      </p:sp>
      <p:graphicFrame>
        <p:nvGraphicFramePr>
          <p:cNvPr id="8" name="Table 0"/>
          <p:cNvGraphicFramePr>
            <a:graphicFrameLocks xmlns:a="http://schemas.openxmlformats.org/drawingml/2006/main" noGrp="1"/>
          </p:cNvGraphicFramePr>
          <p:nvPr/>
        </p:nvGraphicFramePr>
        <p:xfrm>
          <a:off x="755650" y="1898650"/>
          <a:ext cx="5156200" cy="2755900"/>
        </p:xfrm>
        <a:graphic>
          <a:graphicData uri="http://schemas.openxmlformats.org/drawingml/2006/table">
            <a:tbl>
              <a:tblPr/>
              <a:tblGrid>
                <a:gridCol w="2887472"/>
                <a:gridCol w="2268728"/>
              </a:tblGrid>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offsetsAndCompressedSize_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one per column</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numRows_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rows in this block</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10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firstTriple_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col0, col1, col2, graph</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10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lastTriple_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col0, col1, col2, graph</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graphInfo_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graphs present, if few</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containsDuplicates…</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…WithDifferentGraphs_</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blockIndex_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its place in the file</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Shape 6"/>
          <p:cNvSpPr/>
          <p:nvPr/>
        </p:nvSpPr>
        <p:spPr>
          <a:xfrm>
            <a:off x="6203950" y="1365250"/>
            <a:ext cx="5321300" cy="3365500"/>
          </a:xfrm>
          <a:prstGeom prst="rect">
            <a:avLst/>
          </a:prstGeom>
          <a:noFill/>
          <a:ln w="12700">
            <a:solidFill>
              <a:srgbClr val="000000"/>
            </a:solidFill>
            <a:prstDash val="solid"/>
          </a:ln>
        </p:spPr>
      </p:sp>
      <p:sp>
        <p:nvSpPr>
          <p:cNvPr id="10" name="Text 7"/>
          <p:cNvSpPr/>
          <p:nvPr/>
        </p:nvSpPr>
        <p:spPr>
          <a:xfrm>
            <a:off x="6210300" y="1371600"/>
            <a:ext cx="5308600" cy="444500"/>
          </a:xfrm>
          <a:prstGeom prst="rect">
            <a:avLst/>
          </a:prstGeom>
          <a:solidFill>
            <a:srgbClr val="0084D1"/>
          </a:solidFill>
          <a:ln/>
        </p:spPr>
        <p:txBody>
          <a:bodyPr wrap="square" lIns="11938" tIns="88900" rIns="11938" bIns="63500" rtlCol="0" anchor="t">
            <a:normAutofit/>
          </a:bodyPr>
          <a:lstStyle/>
          <a:p>
            <a:pPr marL="0" indent="0" algn="ctr">
              <a:lnSpc>
                <a:spcPts val="2100"/>
              </a:lnSpc>
              <a:buNone/>
            </a:pPr>
            <a:r>
              <a:rPr lang="en-US" sz="1500" b="1" dirty="0">
                <a:solidFill>
                  <a:srgbClr val="FFFFFF"/>
                </a:solidFill>
                <a:latin typeface="Roboto" pitchFamily="34" charset="0"/>
                <a:ea typeface="Roboto" pitchFamily="34" charset="-122"/>
                <a:cs typeface="Roboto" pitchFamily="34" charset="-120"/>
              </a:rPr>
              <a:t>CompressedRelationMetadata — one per relation</a:t>
            </a:r>
            <a:endParaRPr lang="en-US" sz="1500" dirty="0"/>
          </a:p>
        </p:txBody>
      </p:sp>
      <p:sp>
        <p:nvSpPr>
          <p:cNvPr id="11" name="Shape 8"/>
          <p:cNvSpPr/>
          <p:nvPr/>
        </p:nvSpPr>
        <p:spPr>
          <a:xfrm>
            <a:off x="6210300" y="1822450"/>
            <a:ext cx="5308600" cy="0"/>
          </a:xfrm>
          <a:prstGeom prst="line">
            <a:avLst/>
          </a:prstGeom>
          <a:noFill/>
          <a:ln w="12700">
            <a:solidFill>
              <a:srgbClr val="141413">
                <a:alpha val="22000"/>
              </a:srgbClr>
            </a:solidFill>
            <a:prstDash val="solid"/>
          </a:ln>
        </p:spPr>
      </p:sp>
      <p:sp>
        <p:nvSpPr>
          <p:cNvPr id="12" name="Shape 9"/>
          <p:cNvSpPr/>
          <p:nvPr/>
        </p:nvSpPr>
        <p:spPr>
          <a:xfrm>
            <a:off x="6216650" y="1816100"/>
            <a:ext cx="0" cy="2575560"/>
          </a:xfrm>
          <a:prstGeom prst="line">
            <a:avLst/>
          </a:prstGeom>
          <a:noFill/>
          <a:ln w="12700">
            <a:solidFill>
              <a:srgbClr val="141413">
                <a:alpha val="22000"/>
              </a:srgbClr>
            </a:solidFill>
            <a:prstDash val="solid"/>
          </a:ln>
        </p:spPr>
      </p:sp>
      <p:graphicFrame>
        <p:nvGraphicFramePr>
          <p:cNvPr id="13" name="Table 1"/>
          <p:cNvGraphicFramePr>
            <a:graphicFrameLocks xmlns:a="http://schemas.openxmlformats.org/drawingml/2006/main" noGrp="1"/>
          </p:cNvGraphicFramePr>
          <p:nvPr/>
        </p:nvGraphicFramePr>
        <p:xfrm>
          <a:off x="6292850" y="1898650"/>
          <a:ext cx="5156200" cy="2423160"/>
        </p:xfrm>
        <a:graphic>
          <a:graphicData uri="http://schemas.openxmlformats.org/drawingml/2006/table">
            <a:tbl>
              <a:tblPr/>
              <a:tblGrid>
                <a:gridCol w="2887472"/>
                <a:gridCol w="2268728"/>
              </a:tblGrid>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col0Id_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the relation itself</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0" cap="flat" cmpd="sng" algn="ctr">
                      <a:noFill/>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numRows_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its size</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multiplicityCol1_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1.0 means functional</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74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multiplicityCol2_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used by the planner</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10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offsetInBlock_</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where it starts inside a shared block</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100">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 uint64 max</a:t>
                      </a:r>
                      <a:endParaRPr lang="en-US" sz="1200" dirty="0">
                        <a:latin typeface="Roboto Mono" charset="0"/>
                        <a:ea typeface="Roboto Mono" charset="0"/>
                        <a:cs typeface="Roboto Mono" charset="0"/>
                      </a:endParaRPr>
                    </a:p>
                  </a:txBody>
                  <a:tcPr marL="53340" marR="53340" marT="53340" marB="5334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000000"/>
                          </a:solidFill>
                          <a:latin typeface="Roboto Mono" pitchFamily="49" charset="0"/>
                          <a:ea typeface="Roboto Mono" pitchFamily="49" charset="-122"/>
                          <a:cs typeface="Roboto Mono" pitchFamily="49" charset="-120"/>
                        </a:rPr>
                        <a:t>means: it owns its blocks</a:t>
                      </a:r>
                      <a:endParaRPr lang="en-US" sz="1200" dirty="0">
                        <a:latin typeface="Roboto Mono" charset="0"/>
                        <a:ea typeface="Roboto Mono" charset="0"/>
                        <a:cs typeface="Roboto Mon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4" name="Text 10"/>
          <p:cNvSpPr/>
          <p:nvPr/>
        </p:nvSpPr>
        <p:spPr>
          <a:xfrm>
            <a:off x="660400" y="4876800"/>
            <a:ext cx="11197336" cy="318770"/>
          </a:xfrm>
          <a:prstGeom prst="rect">
            <a:avLst/>
          </a:prstGeom>
          <a:noFill/>
          <a:ln/>
        </p:spPr>
        <p:txBody>
          <a:bodyPr wrap="square" lIns="0" tIns="0" rIns="0" bIns="0" rtlCol="0" anchor="t">
            <a:normAutofit/>
          </a:bodyPr>
          <a:lstStyle/>
          <a:p>
            <a:pPr marL="0" indent="0" algn="l">
              <a:lnSpc>
                <a:spcPts val="2310"/>
              </a:lnSpc>
              <a:buNone/>
            </a:pPr>
            <a:r>
              <a:rPr lang="en-US" sz="1650" b="1" dirty="0">
                <a:solidFill>
                  <a:srgbClr val="000000"/>
                </a:solidFill>
                <a:latin typeface="Roboto" pitchFamily="34" charset="0"/>
                <a:ea typeface="Roboto" pitchFamily="34" charset="-122"/>
                <a:cs typeface="Roboto" pitchFamily="34" charset="-120"/>
              </a:rPr>
              <a:t>Every block’s </a:t>
            </a:r>
            <a:r>
              <a:rPr lang="en-US" sz="1650" b="1" dirty="0">
                <a:solidFill>
                  <a:srgbClr val="FF0000"/>
                </a:solidFill>
                <a:latin typeface="Roboto" pitchFamily="34" charset="0"/>
                <a:ea typeface="Roboto" pitchFamily="34" charset="-122"/>
                <a:cs typeface="Roboto" pitchFamily="34" charset="-120"/>
              </a:rPr>
              <a:t>numRows_</a:t>
            </a:r>
            <a:r>
              <a:rPr lang="en-US" sz="1650" b="1" dirty="0">
                <a:solidFill>
                  <a:srgbClr val="000000"/>
                </a:solidFill>
                <a:latin typeface="Roboto" pitchFamily="34" charset="0"/>
                <a:ea typeface="Roboto" pitchFamily="34" charset="-122"/>
                <a:cs typeface="Roboto" pitchFamily="34" charset="-120"/>
              </a:rPr>
              <a:t> is </a:t>
            </a:r>
            <a:r>
              <a:rPr lang="en-US" sz="1650" b="1" dirty="0">
                <a:solidFill>
                  <a:srgbClr val="38761D"/>
                </a:solidFill>
                <a:latin typeface="Roboto" pitchFamily="34" charset="0"/>
                <a:ea typeface="Roboto" pitchFamily="34" charset="-122"/>
                <a:cs typeface="Roboto" pitchFamily="34" charset="-120"/>
              </a:rPr>
              <a:t>exact and already in memory</a:t>
            </a:r>
            <a:r>
              <a:rPr lang="en-US" sz="1650" b="1" dirty="0">
                <a:solidFill>
                  <a:srgbClr val="000000"/>
                </a:solidFill>
                <a:latin typeface="Roboto" pitchFamily="34" charset="0"/>
                <a:ea typeface="Roboto" pitchFamily="34" charset="-122"/>
                <a:cs typeface="Roboto" pitchFamily="34" charset="-120"/>
              </a:rPr>
              <a:t> — the whole offset mechanism rests on that one field.</a:t>
            </a:r>
            <a:endParaRPr lang="en-US" sz="1650" dirty="0"/>
          </a:p>
        </p:txBody>
      </p:sp>
      <p:sp>
        <p:nvSpPr>
          <p:cNvPr id="15" name="Text 11"/>
          <p:cNvSpPr/>
          <p:nvPr/>
        </p:nvSpPr>
        <p:spPr>
          <a:xfrm>
            <a:off x="660400" y="5309871"/>
            <a:ext cx="11197336" cy="274003"/>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000000"/>
                </a:solidFill>
                <a:latin typeface="Roboto" pitchFamily="34" charset="0"/>
                <a:ea typeface="Roboto" pitchFamily="34" charset="-122"/>
                <a:cs typeface="Roboto" pitchFamily="34" charset="-120"/>
              </a:rPr>
              <a:t>366 blocks for PSO, 234 for SPO, 249 for OPS: a few thousand records for a ten-million-triple index.</a:t>
            </a:r>
            <a:endParaRPr lang="en-US" sz="1450" dirty="0"/>
          </a:p>
        </p:txBody>
      </p:sp>
      <p:sp>
        <p:nvSpPr>
          <p:cNvPr id="16" name="Text 12"/>
          <p:cNvSpPr/>
          <p:nvPr/>
        </p:nvSpPr>
        <p:spPr>
          <a:xfrm>
            <a:off x="10744200" y="63474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A scan, step by step</a:t>
            </a:r>
            <a:endParaRPr lang="en-US" sz="4600" dirty="0"/>
          </a:p>
        </p:txBody>
      </p:sp>
      <p:sp>
        <p:nvSpPr>
          <p:cNvPr id="4" name="Shape 2"/>
          <p:cNvSpPr/>
          <p:nvPr/>
        </p:nvSpPr>
        <p:spPr>
          <a:xfrm>
            <a:off x="11525250" y="1358900"/>
            <a:ext cx="0" cy="3784600"/>
          </a:xfrm>
          <a:prstGeom prst="line">
            <a:avLst/>
          </a:prstGeom>
          <a:noFill/>
          <a:ln w="12700">
            <a:solidFill>
              <a:srgbClr val="000000"/>
            </a:solidFill>
            <a:prstDash val="solid"/>
          </a:ln>
        </p:spPr>
      </p:sp>
      <p:sp>
        <p:nvSpPr>
          <p:cNvPr id="5" name="Shape 3"/>
          <p:cNvSpPr/>
          <p:nvPr/>
        </p:nvSpPr>
        <p:spPr>
          <a:xfrm>
            <a:off x="660400" y="5137150"/>
            <a:ext cx="10871200" cy="0"/>
          </a:xfrm>
          <a:prstGeom prst="line">
            <a:avLst/>
          </a:prstGeom>
          <a:noFill/>
          <a:ln w="12700">
            <a:solidFill>
              <a:srgbClr val="000000"/>
            </a:solidFill>
            <a:prstDash val="solid"/>
          </a:ln>
        </p:spPr>
      </p:sp>
      <p:sp>
        <p:nvSpPr>
          <p:cNvPr id="6" name="Shape 4"/>
          <p:cNvSpPr/>
          <p:nvPr/>
        </p:nvSpPr>
        <p:spPr>
          <a:xfrm>
            <a:off x="660400" y="1365250"/>
            <a:ext cx="10871200" cy="0"/>
          </a:xfrm>
          <a:prstGeom prst="line">
            <a:avLst/>
          </a:prstGeom>
          <a:noFill/>
          <a:ln w="12700">
            <a:solidFill>
              <a:srgbClr val="141413">
                <a:alpha val="22000"/>
              </a:srgbClr>
            </a:solidFill>
            <a:prstDash val="solid"/>
          </a:ln>
        </p:spPr>
      </p:sp>
      <p:sp>
        <p:nvSpPr>
          <p:cNvPr id="7" name="Shape 5"/>
          <p:cNvSpPr/>
          <p:nvPr/>
        </p:nvSpPr>
        <p:spPr>
          <a:xfrm>
            <a:off x="666750" y="1358900"/>
            <a:ext cx="0" cy="3784600"/>
          </a:xfrm>
          <a:prstGeom prst="line">
            <a:avLst/>
          </a:prstGeom>
          <a:noFill/>
          <a:ln w="12700">
            <a:solidFill>
              <a:srgbClr val="141413">
                <a:alpha val="22000"/>
              </a:srgbClr>
            </a:solidFill>
            <a:prstDash val="solid"/>
          </a:ln>
        </p:spPr>
      </p:sp>
      <p:graphicFrame>
        <p:nvGraphicFramePr>
          <p:cNvPr id="8" name="Table 0"/>
          <p:cNvGraphicFramePr>
            <a:graphicFrameLocks xmlns:a="http://schemas.openxmlformats.org/drawingml/2006/main" noGrp="1"/>
          </p:cNvGraphicFramePr>
          <p:nvPr/>
        </p:nvGraphicFramePr>
        <p:xfrm>
          <a:off x="768350" y="1466850"/>
          <a:ext cx="10655300" cy="3568700"/>
        </p:xfrm>
        <a:graphic>
          <a:graphicData uri="http://schemas.openxmlformats.org/drawingml/2006/table">
            <a:tbl>
              <a:tblPr/>
              <a:tblGrid>
                <a:gridCol w="852424"/>
                <a:gridCol w="5114544"/>
                <a:gridCol w="4688332"/>
              </a:tblGrid>
              <a:tr h="412750">
                <a:tc>
                  <a:txBody>
                    <a:bodyPr/>
                    <a:lstStyle/>
                    <a:p>
                      <a:pPr marL="0" indent="0">
                        <a:lnSpc>
                          <a:spcPts val="2100"/>
                        </a:lnSpc>
                        <a:buNone/>
                      </a:pPr>
                      <a:r>
                        <a:rPr lang="en-US" sz="1500" b="1" dirty="0">
                          <a:solidFill>
                            <a:srgbClr val="FFFFFF"/>
                          </a:solidFill>
                          <a:latin typeface="Roboto" pitchFamily="34" charset="0"/>
                          <a:ea typeface="Roboto" pitchFamily="34" charset="-122"/>
                          <a:cs typeface="Roboto" pitchFamily="34" charset="-120"/>
                        </a:rPr>
                        <a:t>#</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100"/>
                        </a:lnSpc>
                        <a:buNone/>
                      </a:pPr>
                      <a:r>
                        <a:rPr lang="en-US" sz="1500" b="1" dirty="0">
                          <a:solidFill>
                            <a:srgbClr val="FFFFFF"/>
                          </a:solidFill>
                          <a:latin typeface="Roboto" pitchFamily="34" charset="0"/>
                          <a:ea typeface="Roboto" pitchFamily="34" charset="-122"/>
                          <a:cs typeface="Roboto" pitchFamily="34" charset="-120"/>
                        </a:rPr>
                        <a:t>what happens</a:t>
                      </a:r>
                      <a:endParaRPr lang="en-US" sz="1500" dirty="0">
                        <a:latin typeface="Roboto" charset="0"/>
                        <a:ea typeface="Roboto" charset="0"/>
                        <a:cs typeface="Roboto" charset="0"/>
                      </a:endParaRPr>
                    </a:p>
                  </a:txBody>
                  <a:tcPr marL="66675" marR="66675" marT="66675" marB="6667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100"/>
                        </a:lnSpc>
                        <a:buNone/>
                      </a:pPr>
                      <a:r>
                        <a:rPr lang="en-US" sz="1500" b="1" dirty="0">
                          <a:solidFill>
                            <a:srgbClr val="FFFFFF"/>
                          </a:solidFill>
                          <a:latin typeface="Roboto" pitchFamily="34" charset="0"/>
                          <a:ea typeface="Roboto" pitchFamily="34" charset="-122"/>
                          <a:cs typeface="Roboto" pitchFamily="34" charset="-120"/>
                        </a:rPr>
                        <a:t>cost</a:t>
                      </a:r>
                      <a:endParaRPr lang="en-US" sz="1500" dirty="0">
                        <a:latin typeface="Roboto" charset="0"/>
                        <a:ea typeface="Roboto" charset="0"/>
                        <a:cs typeface="Roboto" charset="0"/>
                      </a:endParaRPr>
                    </a:p>
                  </a:txBody>
                  <a:tcPr marL="66675" marR="66675" marT="66675" marB="6667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6794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1</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Resolve each bound component to an Id in the vocabulary</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a lookup</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2</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Pick the permutation whose key order puts them first</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free</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3</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Binary-search firstTriple_ / lastTriple_ for the block range</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in RAM, no I/O</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4</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Walk numRows_ to the block holding the offset</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in RAM — this is the patch</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5</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Read and decompress that block’s needed columns</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one block, every time</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6</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Trim the first and last block, which may be partial</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a scan of the block</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7</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Stream the blocks in between, ~20 in flight</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fast and parallel</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6"/>
          <p:cNvSpPr/>
          <p:nvPr/>
        </p:nvSpPr>
        <p:spPr>
          <a:xfrm>
            <a:off x="660400" y="5283200"/>
            <a:ext cx="11197336" cy="612140"/>
          </a:xfrm>
          <a:prstGeom prst="rect">
            <a:avLst/>
          </a:prstGeom>
          <a:noFill/>
          <a:ln/>
        </p:spPr>
        <p:txBody>
          <a:bodyPr wrap="square" lIns="0" tIns="0" rIns="0" bIns="0" rtlCol="0" anchor="t">
            <a:normAutofit/>
          </a:bodyPr>
          <a:lstStyle/>
          <a:p>
            <a:pPr marL="0" indent="0" algn="l">
              <a:lnSpc>
                <a:spcPts val="2310"/>
              </a:lnSpc>
              <a:buNone/>
            </a:pPr>
            <a:r>
              <a:rPr lang="en-US" sz="1650" b="1" dirty="0">
                <a:solidFill>
                  <a:srgbClr val="000000"/>
                </a:solidFill>
                <a:latin typeface="Roboto" pitchFamily="34" charset="0"/>
                <a:ea typeface="Roboto" pitchFamily="34" charset="-122"/>
                <a:cs typeface="Roboto" pitchFamily="34" charset="-120"/>
              </a:rPr>
              <a:t>Steps 1–4 are free. </a:t>
            </a:r>
            <a:r>
              <a:rPr lang="en-US" sz="1650" b="1" dirty="0">
                <a:solidFill>
                  <a:srgbClr val="FF0000"/>
                </a:solidFill>
                <a:latin typeface="Roboto" pitchFamily="34" charset="0"/>
                <a:ea typeface="Roboto" pitchFamily="34" charset="-122"/>
                <a:cs typeface="Roboto" pitchFamily="34" charset="-120"/>
              </a:rPr>
              <a:t>Step 5 is the whole cost of opening a scan</a:t>
            </a:r>
            <a:r>
              <a:rPr lang="en-US" sz="1650" b="1" dirty="0">
                <a:solidFill>
                  <a:srgbClr val="000000"/>
                </a:solidFill>
                <a:latin typeface="Roboto" pitchFamily="34" charset="0"/>
                <a:ea typeface="Roboto" pitchFamily="34" charset="-122"/>
                <a:cs typeface="Roboto" pitchFamily="34" charset="-120"/>
              </a:rPr>
              <a:t>, and it does not depend on how many rows you then read.</a:t>
            </a:r>
            <a:endParaRPr lang="en-US" sz="1650" dirty="0"/>
          </a:p>
        </p:txBody>
      </p:sp>
      <p:sp>
        <p:nvSpPr>
          <p:cNvPr id="10" name="Text 7"/>
          <p:cNvSpPr/>
          <p:nvPr/>
        </p:nvSpPr>
        <p:spPr>
          <a:xfrm>
            <a:off x="10744200" y="63474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Compatible anyway</a:t>
            </a:r>
            <a:endParaRPr lang="en-US" sz="4600" dirty="0"/>
          </a:p>
        </p:txBody>
      </p:sp>
      <p:sp>
        <p:nvSpPr>
          <p:cNvPr id="4" name="Text 2"/>
          <p:cNvSpPr/>
          <p:nvPr/>
        </p:nvSpPr>
        <p:spPr>
          <a:xfrm>
            <a:off x="681736" y="1447800"/>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000000"/>
                </a:solidFill>
                <a:latin typeface="Roboto" pitchFamily="34" charset="0"/>
                <a:ea typeface="Roboto" pitchFamily="34" charset="-122"/>
                <a:cs typeface="Roboto" pitchFamily="34" charset="-120"/>
              </a:rPr>
              <a:t>The block index holds </a:t>
            </a:r>
            <a:r>
              <a:rPr lang="en-US" sz="2200" b="1" dirty="0">
                <a:solidFill>
                  <a:srgbClr val="38761D"/>
                </a:solidFill>
                <a:latin typeface="Roboto" pitchFamily="34" charset="0"/>
                <a:ea typeface="Roboto" pitchFamily="34" charset="-122"/>
                <a:cs typeface="Roboto" pitchFamily="34" charset="-120"/>
              </a:rPr>
              <a:t>exact row counts</a:t>
            </a:r>
            <a:r>
              <a:rPr lang="en-US" sz="2200" b="1" dirty="0">
                <a:solidFill>
                  <a:srgbClr val="000000"/>
                </a:solidFill>
                <a:latin typeface="Roboto" pitchFamily="34" charset="0"/>
                <a:ea typeface="Roboto" pitchFamily="34" charset="-122"/>
                <a:cs typeface="Roboto" pitchFamily="34" charset="-120"/>
              </a:rPr>
              <a:t>, in RAM</a:t>
            </a:r>
            <a:endParaRPr lang="en-US" sz="2200" dirty="0"/>
          </a:p>
        </p:txBody>
      </p:sp>
      <p:sp>
        <p:nvSpPr>
          <p:cNvPr id="5" name="Text 3"/>
          <p:cNvSpPr/>
          <p:nvPr/>
        </p:nvSpPr>
        <p:spPr>
          <a:xfrm>
            <a:off x="1007872" y="2016758"/>
            <a:ext cx="10833100" cy="372745"/>
          </a:xfrm>
          <a:prstGeom prst="rect">
            <a:avLst/>
          </a:prstGeom>
          <a:noFill/>
          <a:ln/>
        </p:spPr>
        <p:txBody>
          <a:bodyPr wrap="square" lIns="0" tIns="0" rIns="0" bIns="0" rtlCol="0" anchor="t">
            <a:normAutofit/>
          </a:bodyPr>
          <a:lstStyle/>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an offset resolves </a:t>
            </a:r>
            <a:r>
              <a:rPr lang="en-US" sz="1900" b="1" dirty="0">
                <a:solidFill>
                  <a:srgbClr val="000000"/>
                </a:solidFill>
                <a:latin typeface="Roboto" pitchFamily="34" charset="0"/>
                <a:ea typeface="Roboto" pitchFamily="34" charset="-122"/>
                <a:cs typeface="Roboto" pitchFamily="34" charset="-120"/>
              </a:rPr>
              <a:t>before any block is read</a:t>
            </a:r>
            <a:endParaRPr lang="en-US" sz="1900" dirty="0"/>
          </a:p>
        </p:txBody>
      </p:sp>
      <p:sp>
        <p:nvSpPr>
          <p:cNvPr id="6" name="Text 4"/>
          <p:cNvSpPr/>
          <p:nvPr/>
        </p:nvSpPr>
        <p:spPr>
          <a:xfrm>
            <a:off x="681736" y="2529204"/>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000000"/>
                </a:solidFill>
                <a:latin typeface="Roboto" pitchFamily="34" charset="0"/>
                <a:ea typeface="Roboto" pitchFamily="34" charset="-122"/>
                <a:cs typeface="Roboto" pitchFamily="34" charset="-120"/>
              </a:rPr>
              <a:t>An exact cardinality exists too</a:t>
            </a:r>
            <a:endParaRPr lang="en-US" sz="2200" dirty="0"/>
          </a:p>
        </p:txBody>
      </p:sp>
      <p:sp>
        <p:nvSpPr>
          <p:cNvPr id="7" name="Text 5"/>
          <p:cNvSpPr/>
          <p:nvPr/>
        </p:nvSpPr>
        <p:spPr>
          <a:xfrm>
            <a:off x="1007872" y="3098167"/>
            <a:ext cx="10833100" cy="372745"/>
          </a:xfrm>
          <a:prstGeom prst="rect">
            <a:avLst/>
          </a:prstGeom>
          <a:noFill/>
          <a:ln/>
        </p:spPr>
        <p:txBody>
          <a:bodyPr wrap="square" lIns="0" tIns="0" rIns="0" bIns="0" rtlCol="0" anchor="t">
            <a:normAutofit/>
          </a:bodyPr>
          <a:lstStyle/>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it decompresses the two boundary blocks — correct, not free</a:t>
            </a:r>
            <a:endParaRPr lang="en-US" sz="1900" dirty="0"/>
          </a:p>
        </p:txBody>
      </p:sp>
      <p:sp>
        <p:nvSpPr>
          <p:cNvPr id="8" name="Text 6"/>
          <p:cNvSpPr/>
          <p:nvPr/>
        </p:nvSpPr>
        <p:spPr>
          <a:xfrm>
            <a:off x="681736" y="3610608"/>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000000"/>
                </a:solidFill>
                <a:latin typeface="Roboto" pitchFamily="34" charset="0"/>
                <a:ea typeface="Roboto" pitchFamily="34" charset="-122"/>
                <a:cs typeface="Roboto" pitchFamily="34" charset="-120"/>
              </a:rPr>
              <a:t>40 lines of QLever, </a:t>
            </a:r>
            <a:r>
              <a:rPr lang="en-US" sz="2200" b="1" dirty="0">
                <a:solidFill>
                  <a:srgbClr val="38761D"/>
                </a:solidFill>
                <a:latin typeface="Roboto" pitchFamily="34" charset="0"/>
                <a:ea typeface="Roboto" pitchFamily="34" charset="-122"/>
                <a:cs typeface="Roboto" pitchFamily="34" charset="-120"/>
              </a:rPr>
              <a:t>off by default</a:t>
            </a:r>
            <a:r>
              <a:rPr lang="en-US" sz="2200" b="1" dirty="0">
                <a:solidFill>
                  <a:srgbClr val="000000"/>
                </a:solidFill>
                <a:latin typeface="Roboto" pitchFamily="34" charset="0"/>
                <a:ea typeface="Roboto" pitchFamily="34" charset="-122"/>
                <a:cs typeface="Roboto" pitchFamily="34" charset="-120"/>
              </a:rPr>
              <a:t>, nothing in the index format</a:t>
            </a:r>
            <a:endParaRPr lang="en-US" sz="2200" dirty="0"/>
          </a:p>
        </p:txBody>
      </p:sp>
      <p:sp>
        <p:nvSpPr>
          <p:cNvPr id="9" name="Text 7"/>
          <p:cNvSpPr/>
          <p:nvPr/>
        </p:nvSpPr>
        <p:spPr>
          <a:xfrm>
            <a:off x="669925" y="4189096"/>
            <a:ext cx="9886950" cy="1188720"/>
          </a:xfrm>
          <a:prstGeom prst="rect">
            <a:avLst/>
          </a:prstGeom>
          <a:noFill/>
          <a:ln w="19050">
            <a:solidFill>
              <a:srgbClr val="FF0000"/>
            </a:solidFill>
            <a:prstDash val="solid"/>
          </a:ln>
        </p:spPr>
        <p:txBody>
          <a:bodyPr wrap="square" lIns="57722" tIns="200025" rIns="57722" bIns="174625" rtlCol="0" anchor="t">
            <a:normAutofit/>
          </a:bodyPr>
          <a:lstStyle/>
          <a:p>
            <a:pPr marL="0" indent="0" algn="ctr">
              <a:lnSpc>
                <a:spcPts val="3105"/>
              </a:lnSpc>
              <a:buNone/>
            </a:pPr>
            <a:r>
              <a:rPr lang="en-US" sz="2300" dirty="0">
                <a:solidFill>
                  <a:srgbClr val="000000"/>
                </a:solidFill>
                <a:latin typeface="Roboto" pitchFamily="34" charset="0"/>
                <a:ea typeface="Roboto" pitchFamily="34" charset="-122"/>
                <a:cs typeface="Roboto" pitchFamily="34" charset="-120"/>
              </a:rPr>
              <a:t>Everything a continuation depends on stays exact.</a:t>
            </a:r>
            <a:endParaRPr lang="en-US" sz="2300" dirty="0"/>
          </a:p>
          <a:p>
            <a:pPr marL="0" indent="0" algn="ctr">
              <a:lnSpc>
                <a:spcPts val="3105"/>
              </a:lnSpc>
              <a:buNone/>
            </a:pPr>
            <a:r>
              <a:rPr lang="en-US" sz="2300" dirty="0">
                <a:solidFill>
                  <a:srgbClr val="000000"/>
                </a:solidFill>
                <a:latin typeface="Roboto" pitchFamily="34" charset="0"/>
                <a:ea typeface="Roboto" pitchFamily="34" charset="-122"/>
                <a:cs typeface="Roboto" pitchFamily="34" charset="-120"/>
              </a:rPr>
              <a:t>What changes is the price, not the correctness.</a:t>
            </a:r>
            <a:endParaRPr lang="en-US" sz="2300" dirty="0"/>
          </a:p>
        </p:txBody>
      </p:sp>
      <p:sp>
        <p:nvSpPr>
          <p:cNvPr id="10" name="Text 8"/>
          <p:cNvSpPr/>
          <p:nvPr/>
        </p:nvSpPr>
        <p:spPr>
          <a:xfrm>
            <a:off x="10744200" y="63220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What it costs instead</a:t>
            </a:r>
            <a:endParaRPr lang="en-US" sz="4600" dirty="0"/>
          </a:p>
        </p:txBody>
      </p:sp>
      <p:sp>
        <p:nvSpPr>
          <p:cNvPr id="4" name="Shape 2"/>
          <p:cNvSpPr/>
          <p:nvPr/>
        </p:nvSpPr>
        <p:spPr>
          <a:xfrm>
            <a:off x="11525250" y="1409700"/>
            <a:ext cx="0" cy="3516630"/>
          </a:xfrm>
          <a:prstGeom prst="line">
            <a:avLst/>
          </a:prstGeom>
          <a:noFill/>
          <a:ln w="12700">
            <a:solidFill>
              <a:srgbClr val="000000"/>
            </a:solidFill>
            <a:prstDash val="solid"/>
          </a:ln>
        </p:spPr>
      </p:sp>
      <p:sp>
        <p:nvSpPr>
          <p:cNvPr id="5" name="Shape 3"/>
          <p:cNvSpPr/>
          <p:nvPr/>
        </p:nvSpPr>
        <p:spPr>
          <a:xfrm>
            <a:off x="660400" y="4919980"/>
            <a:ext cx="10871200" cy="0"/>
          </a:xfrm>
          <a:prstGeom prst="line">
            <a:avLst/>
          </a:prstGeom>
          <a:noFill/>
          <a:ln w="12700">
            <a:solidFill>
              <a:srgbClr val="000000"/>
            </a:solidFill>
            <a:prstDash val="solid"/>
          </a:ln>
        </p:spPr>
      </p:sp>
      <p:sp>
        <p:nvSpPr>
          <p:cNvPr id="6" name="Shape 4"/>
          <p:cNvSpPr/>
          <p:nvPr/>
        </p:nvSpPr>
        <p:spPr>
          <a:xfrm>
            <a:off x="660400" y="1416050"/>
            <a:ext cx="10871200" cy="0"/>
          </a:xfrm>
          <a:prstGeom prst="line">
            <a:avLst/>
          </a:prstGeom>
          <a:noFill/>
          <a:ln w="12700">
            <a:solidFill>
              <a:srgbClr val="141413">
                <a:alpha val="22000"/>
              </a:srgbClr>
            </a:solidFill>
            <a:prstDash val="solid"/>
          </a:ln>
        </p:spPr>
      </p:sp>
      <p:sp>
        <p:nvSpPr>
          <p:cNvPr id="7" name="Shape 5"/>
          <p:cNvSpPr/>
          <p:nvPr/>
        </p:nvSpPr>
        <p:spPr>
          <a:xfrm>
            <a:off x="666750" y="1409700"/>
            <a:ext cx="0" cy="3516630"/>
          </a:xfrm>
          <a:prstGeom prst="line">
            <a:avLst/>
          </a:prstGeom>
          <a:noFill/>
          <a:ln w="12700">
            <a:solidFill>
              <a:srgbClr val="141413">
                <a:alpha val="22000"/>
              </a:srgbClr>
            </a:solidFill>
            <a:prstDash val="solid"/>
          </a:ln>
        </p:spPr>
      </p:sp>
      <p:graphicFrame>
        <p:nvGraphicFramePr>
          <p:cNvPr id="8" name="Table 0"/>
          <p:cNvGraphicFramePr>
            <a:graphicFrameLocks xmlns:a="http://schemas.openxmlformats.org/drawingml/2006/main" noGrp="1"/>
          </p:cNvGraphicFramePr>
          <p:nvPr/>
        </p:nvGraphicFramePr>
        <p:xfrm>
          <a:off x="787400" y="1536700"/>
          <a:ext cx="10617200" cy="3262630"/>
        </p:xfrm>
        <a:graphic>
          <a:graphicData uri="http://schemas.openxmlformats.org/drawingml/2006/table">
            <a:tbl>
              <a:tblPr/>
              <a:tblGrid>
                <a:gridCol w="5308600"/>
                <a:gridCol w="2654300"/>
                <a:gridCol w="2654300"/>
              </a:tblGrid>
              <a:tr h="466090">
                <a:tc>
                  <a:txBody>
                    <a:bodyPr/>
                    <a:lstStyle/>
                    <a:p>
                      <a:pPr marL="0" indent="0">
                        <a:lnSpc>
                          <a:spcPts val="2380"/>
                        </a:lnSpc>
                        <a:buNone/>
                      </a:pPr>
                      <a:r>
                        <a:rPr lang="en-US" sz="1700" b="1" dirty="0">
                          <a:solidFill>
                            <a:srgbClr val="FFFFFF"/>
                          </a:solidFill>
                          <a:latin typeface="Roboto" pitchFamily="34" charset="0"/>
                          <a:ea typeface="Roboto" pitchFamily="34" charset="-122"/>
                          <a:cs typeface="Roboto" pitchFamily="34" charset="-120"/>
                        </a:rPr>
                        <a:t>QLever, per call</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380"/>
                        </a:lnSpc>
                        <a:buNone/>
                      </a:pPr>
                      <a:r>
                        <a:rPr lang="en-US" sz="1700" b="1" dirty="0">
                          <a:solidFill>
                            <a:srgbClr val="FFFFFF"/>
                          </a:solidFill>
                          <a:latin typeface="Roboto" pitchFamily="34" charset="0"/>
                          <a:ea typeface="Roboto" pitchFamily="34" charset="-122"/>
                          <a:cs typeface="Roboto" pitchFamily="34" charset="-120"/>
                        </a:rPr>
                        <a:t>?s ?p ?o</a:t>
                      </a:r>
                      <a:endParaRPr lang="en-US" sz="1700" dirty="0">
                        <a:latin typeface="Roboto" charset="0"/>
                        <a:ea typeface="Roboto" charset="0"/>
                        <a:cs typeface="Roboto" charset="0"/>
                      </a:endParaRPr>
                    </a:p>
                  </a:txBody>
                  <a:tcPr marL="75565" marR="75565" marT="75565" marB="7556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gn="r">
                        <a:lnSpc>
                          <a:spcPts val="2380"/>
                        </a:lnSpc>
                        <a:buNone/>
                      </a:pPr>
                      <a:r>
                        <a:rPr lang="en-US" sz="1700" b="1" dirty="0">
                          <a:solidFill>
                            <a:srgbClr val="FFFFFF"/>
                          </a:solidFill>
                          <a:latin typeface="Roboto" pitchFamily="34" charset="0"/>
                          <a:ea typeface="Roboto" pitchFamily="34" charset="-122"/>
                          <a:cs typeface="Roboto" pitchFamily="34" charset="-120"/>
                        </a:rPr>
                        <a:t>?s a ?c</a:t>
                      </a:r>
                      <a:endParaRPr lang="en-US" sz="1700" dirty="0">
                        <a:latin typeface="Roboto" charset="0"/>
                        <a:ea typeface="Roboto" charset="0"/>
                        <a:cs typeface="Roboto" charset="0"/>
                      </a:endParaRPr>
                    </a:p>
                  </a:txBody>
                  <a:tcPr marL="75565" marR="75565" marT="75565" marB="7556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466090">
                <a:tc>
                  <a:txBody>
                    <a:bodyPr/>
                    <a:lstStyle/>
                    <a:p>
                      <a:pPr marL="0" indent="0">
                        <a:lnSpc>
                          <a:spcPts val="2380"/>
                        </a:lnSpc>
                        <a:buNone/>
                      </a:pPr>
                      <a:r>
                        <a:rPr lang="en-US" sz="1700" dirty="0">
                          <a:solidFill>
                            <a:srgbClr val="000000"/>
                          </a:solidFill>
                          <a:latin typeface="Roboto" pitchFamily="34" charset="0"/>
                          <a:ea typeface="Roboto" pitchFamily="34" charset="-122"/>
                          <a:cs typeface="Roboto" pitchFamily="34" charset="-120"/>
                        </a:rPr>
                        <a:t>exact cardinality, no block cache</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000000"/>
                          </a:solidFill>
                          <a:latin typeface="Roboto" pitchFamily="34" charset="0"/>
                          <a:ea typeface="Roboto" pitchFamily="34" charset="-122"/>
                          <a:cs typeface="Roboto" pitchFamily="34" charset="-120"/>
                        </a:rPr>
                        <a:t>1,047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000000"/>
                          </a:solidFill>
                          <a:latin typeface="Roboto" pitchFamily="34" charset="0"/>
                          <a:ea typeface="Roboto" pitchFamily="34" charset="-122"/>
                          <a:cs typeface="Roboto" pitchFamily="34" charset="-120"/>
                        </a:rPr>
                        <a:t>766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6090">
                <a:tc>
                  <a:txBody>
                    <a:bodyPr/>
                    <a:lstStyle/>
                    <a:p>
                      <a:pPr marL="0" indent="0">
                        <a:lnSpc>
                          <a:spcPts val="2380"/>
                        </a:lnSpc>
                        <a:buNone/>
                      </a:pPr>
                      <a:r>
                        <a:rPr lang="en-US" sz="1700" dirty="0">
                          <a:solidFill>
                            <a:srgbClr val="000000"/>
                          </a:solidFill>
                          <a:latin typeface="Roboto" pitchFamily="34" charset="0"/>
                          <a:ea typeface="Roboto" pitchFamily="34" charset="-122"/>
                          <a:cs typeface="Roboto" pitchFamily="34" charset="-120"/>
                        </a:rPr>
                        <a:t>exact cardinality, cache of 16</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000000"/>
                          </a:solidFill>
                          <a:latin typeface="Roboto" pitchFamily="34" charset="0"/>
                          <a:ea typeface="Roboto" pitchFamily="34" charset="-122"/>
                          <a:cs typeface="Roboto" pitchFamily="34" charset="-120"/>
                        </a:rPr>
                        <a:t>33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000000"/>
                          </a:solidFill>
                          <a:latin typeface="Roboto" pitchFamily="34" charset="0"/>
                          <a:ea typeface="Roboto" pitchFamily="34" charset="-122"/>
                          <a:cs typeface="Roboto" pitchFamily="34" charset="-120"/>
                        </a:rPr>
                        <a:t>14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6090">
                <a:tc>
                  <a:txBody>
                    <a:bodyPr/>
                    <a:lstStyle/>
                    <a:p>
                      <a:pPr marL="0" indent="0">
                        <a:lnSpc>
                          <a:spcPts val="2380"/>
                        </a:lnSpc>
                        <a:buNone/>
                      </a:pPr>
                      <a:r>
                        <a:rPr lang="en-US" sz="1700" dirty="0">
                          <a:solidFill>
                            <a:srgbClr val="000000"/>
                          </a:solidFill>
                          <a:latin typeface="Roboto" pitchFamily="34" charset="0"/>
                          <a:ea typeface="Roboto" pitchFamily="34" charset="-122"/>
                          <a:cs typeface="Roboto" pitchFamily="34" charset="-120"/>
                        </a:rPr>
                        <a:t>the metadata estimate</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38761D"/>
                          </a:solidFill>
                          <a:latin typeface="Roboto" pitchFamily="34" charset="0"/>
                          <a:ea typeface="Roboto" pitchFamily="34" charset="-122"/>
                          <a:cs typeface="Roboto" pitchFamily="34" charset="-120"/>
                        </a:rPr>
                        <a:t>0.9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38761D"/>
                          </a:solidFill>
                          <a:latin typeface="Roboto" pitchFamily="34" charset="0"/>
                          <a:ea typeface="Roboto" pitchFamily="34" charset="-122"/>
                          <a:cs typeface="Roboto" pitchFamily="34" charset="-120"/>
                        </a:rPr>
                        <a:t>0.2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6090">
                <a:tc>
                  <a:txBody>
                    <a:bodyPr/>
                    <a:lstStyle/>
                    <a:p>
                      <a:pPr marL="0" indent="0">
                        <a:lnSpc>
                          <a:spcPts val="2380"/>
                        </a:lnSpc>
                        <a:buNone/>
                      </a:pPr>
                      <a:r>
                        <a:rPr lang="en-US" sz="1700" dirty="0">
                          <a:solidFill>
                            <a:srgbClr val="000000"/>
                          </a:solidFill>
                          <a:latin typeface="Roboto" pitchFamily="34" charset="0"/>
                          <a:ea typeface="Roboto" pitchFamily="34" charset="-122"/>
                          <a:cs typeface="Roboto" pitchFamily="34" charset="-120"/>
                        </a:rPr>
                        <a:t>re-enter at an advancing offset</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000000"/>
                          </a:solidFill>
                          <a:latin typeface="Roboto" pitchFamily="34" charset="0"/>
                          <a:ea typeface="Roboto" pitchFamily="34" charset="-122"/>
                          <a:cs typeface="Roboto" pitchFamily="34" charset="-120"/>
                        </a:rPr>
                        <a:t>1,812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38761D"/>
                          </a:solidFill>
                          <a:latin typeface="Roboto" pitchFamily="34" charset="0"/>
                          <a:ea typeface="Roboto" pitchFamily="34" charset="-122"/>
                          <a:cs typeface="Roboto" pitchFamily="34" charset="-120"/>
                        </a:rPr>
                        <a:t>14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6090">
                <a:tc>
                  <a:txBody>
                    <a:bodyPr/>
                    <a:lstStyle/>
                    <a:p>
                      <a:pPr marL="0" indent="0">
                        <a:lnSpc>
                          <a:spcPts val="2380"/>
                        </a:lnSpc>
                        <a:buNone/>
                      </a:pPr>
                      <a:r>
                        <a:rPr lang="en-US" sz="1700" dirty="0">
                          <a:solidFill>
                            <a:srgbClr val="000000"/>
                          </a:solidFill>
                          <a:latin typeface="Roboto" pitchFamily="34" charset="0"/>
                          <a:ea typeface="Roboto" pitchFamily="34" charset="-122"/>
                          <a:cs typeface="Roboto" pitchFamily="34" charset="-120"/>
                        </a:rPr>
                        <a:t>re-enter at a scattered offset</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000000"/>
                          </a:solidFill>
                          <a:latin typeface="Roboto" pitchFamily="34" charset="0"/>
                          <a:ea typeface="Roboto" pitchFamily="34" charset="-122"/>
                          <a:cs typeface="Roboto" pitchFamily="34" charset="-120"/>
                        </a:rPr>
                        <a:t>3,063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FF0000"/>
                          </a:solidFill>
                          <a:latin typeface="Roboto" pitchFamily="34" charset="0"/>
                          <a:ea typeface="Roboto" pitchFamily="34" charset="-122"/>
                          <a:cs typeface="Roboto" pitchFamily="34" charset="-120"/>
                        </a:rPr>
                        <a:t>476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6090">
                <a:tc>
                  <a:txBody>
                    <a:bodyPr/>
                    <a:lstStyle/>
                    <a:p>
                      <a:pPr marL="0" indent="0">
                        <a:lnSpc>
                          <a:spcPts val="2380"/>
                        </a:lnSpc>
                        <a:buNone/>
                      </a:pPr>
                      <a:r>
                        <a:rPr lang="en-US" sz="1700" dirty="0">
                          <a:solidFill>
                            <a:srgbClr val="000000"/>
                          </a:solidFill>
                          <a:latin typeface="Roboto" pitchFamily="34" charset="0"/>
                          <a:ea typeface="Roboto" pitchFamily="34" charset="-122"/>
                          <a:cs typeface="Roboto" pitchFamily="34" charset="-120"/>
                        </a:rPr>
                        <a:t>one uniform draw</a:t>
                      </a:r>
                      <a:endParaRPr lang="en-US" sz="1700" dirty="0">
                        <a:latin typeface="Roboto" charset="0"/>
                        <a:ea typeface="Roboto" charset="0"/>
                        <a:cs typeface="Roboto" charset="0"/>
                      </a:endParaRPr>
                    </a:p>
                  </a:txBody>
                  <a:tcPr marL="75565" marR="75565" marT="75565" marB="7556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FF0000"/>
                          </a:solidFill>
                          <a:latin typeface="Roboto" pitchFamily="34" charset="0"/>
                          <a:ea typeface="Roboto" pitchFamily="34" charset="-122"/>
                          <a:cs typeface="Roboto" pitchFamily="34" charset="-120"/>
                        </a:rPr>
                        <a:t>2,725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2380"/>
                        </a:lnSpc>
                        <a:buNone/>
                      </a:pPr>
                      <a:r>
                        <a:rPr lang="en-US" sz="1700" dirty="0">
                          <a:solidFill>
                            <a:srgbClr val="FF0000"/>
                          </a:solidFill>
                          <a:latin typeface="Roboto" pitchFamily="34" charset="0"/>
                          <a:ea typeface="Roboto" pitchFamily="34" charset="-122"/>
                          <a:cs typeface="Roboto" pitchFamily="34" charset="-120"/>
                        </a:rPr>
                        <a:t>500 µs</a:t>
                      </a:r>
                      <a:endParaRPr lang="en-US" sz="1700" dirty="0">
                        <a:latin typeface="Roboto" charset="0"/>
                        <a:ea typeface="Roboto" charset="0"/>
                        <a:cs typeface="Robo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6"/>
          <p:cNvSpPr/>
          <p:nvPr/>
        </p:nvSpPr>
        <p:spPr>
          <a:xfrm>
            <a:off x="660400" y="5129529"/>
            <a:ext cx="11197336" cy="26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95959"/>
                </a:solidFill>
                <a:latin typeface="Roboto" pitchFamily="34" charset="0"/>
                <a:ea typeface="Roboto" pitchFamily="34" charset="-122"/>
                <a:cs typeface="Roboto" pitchFamily="34" charset="-120"/>
              </a:rPr>
              <a:t>WatDiv 10M · 10,916,457 and 136,215 matches · 100 calls each · skip is lazy, so every row reads a component afterwards</a:t>
            </a:r>
            <a:endParaRPr lang="en-US" sz="1400" dirty="0"/>
          </a:p>
        </p:txBody>
      </p:sp>
      <p:sp>
        <p:nvSpPr>
          <p:cNvPr id="10" name="Text 7"/>
          <p:cNvSpPr/>
          <p:nvPr/>
        </p:nvSpPr>
        <p:spPr>
          <a:xfrm>
            <a:off x="10744200" y="63220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13</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Limitations</a:t>
            </a:r>
            <a:endParaRPr lang="en-US" sz="4600" dirty="0"/>
          </a:p>
        </p:txBody>
      </p:sp>
      <p:sp>
        <p:nvSpPr>
          <p:cNvPr id="4" name="Text 2"/>
          <p:cNvSpPr/>
          <p:nvPr/>
        </p:nvSpPr>
        <p:spPr>
          <a:xfrm>
            <a:off x="681736" y="1447800"/>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38761D"/>
                </a:solidFill>
                <a:latin typeface="Roboto" pitchFamily="34" charset="0"/>
                <a:ea typeface="Roboto" pitchFamily="34" charset="-122"/>
                <a:cs typeface="Roboto" pitchFamily="34" charset="-120"/>
              </a:rPr>
              <a:t>A continuation re-enters where it stopped — </a:t>
            </a:r>
            <a:r>
              <a:rPr lang="en-US" sz="2200" b="1" dirty="0">
                <a:solidFill>
                  <a:srgbClr val="38761D"/>
                </a:solidFill>
                <a:latin typeface="Roboto" pitchFamily="34" charset="0"/>
                <a:ea typeface="Roboto" pitchFamily="34" charset="-122"/>
                <a:cs typeface="Roboto" pitchFamily="34" charset="-120"/>
              </a:rPr>
              <a:t>14 µs</a:t>
            </a:r>
            <a:endParaRPr lang="en-US" sz="2200" dirty="0"/>
          </a:p>
        </p:txBody>
      </p:sp>
      <p:sp>
        <p:nvSpPr>
          <p:cNvPr id="5" name="Text 3"/>
          <p:cNvSpPr/>
          <p:nvPr/>
        </p:nvSpPr>
        <p:spPr>
          <a:xfrm>
            <a:off x="1007872" y="2016758"/>
            <a:ext cx="10833100" cy="372745"/>
          </a:xfrm>
          <a:prstGeom prst="rect">
            <a:avLst/>
          </a:prstGeom>
          <a:noFill/>
          <a:ln/>
        </p:spPr>
        <p:txBody>
          <a:bodyPr wrap="square" lIns="0" tIns="0" rIns="0" bIns="0" rtlCol="0" anchor="t">
            <a:normAutofit/>
          </a:bodyPr>
          <a:lstStyle/>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it stays in the same block, which is what the block cache is for</a:t>
            </a:r>
            <a:endParaRPr lang="en-US" sz="1900" dirty="0"/>
          </a:p>
        </p:txBody>
      </p:sp>
      <p:sp>
        <p:nvSpPr>
          <p:cNvPr id="6" name="Text 4"/>
          <p:cNvSpPr/>
          <p:nvPr/>
        </p:nvSpPr>
        <p:spPr>
          <a:xfrm>
            <a:off x="681736" y="2529204"/>
            <a:ext cx="11168380" cy="429260"/>
          </a:xfrm>
          <a:prstGeom prst="rect">
            <a:avLst/>
          </a:prstGeom>
          <a:noFill/>
          <a:ln/>
        </p:spPr>
        <p:txBody>
          <a:bodyPr wrap="square" lIns="0" tIns="0" rIns="0" bIns="0" rtlCol="0" anchor="t">
            <a:normAutofit/>
          </a:bodyPr>
          <a:lstStyle/>
          <a:p>
            <a:pPr marL="232664" indent="-232664" algn="l">
              <a:lnSpc>
                <a:spcPts val="3080"/>
              </a:lnSpc>
              <a:buSzPct val="100000"/>
              <a:buChar char="•"/>
            </a:pPr>
            <a:r>
              <a:rPr lang="en-US" sz="2200" b="1" dirty="0">
                <a:solidFill>
                  <a:srgbClr val="FF0000"/>
                </a:solidFill>
                <a:latin typeface="Roboto" pitchFamily="34" charset="0"/>
                <a:ea typeface="Roboto" pitchFamily="34" charset="-122"/>
                <a:cs typeface="Roboto" pitchFamily="34" charset="-120"/>
              </a:rPr>
              <a:t>A random walk re-enters anywhere — </a:t>
            </a:r>
            <a:r>
              <a:rPr lang="en-US" sz="2200" b="1" dirty="0">
                <a:solidFill>
                  <a:srgbClr val="FF0000"/>
                </a:solidFill>
                <a:latin typeface="Roboto" pitchFamily="34" charset="0"/>
                <a:ea typeface="Roboto" pitchFamily="34" charset="-122"/>
                <a:cs typeface="Roboto" pitchFamily="34" charset="-120"/>
              </a:rPr>
              <a:t>476 µs</a:t>
            </a:r>
            <a:endParaRPr lang="en-US" sz="2200" dirty="0"/>
          </a:p>
        </p:txBody>
      </p:sp>
      <p:sp>
        <p:nvSpPr>
          <p:cNvPr id="7" name="Text 5"/>
          <p:cNvSpPr/>
          <p:nvPr/>
        </p:nvSpPr>
        <p:spPr>
          <a:xfrm>
            <a:off x="1007872" y="3098167"/>
            <a:ext cx="10833100" cy="720090"/>
          </a:xfrm>
          <a:prstGeom prst="rect">
            <a:avLst/>
          </a:prstGeom>
          <a:noFill/>
          <a:ln/>
        </p:spPr>
        <p:txBody>
          <a:bodyPr wrap="square" lIns="0" tIns="0" rIns="0" bIns="0" rtlCol="0" anchor="t">
            <a:normAutofit/>
          </a:bodyPr>
          <a:lstStyle/>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the cache cannot help: 476 µs against 477 with it off</a:t>
            </a:r>
            <a:endParaRPr lang="en-US" sz="1900" dirty="0"/>
          </a:p>
          <a:p>
            <a:pPr marL="211328" indent="-211328" algn="l">
              <a:lnSpc>
                <a:spcPts val="2660"/>
              </a:lnSpc>
              <a:buSzPct val="100000"/>
              <a:buChar char="•"/>
            </a:pPr>
            <a:r>
              <a:rPr lang="en-US" sz="1900" dirty="0">
                <a:solidFill>
                  <a:srgbClr val="000000"/>
                </a:solidFill>
                <a:latin typeface="Roboto" pitchFamily="34" charset="0"/>
                <a:ea typeface="Roboto" pitchFamily="34" charset="-122"/>
                <a:cs typeface="Roboto" pitchFamily="34" charset="-120"/>
              </a:rPr>
              <a:t>depth </a:t>
            </a:r>
            <a:r>
              <a:rPr lang="en-US" sz="1900" i="1" dirty="0">
                <a:solidFill>
                  <a:srgbClr val="000000"/>
                </a:solidFill>
                <a:latin typeface="Roboto" pitchFamily="34" charset="0"/>
                <a:ea typeface="Roboto" pitchFamily="34" charset="-122"/>
                <a:cs typeface="Roboto" pitchFamily="34" charset="-120"/>
              </a:rPr>
              <a:t>d</a:t>
            </a:r>
            <a:r>
              <a:rPr lang="en-US" sz="1900" dirty="0">
                <a:solidFill>
                  <a:srgbClr val="000000"/>
                </a:solidFill>
                <a:latin typeface="Roboto" pitchFamily="34" charset="0"/>
                <a:ea typeface="Roboto" pitchFamily="34" charset="-122"/>
                <a:cs typeface="Roboto" pitchFamily="34" charset="-120"/>
              </a:rPr>
              <a:t> pays </a:t>
            </a:r>
            <a:r>
              <a:rPr lang="en-US" sz="1900" i="1" dirty="0">
                <a:solidFill>
                  <a:srgbClr val="000000"/>
                </a:solidFill>
                <a:latin typeface="Roboto" pitchFamily="34" charset="0"/>
                <a:ea typeface="Roboto" pitchFamily="34" charset="-122"/>
                <a:cs typeface="Roboto" pitchFamily="34" charset="-120"/>
              </a:rPr>
              <a:t>d</a:t>
            </a:r>
            <a:r>
              <a:rPr lang="en-US" sz="1900" dirty="0">
                <a:solidFill>
                  <a:srgbClr val="000000"/>
                </a:solidFill>
                <a:latin typeface="Roboto" pitchFamily="34" charset="0"/>
                <a:ea typeface="Roboto" pitchFamily="34" charset="-122"/>
                <a:cs typeface="Roboto" pitchFamily="34" charset="-120"/>
              </a:rPr>
              <a:t> exact counts and </a:t>
            </a:r>
            <a:r>
              <a:rPr lang="en-US" sz="1900" i="1" dirty="0">
                <a:solidFill>
                  <a:srgbClr val="000000"/>
                </a:solidFill>
                <a:latin typeface="Roboto" pitchFamily="34" charset="0"/>
                <a:ea typeface="Roboto" pitchFamily="34" charset="-122"/>
                <a:cs typeface="Roboto" pitchFamily="34" charset="-120"/>
              </a:rPr>
              <a:t>d</a:t>
            </a:r>
            <a:r>
              <a:rPr lang="en-US" sz="1900" dirty="0">
                <a:solidFill>
                  <a:srgbClr val="000000"/>
                </a:solidFill>
                <a:latin typeface="Roboto" pitchFamily="34" charset="0"/>
                <a:ea typeface="Roboto" pitchFamily="34" charset="-122"/>
                <a:cs typeface="Roboto" pitchFamily="34" charset="-120"/>
              </a:rPr>
              <a:t> scattered re-entries, where </a:t>
            </a:r>
            <a:r>
              <a:rPr lang="en-US" sz="1900" b="1" dirty="0">
                <a:solidFill>
                  <a:srgbClr val="000000"/>
                </a:solidFill>
                <a:latin typeface="Roboto" pitchFamily="34" charset="0"/>
                <a:ea typeface="Roboto" pitchFamily="34" charset="-122"/>
                <a:cs typeface="Roboto" pitchFamily="34" charset="-120"/>
              </a:rPr>
              <a:t>keyAt</a:t>
            </a:r>
            <a:r>
              <a:rPr lang="en-US" sz="1900" dirty="0">
                <a:solidFill>
                  <a:srgbClr val="000000"/>
                </a:solidFill>
                <a:latin typeface="Roboto" pitchFamily="34" charset="0"/>
                <a:ea typeface="Roboto" pitchFamily="34" charset="-122"/>
                <a:cs typeface="Roboto" pitchFamily="34" charset="-120"/>
              </a:rPr>
              <a:t> pays </a:t>
            </a:r>
            <a:r>
              <a:rPr lang="en-US" sz="1900" i="1" dirty="0">
                <a:solidFill>
                  <a:srgbClr val="000000"/>
                </a:solidFill>
                <a:latin typeface="Roboto" pitchFamily="34" charset="0"/>
                <a:ea typeface="Roboto" pitchFamily="34" charset="-122"/>
                <a:cs typeface="Roboto" pitchFamily="34" charset="-120"/>
              </a:rPr>
              <a:t>d</a:t>
            </a:r>
            <a:r>
              <a:rPr lang="en-US" sz="1900" dirty="0">
                <a:solidFill>
                  <a:srgbClr val="000000"/>
                </a:solidFill>
                <a:latin typeface="Roboto" pitchFamily="34" charset="0"/>
                <a:ea typeface="Roboto" pitchFamily="34" charset="-122"/>
                <a:cs typeface="Roboto" pitchFamily="34" charset="-120"/>
              </a:rPr>
              <a:t> tree descents</a:t>
            </a:r>
            <a:endParaRPr lang="en-US" sz="1900" dirty="0"/>
          </a:p>
        </p:txBody>
      </p:sp>
      <p:sp>
        <p:nvSpPr>
          <p:cNvPr id="8" name="Text 6"/>
          <p:cNvSpPr/>
          <p:nvPr/>
        </p:nvSpPr>
        <p:spPr>
          <a:xfrm>
            <a:off x="669925" y="3967479"/>
            <a:ext cx="9886950" cy="786130"/>
          </a:xfrm>
          <a:prstGeom prst="rect">
            <a:avLst/>
          </a:prstGeom>
          <a:noFill/>
          <a:ln w="19050">
            <a:solidFill>
              <a:srgbClr val="FF0000"/>
            </a:solidFill>
            <a:prstDash val="solid"/>
          </a:ln>
        </p:spPr>
        <p:txBody>
          <a:bodyPr wrap="square" lIns="44641" tIns="187325" rIns="44641" bIns="161925" rtlCol="0" anchor="t">
            <a:normAutofit/>
          </a:bodyPr>
          <a:lstStyle/>
          <a:p>
            <a:pPr marL="0" indent="0" algn="ctr">
              <a:lnSpc>
                <a:spcPts val="3240"/>
              </a:lnSpc>
              <a:buNone/>
            </a:pPr>
            <a:r>
              <a:rPr lang="en-US" sz="2400" b="1" dirty="0">
                <a:solidFill>
                  <a:srgbClr val="000000"/>
                </a:solidFill>
                <a:latin typeface="Roboto" pitchFamily="34" charset="0"/>
                <a:ea typeface="Roboto" pitchFamily="34" charset="-122"/>
                <a:cs typeface="Roboto" pitchFamily="34" charset="-120"/>
              </a:rPr>
              <a:t>Preemption ports. Sampling pays.</a:t>
            </a:r>
            <a:endParaRPr lang="en-US" sz="2400" dirty="0"/>
          </a:p>
        </p:txBody>
      </p:sp>
      <p:sp>
        <p:nvSpPr>
          <p:cNvPr id="9" name="Text 7"/>
          <p:cNvSpPr/>
          <p:nvPr/>
        </p:nvSpPr>
        <p:spPr>
          <a:xfrm>
            <a:off x="10744200" y="63220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14</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Where this is written down</a:t>
            </a:r>
            <a:endParaRPr lang="en-US" sz="4600" dirty="0"/>
          </a:p>
        </p:txBody>
      </p:sp>
      <p:sp>
        <p:nvSpPr>
          <p:cNvPr id="4" name="Shape 2"/>
          <p:cNvSpPr/>
          <p:nvPr/>
        </p:nvSpPr>
        <p:spPr>
          <a:xfrm>
            <a:off x="11525250" y="1358900"/>
            <a:ext cx="0" cy="3517900"/>
          </a:xfrm>
          <a:prstGeom prst="line">
            <a:avLst/>
          </a:prstGeom>
          <a:noFill/>
          <a:ln w="12700">
            <a:solidFill>
              <a:srgbClr val="000000"/>
            </a:solidFill>
            <a:prstDash val="solid"/>
          </a:ln>
        </p:spPr>
      </p:sp>
      <p:sp>
        <p:nvSpPr>
          <p:cNvPr id="5" name="Shape 3"/>
          <p:cNvSpPr/>
          <p:nvPr/>
        </p:nvSpPr>
        <p:spPr>
          <a:xfrm>
            <a:off x="660400" y="4870450"/>
            <a:ext cx="10871200" cy="0"/>
          </a:xfrm>
          <a:prstGeom prst="line">
            <a:avLst/>
          </a:prstGeom>
          <a:noFill/>
          <a:ln w="12700">
            <a:solidFill>
              <a:srgbClr val="000000"/>
            </a:solidFill>
            <a:prstDash val="solid"/>
          </a:ln>
        </p:spPr>
      </p:sp>
      <p:sp>
        <p:nvSpPr>
          <p:cNvPr id="6" name="Shape 4"/>
          <p:cNvSpPr/>
          <p:nvPr/>
        </p:nvSpPr>
        <p:spPr>
          <a:xfrm>
            <a:off x="660400" y="1365250"/>
            <a:ext cx="10871200" cy="0"/>
          </a:xfrm>
          <a:prstGeom prst="line">
            <a:avLst/>
          </a:prstGeom>
          <a:noFill/>
          <a:ln w="12700">
            <a:solidFill>
              <a:srgbClr val="141413">
                <a:alpha val="22000"/>
              </a:srgbClr>
            </a:solidFill>
            <a:prstDash val="solid"/>
          </a:ln>
        </p:spPr>
      </p:sp>
      <p:sp>
        <p:nvSpPr>
          <p:cNvPr id="7" name="Shape 5"/>
          <p:cNvSpPr/>
          <p:nvPr/>
        </p:nvSpPr>
        <p:spPr>
          <a:xfrm>
            <a:off x="666750" y="1358900"/>
            <a:ext cx="0" cy="3517900"/>
          </a:xfrm>
          <a:prstGeom prst="line">
            <a:avLst/>
          </a:prstGeom>
          <a:noFill/>
          <a:ln w="12700">
            <a:solidFill>
              <a:srgbClr val="141413">
                <a:alpha val="22000"/>
              </a:srgbClr>
            </a:solidFill>
            <a:prstDash val="solid"/>
          </a:ln>
        </p:spPr>
      </p:sp>
      <p:graphicFrame>
        <p:nvGraphicFramePr>
          <p:cNvPr id="8" name="Table 0"/>
          <p:cNvGraphicFramePr>
            <a:graphicFrameLocks xmlns:a="http://schemas.openxmlformats.org/drawingml/2006/main" noGrp="1"/>
          </p:cNvGraphicFramePr>
          <p:nvPr/>
        </p:nvGraphicFramePr>
        <p:xfrm>
          <a:off x="768350" y="1466850"/>
          <a:ext cx="10655300" cy="3302000"/>
        </p:xfrm>
        <a:graphic>
          <a:graphicData uri="http://schemas.openxmlformats.org/drawingml/2006/table">
            <a:tbl>
              <a:tblPr/>
              <a:tblGrid>
                <a:gridCol w="4688332"/>
                <a:gridCol w="5966968"/>
              </a:tblGrid>
              <a:tr h="412750">
                <a:tc>
                  <a:txBody>
                    <a:bodyPr/>
                    <a:lstStyle/>
                    <a:p>
                      <a:pPr marL="0" indent="0">
                        <a:lnSpc>
                          <a:spcPts val="2100"/>
                        </a:lnSpc>
                        <a:buNone/>
                      </a:pPr>
                      <a:r>
                        <a:rPr lang="en-US" sz="1500" b="1" dirty="0">
                          <a:solidFill>
                            <a:srgbClr val="FFFFFF"/>
                          </a:solidFill>
                          <a:latin typeface="Roboto" pitchFamily="34" charset="0"/>
                          <a:ea typeface="Roboto" pitchFamily="34" charset="-122"/>
                          <a:cs typeface="Roboto" pitchFamily="34" charset="-120"/>
                        </a:rPr>
                        <a:t>what</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c>
                  <a:txBody>
                    <a:bodyPr/>
                    <a:lstStyle/>
                    <a:p>
                      <a:pPr marL="0" indent="0">
                        <a:lnSpc>
                          <a:spcPts val="2100"/>
                        </a:lnSpc>
                        <a:buNone/>
                      </a:pPr>
                      <a:r>
                        <a:rPr lang="en-US" sz="1500" b="1" dirty="0">
                          <a:solidFill>
                            <a:srgbClr val="FFFFFF"/>
                          </a:solidFill>
                          <a:latin typeface="Roboto" pitchFamily="34" charset="0"/>
                          <a:ea typeface="Roboto" pitchFamily="34" charset="-122"/>
                          <a:cs typeface="Roboto" pitchFamily="34" charset="-120"/>
                        </a:rPr>
                        <a:t>documented where</a:t>
                      </a:r>
                      <a:endParaRPr lang="en-US" sz="1500" dirty="0">
                        <a:latin typeface="Roboto" charset="0"/>
                        <a:ea typeface="Roboto" charset="0"/>
                        <a:cs typeface="Roboto" charset="0"/>
                      </a:endParaRPr>
                    </a:p>
                  </a:txBody>
                  <a:tcPr marL="66675" marR="66675" marT="66675" marB="66675" anchor="t">
                    <a:lnL w="12700" cap="flat" cmpd="sng" algn="ctr">
                      <a:solidFill>
                        <a:srgbClr val="046BA7"/>
                      </a:solidFill>
                      <a:prstDash val="solid"/>
                      <a:round/>
                      <a:headEnd type="none" w="med" len="med"/>
                      <a:tailEnd type="none" w="med" len="med"/>
                    </a:lnL>
                    <a:lnR w="12700" cap="flat" cmpd="sng" algn="ctr">
                      <a:solidFill>
                        <a:srgbClr val="046BA7"/>
                      </a:solidFill>
                      <a:prstDash val="solid"/>
                      <a:round/>
                      <a:headEnd type="none" w="med" len="med"/>
                      <a:tailEnd type="none" w="med" len="med"/>
                    </a:lnR>
                    <a:lnT w="0" cap="flat" cmpd="sng" algn="ctr">
                      <a:noFill/>
                    </a:lnT>
                    <a:lnB w="12700" cap="flat" cmpd="sng" algn="ctr">
                      <a:solidFill>
                        <a:srgbClr val="046BA7"/>
                      </a:solidFill>
                      <a:prstDash val="solid"/>
                      <a:round/>
                      <a:headEnd type="none" w="med" len="med"/>
                      <a:tailEnd type="none" w="med" len="med"/>
                    </a:lnB>
                    <a:solidFill>
                      <a:srgbClr val="0084D1"/>
                    </a:solidFill>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The six permutations</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Book chapter 2023, §1.5.2, with worked examples; also the wiki</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6BA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Internal / external vocabulary, Id ordering</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Wiki, two pages — conceptual, dated 2022, “will soon be updated”</a:t>
                      </a:r>
                      <a:endParaRPr lang="en-US" sz="1500" dirty="0">
                        <a:latin typeface="Roboto" charset="0"/>
                        <a:ea typeface="Roboto" charset="0"/>
                        <a:cs typeface="Robo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The 4 + 60 bit layout of an Id</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nowhere — the wiki describes ranges, never the encoding</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Blocks, their size, their cutting rules</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nowhere</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Per-column Zstd, offsets and sizes</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nowhere — the wiki only says “compressed in a variety of ways”</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Block and relation metadata, their fields</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nowhere</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r h="412750">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Metadata at the end of the permutation file</a:t>
                      </a:r>
                      <a:endParaRPr lang="en-US" sz="1500" dirty="0">
                        <a:latin typeface="Roboto" charset="0"/>
                        <a:ea typeface="Roboto" charset="0"/>
                        <a:cs typeface="Roboto" charset="0"/>
                      </a:endParaRPr>
                    </a:p>
                  </a:txBody>
                  <a:tcPr marL="66675" marR="66675" marT="66675" marB="66675" anchor="t">
                    <a:lnL w="0" cap="flat" cmpd="sng" algn="ctr">
                      <a:noFill/>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c>
                  <a:txBody>
                    <a:bodyPr/>
                    <a:lstStyle/>
                    <a:p>
                      <a:pPr marL="0" indent="0">
                        <a:lnSpc>
                          <a:spcPts val="2100"/>
                        </a:lnSpc>
                        <a:buNone/>
                      </a:pPr>
                      <a:r>
                        <a:rPr lang="en-US" sz="1500" dirty="0">
                          <a:solidFill>
                            <a:srgbClr val="000000"/>
                          </a:solidFill>
                          <a:latin typeface="Roboto" pitchFamily="34" charset="0"/>
                          <a:ea typeface="Roboto" pitchFamily="34" charset="-122"/>
                          <a:cs typeface="Roboto" pitchFamily="34" charset="-120"/>
                        </a:rPr>
                        <a:t>nowhere</a:t>
                      </a:r>
                      <a:endParaRPr lang="en-US" sz="1500" dirty="0">
                        <a:latin typeface="Roboto" charset="0"/>
                        <a:ea typeface="Roboto" charset="0"/>
                        <a:cs typeface="Roboto" charset="0"/>
                      </a:endParaRPr>
                    </a:p>
                  </a:txBody>
                  <a:tcPr marL="66675" marR="66675" marT="66675" marB="66675" anchor="t">
                    <a:lnL w="12700" cap="flat" cmpd="sng" algn="ctr">
                      <a:solidFill>
                        <a:srgbClr val="CBC1A3"/>
                      </a:solidFill>
                      <a:prstDash val="solid"/>
                      <a:round/>
                      <a:headEnd type="none" w="med" len="med"/>
                      <a:tailEnd type="none" w="med" len="med"/>
                    </a:lnL>
                    <a:lnR w="12700" cap="flat" cmpd="sng" algn="ctr">
                      <a:solidFill>
                        <a:srgbClr val="CBC1A3"/>
                      </a:solidFill>
                      <a:prstDash val="solid"/>
                      <a:round/>
                      <a:headEnd type="none" w="med" len="med"/>
                      <a:tailEnd type="none" w="med" len="med"/>
                    </a:lnR>
                    <a:lnT w="12700" cap="flat" cmpd="sng" algn="ctr">
                      <a:solidFill>
                        <a:srgbClr val="CBC1A3"/>
                      </a:solidFill>
                      <a:prstDash val="solid"/>
                      <a:round/>
                      <a:headEnd type="none" w="med" len="med"/>
                      <a:tailEnd type="none" w="med" len="med"/>
                    </a:lnT>
                    <a:lnB w="12700" cap="flat" cmpd="sng" algn="ctr">
                      <a:solidFill>
                        <a:srgbClr val="CBC1A3"/>
                      </a:solidFill>
                      <a:prstDash val="solid"/>
                      <a:round/>
                      <a:headEnd type="none" w="med" len="med"/>
                      <a:tailEnd type="none" w="med" len="med"/>
                    </a:lnB>
                    <a:solidFill>
                      <a:srgbClr val="FFF2CC"/>
                    </a:solidFill>
                  </a:tcPr>
                </a:tc>
              </a:tr>
            </a:tbl>
          </a:graphicData>
        </a:graphic>
      </p:graphicFrame>
      <p:sp>
        <p:nvSpPr>
          <p:cNvPr id="9" name="Text 6"/>
          <p:cNvSpPr/>
          <p:nvPr/>
        </p:nvSpPr>
        <p:spPr>
          <a:xfrm>
            <a:off x="660400" y="5029200"/>
            <a:ext cx="11197336"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00000"/>
                </a:solidFill>
                <a:latin typeface="Roboto" pitchFamily="34" charset="0"/>
                <a:ea typeface="Roboto" pitchFamily="34" charset="-122"/>
                <a:cs typeface="Roboto" pitchFamily="34" charset="-120"/>
              </a:rPr>
              <a:t>The </a:t>
            </a:r>
            <a:r>
              <a:rPr lang="en-US" sz="1500" b="1" dirty="0">
                <a:solidFill>
                  <a:srgbClr val="000000"/>
                </a:solidFill>
                <a:latin typeface="Roboto" pitchFamily="34" charset="0"/>
                <a:ea typeface="Roboto" pitchFamily="34" charset="-122"/>
                <a:cs typeface="Roboto" pitchFamily="34" charset="-120"/>
              </a:rPr>
              <a:t>CIKM 2017</a:t>
            </a:r>
            <a:r>
              <a:rPr lang="en-US" sz="1500" dirty="0">
                <a:solidFill>
                  <a:srgbClr val="000000"/>
                </a:solidFill>
                <a:latin typeface="Roboto" pitchFamily="34" charset="0"/>
                <a:ea typeface="Roboto" pitchFamily="34" charset="-122"/>
                <a:cs typeface="Roboto" pitchFamily="34" charset="-120"/>
              </a:rPr>
              <a:t> paper does describe blocks — but of an </a:t>
            </a:r>
            <a:r>
              <a:rPr lang="en-US" sz="1500" b="1" dirty="0">
                <a:solidFill>
                  <a:srgbClr val="000000"/>
                </a:solidFill>
                <a:latin typeface="Roboto" pitchFamily="34" charset="0"/>
                <a:ea typeface="Roboto" pitchFamily="34" charset="-122"/>
                <a:cs typeface="Roboto" pitchFamily="34" charset="-120"/>
              </a:rPr>
              <a:t>older, different index</a:t>
            </a:r>
            <a:r>
              <a:rPr lang="en-US" sz="1500" dirty="0">
                <a:solidFill>
                  <a:srgbClr val="000000"/>
                </a:solidFill>
                <a:latin typeface="Roboto" pitchFamily="34" charset="0"/>
                <a:ea typeface="Roboto" pitchFamily="34" charset="-122"/>
                <a:cs typeface="Roboto" pitchFamily="34" charset="-120"/>
              </a:rPr>
              <a:t>: lists of subject + offset pairs, each block keyed by its lowest subject ID. On compressing them it says: </a:t>
            </a:r>
            <a:r>
              <a:rPr lang="en-US" sz="1500" i="1" dirty="0">
                <a:solidFill>
                  <a:srgbClr val="000000"/>
                </a:solidFill>
                <a:latin typeface="Roboto" pitchFamily="34" charset="0"/>
                <a:ea typeface="Roboto" pitchFamily="34" charset="-122"/>
                <a:cs typeface="Roboto" pitchFamily="34" charset="-120"/>
              </a:rPr>
              <a:t>“We choose to not do this.”</a:t>
            </a:r>
            <a:endParaRPr lang="en-US" sz="1500" dirty="0"/>
          </a:p>
        </p:txBody>
      </p:sp>
      <p:sp>
        <p:nvSpPr>
          <p:cNvPr id="10" name="Text 7"/>
          <p:cNvSpPr/>
          <p:nvPr/>
        </p:nvSpPr>
        <p:spPr>
          <a:xfrm>
            <a:off x="660400" y="5715000"/>
            <a:ext cx="11197336"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00000"/>
                </a:solidFill>
                <a:latin typeface="Roboto" pitchFamily="34" charset="0"/>
                <a:ea typeface="Roboto" pitchFamily="34" charset="-122"/>
                <a:cs typeface="Roboto" pitchFamily="34" charset="-120"/>
              </a:rPr>
              <a:t>No architecture page at </a:t>
            </a:r>
            <a:r>
              <a:rPr lang="en-US" sz="1500" b="1" dirty="0">
                <a:solidFill>
                  <a:srgbClr val="000000"/>
                </a:solidFill>
                <a:latin typeface="Roboto" pitchFamily="34" charset="0"/>
                <a:ea typeface="Roboto" pitchFamily="34" charset="-122"/>
                <a:cs typeface="Roboto" pitchFamily="34" charset="-120"/>
              </a:rPr>
              <a:t>docs.qlever.dev</a:t>
            </a:r>
            <a:r>
              <a:rPr lang="en-US" sz="1500" dirty="0">
                <a:solidFill>
                  <a:srgbClr val="000000"/>
                </a:solidFill>
                <a:latin typeface="Roboto" pitchFamily="34" charset="0"/>
                <a:ea typeface="Roboto" pitchFamily="34" charset="-122"/>
                <a:cs typeface="Roboto" pitchFamily="34" charset="-120"/>
              </a:rPr>
              <a:t>. The wiki’s “Overview over the QLever codebase” is </a:t>
            </a:r>
            <a:r>
              <a:rPr lang="en-US" sz="1500" i="1" dirty="0">
                <a:solidFill>
                  <a:srgbClr val="000000"/>
                </a:solidFill>
                <a:latin typeface="Roboto" pitchFamily="34" charset="0"/>
                <a:ea typeface="Roboto" pitchFamily="34" charset="-122"/>
                <a:cs typeface="Roboto" pitchFamily="34" charset="-120"/>
              </a:rPr>
              <a:t>“currently still a stub”</a:t>
            </a:r>
            <a:r>
              <a:rPr lang="en-US" sz="1500" dirty="0">
                <a:solidFill>
                  <a:srgbClr val="000000"/>
                </a:solidFill>
                <a:latin typeface="Roboto" pitchFamily="34" charset="0"/>
                <a:ea typeface="Roboto" pitchFamily="34" charset="-122"/>
                <a:cs typeface="Roboto" pitchFamily="34" charset="-120"/>
              </a:rPr>
              <a:t> and covers Turtle parsing only.</a:t>
            </a:r>
            <a:endParaRPr lang="en-US" sz="1500" dirty="0"/>
          </a:p>
        </p:txBody>
      </p:sp>
      <p:sp>
        <p:nvSpPr>
          <p:cNvPr id="11" name="Text 8"/>
          <p:cNvSpPr/>
          <p:nvPr/>
        </p:nvSpPr>
        <p:spPr>
          <a:xfrm>
            <a:off x="10744200" y="63474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15</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p:nvPr>
            <p:ph type="title"/>
          </p:nvPr>
        </p:nvSpPr>
        <p:spPr>
          <a:xfrm>
            <a:off x="-182880" y="228600"/>
            <a:ext cx="12557760" cy="668020"/>
          </a:xfrm>
          <a:prstGeom prst="rect">
            <a:avLst/>
          </a:prstGeom>
          <a:noFill/>
          <a:ln/>
        </p:spPr>
        <p:txBody>
          <a:bodyPr wrap="square" lIns="0" tIns="0" rIns="0" bIns="0" rtlCol="0" anchor="t">
            <a:normAutofit/>
          </a:bodyPr>
          <a:lstStyle/>
          <a:p>
            <a:pPr marL="0" indent="0" algn="ctr">
              <a:lnSpc>
                <a:spcPts val="5060"/>
              </a:lnSpc>
              <a:buNone/>
            </a:pPr>
            <a:r>
              <a:rPr lang="en-US" sz="4600" b="1" i="0" dirty="0">
                <a:solidFill>
                  <a:srgbClr val="FFFFFF"/>
                </a:solidFill>
                <a:latin typeface="Roboto Slab" pitchFamily="18" charset="0"/>
                <a:ea typeface="Roboto Slab" pitchFamily="18" charset="-122"/>
                <a:cs typeface="Roboto Slab" pitchFamily="18" charset="-120"/>
              </a:rPr>
              <a:t>References</a:t>
            </a:r>
            <a:endParaRPr lang="en-US" sz="4600" dirty="0"/>
          </a:p>
        </p:txBody>
      </p:sp>
      <p:sp>
        <p:nvSpPr>
          <p:cNvPr id="4" name="Text 2"/>
          <p:cNvSpPr/>
          <p:nvPr/>
        </p:nvSpPr>
        <p:spPr>
          <a:xfrm>
            <a:off x="660400" y="1358900"/>
            <a:ext cx="11197336" cy="27400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000000"/>
                </a:solidFill>
                <a:latin typeface="Roboto" pitchFamily="34" charset="0"/>
                <a:ea typeface="Roboto" pitchFamily="34" charset="-122"/>
                <a:cs typeface="Roboto" pitchFamily="34" charset="-120"/>
              </a:rPr>
              <a:t>QLever, as the project itself asks to be cited:</a:t>
            </a:r>
            <a:endParaRPr lang="en-US" sz="1450" dirty="0"/>
          </a:p>
        </p:txBody>
      </p:sp>
      <p:sp>
        <p:nvSpPr>
          <p:cNvPr id="5" name="Text 3"/>
          <p:cNvSpPr/>
          <p:nvPr/>
        </p:nvSpPr>
        <p:spPr>
          <a:xfrm>
            <a:off x="751713" y="1734505"/>
            <a:ext cx="11098403" cy="1704128"/>
          </a:xfrm>
          <a:prstGeom prst="rect">
            <a:avLst/>
          </a:prstGeom>
          <a:noFill/>
          <a:ln/>
        </p:spPr>
        <p:txBody>
          <a:bodyPr wrap="square" lIns="0" tIns="0" rIns="0" bIns="0" rtlCol="0" anchor="t">
            <a:normAutofit/>
          </a:bodyPr>
          <a:lstStyle/>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Bast, Buchhold. </a:t>
            </a:r>
            <a:r>
              <a:rPr lang="en-US" sz="1350" b="1" dirty="0">
                <a:solidFill>
                  <a:srgbClr val="000000"/>
                </a:solidFill>
                <a:latin typeface="Roboto" pitchFamily="34" charset="0"/>
                <a:ea typeface="Roboto" pitchFamily="34" charset="-122"/>
                <a:cs typeface="Roboto" pitchFamily="34" charset="-120"/>
              </a:rPr>
              <a:t>QLever: A Query Engine for Efficient SPARQL+Text Search.</a:t>
            </a:r>
            <a:r>
              <a:rPr lang="en-US" sz="1350" dirty="0">
                <a:solidFill>
                  <a:srgbClr val="000000"/>
                </a:solidFill>
                <a:latin typeface="Roboto" pitchFamily="34" charset="0"/>
                <a:ea typeface="Roboto" pitchFamily="34" charset="-122"/>
                <a:cs typeface="Roboto" pitchFamily="34" charset="-120"/>
              </a:rPr>
              <a:t> CIKM 2017, 647–656.</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Bast, Kalmbach, Klumpp, Kramer, Schnelle. </a:t>
            </a:r>
            <a:r>
              <a:rPr lang="en-US" sz="1350" b="1" dirty="0">
                <a:solidFill>
                  <a:srgbClr val="000000"/>
                </a:solidFill>
                <a:latin typeface="Roboto" pitchFamily="34" charset="0"/>
                <a:ea typeface="Roboto" pitchFamily="34" charset="-122"/>
                <a:cs typeface="Roboto" pitchFamily="34" charset="-120"/>
              </a:rPr>
              <a:t>Efficient SPARQL Autocompletion via SPARQL.</a:t>
            </a:r>
            <a:r>
              <a:rPr lang="en-US" sz="1350" dirty="0">
                <a:solidFill>
                  <a:srgbClr val="000000"/>
                </a:solidFill>
                <a:latin typeface="Roboto" pitchFamily="34" charset="0"/>
                <a:ea typeface="Roboto" pitchFamily="34" charset="-122"/>
                <a:cs typeface="Roboto" pitchFamily="34" charset="-120"/>
              </a:rPr>
              <a:t> CIKM 2022.</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Bast, Brosi, Kalmbach, Klumpp. </a:t>
            </a:r>
            <a:r>
              <a:rPr lang="en-US" sz="1350" b="1" dirty="0">
                <a:solidFill>
                  <a:srgbClr val="000000"/>
                </a:solidFill>
                <a:latin typeface="Roboto" pitchFamily="34" charset="0"/>
                <a:ea typeface="Roboto" pitchFamily="34" charset="-122"/>
                <a:cs typeface="Roboto" pitchFamily="34" charset="-120"/>
              </a:rPr>
              <a:t>Knowledge Graphs</a:t>
            </a:r>
            <a:r>
              <a:rPr lang="en-US" sz="1350" dirty="0">
                <a:solidFill>
                  <a:srgbClr val="000000"/>
                </a:solidFill>
                <a:latin typeface="Roboto" pitchFamily="34" charset="0"/>
                <a:ea typeface="Roboto" pitchFamily="34" charset="-122"/>
                <a:cs typeface="Roboto" pitchFamily="34" charset="-120"/>
              </a:rPr>
              <a:t> (book chapter), 2023 — §1.5.2 covers triple permutations.</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Bast et al. </a:t>
            </a:r>
            <a:r>
              <a:rPr lang="en-US" sz="1350" b="1" dirty="0">
                <a:solidFill>
                  <a:srgbClr val="000000"/>
                </a:solidFill>
                <a:latin typeface="Roboto" pitchFamily="34" charset="0"/>
                <a:ea typeface="Roboto" pitchFamily="34" charset="-122"/>
                <a:cs typeface="Roboto" pitchFamily="34" charset="-120"/>
              </a:rPr>
              <a:t>The dblp Knowledge Graph and SPARQL Endpoint.</a:t>
            </a:r>
            <a:r>
              <a:rPr lang="en-US" sz="1350" dirty="0">
                <a:solidFill>
                  <a:srgbClr val="000000"/>
                </a:solidFill>
                <a:latin typeface="Roboto" pitchFamily="34" charset="0"/>
                <a:ea typeface="Roboto" pitchFamily="34" charset="-122"/>
                <a:cs typeface="Roboto" pitchFamily="34" charset="-120"/>
              </a:rPr>
              <a:t> TGDK 2024.</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Bast, Brosi, Kalmbach. </a:t>
            </a:r>
            <a:r>
              <a:rPr lang="en-US" sz="1350" b="1" dirty="0">
                <a:solidFill>
                  <a:srgbClr val="000000"/>
                </a:solidFill>
                <a:latin typeface="Roboto" pitchFamily="34" charset="0"/>
                <a:ea typeface="Roboto" pitchFamily="34" charset="-122"/>
                <a:cs typeface="Roboto" pitchFamily="34" charset="-120"/>
              </a:rPr>
              <a:t>Efficient Spatial Joins on Large Geometry Sets.</a:t>
            </a:r>
            <a:r>
              <a:rPr lang="en-US" sz="1350" dirty="0">
                <a:solidFill>
                  <a:srgbClr val="000000"/>
                </a:solidFill>
                <a:latin typeface="Roboto" pitchFamily="34" charset="0"/>
                <a:ea typeface="Roboto" pitchFamily="34" charset="-122"/>
                <a:cs typeface="Roboto" pitchFamily="34" charset="-120"/>
              </a:rPr>
              <a:t> SIGSPATIAL 2025, 466–476.</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Walter, Bast. </a:t>
            </a:r>
            <a:r>
              <a:rPr lang="en-US" sz="1350" b="1" dirty="0">
                <a:solidFill>
                  <a:srgbClr val="000000"/>
                </a:solidFill>
                <a:latin typeface="Roboto" pitchFamily="34" charset="0"/>
                <a:ea typeface="Roboto" pitchFamily="34" charset="-122"/>
                <a:cs typeface="Roboto" pitchFamily="34" charset="-120"/>
              </a:rPr>
              <a:t>GRASP: zero-shot question answering on RDF graphs.</a:t>
            </a:r>
            <a:r>
              <a:rPr lang="en-US" sz="1350" dirty="0">
                <a:solidFill>
                  <a:srgbClr val="000000"/>
                </a:solidFill>
                <a:latin typeface="Roboto" pitchFamily="34" charset="0"/>
                <a:ea typeface="Roboto" pitchFamily="34" charset="-122"/>
                <a:cs typeface="Roboto" pitchFamily="34" charset="-120"/>
              </a:rPr>
              <a:t> ISWC 2025.</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Bast, Kalmbach, Tsiapalis, Ullinger. </a:t>
            </a:r>
            <a:r>
              <a:rPr lang="en-US" sz="1350" b="1" dirty="0">
                <a:solidFill>
                  <a:srgbClr val="000000"/>
                </a:solidFill>
                <a:latin typeface="Roboto" pitchFamily="34" charset="0"/>
                <a:ea typeface="Roboto" pitchFamily="34" charset="-122"/>
                <a:cs typeface="Roboto" pitchFamily="34" charset="-120"/>
              </a:rPr>
              <a:t>Sparqloscope: a comprehensive SPARQL benchmark.</a:t>
            </a:r>
            <a:r>
              <a:rPr lang="en-US" sz="1350" dirty="0">
                <a:solidFill>
                  <a:srgbClr val="000000"/>
                </a:solidFill>
                <a:latin typeface="Roboto" pitchFamily="34" charset="0"/>
                <a:ea typeface="Roboto" pitchFamily="34" charset="-122"/>
                <a:cs typeface="Roboto" pitchFamily="34" charset="-120"/>
              </a:rPr>
              <a:t> ISWC 2025.</a:t>
            </a:r>
            <a:endParaRPr lang="en-US" sz="1350" dirty="0"/>
          </a:p>
        </p:txBody>
      </p:sp>
      <p:sp>
        <p:nvSpPr>
          <p:cNvPr id="6" name="Text 4"/>
          <p:cNvSpPr/>
          <p:nvPr/>
        </p:nvSpPr>
        <p:spPr>
          <a:xfrm>
            <a:off x="660400" y="3540237"/>
            <a:ext cx="11197336" cy="274003"/>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000000"/>
                </a:solidFill>
                <a:latin typeface="Roboto" pitchFamily="34" charset="0"/>
                <a:ea typeface="Roboto" pitchFamily="34" charset="-122"/>
                <a:cs typeface="Roboto" pitchFamily="34" charset="-120"/>
              </a:rPr>
              <a:t>Independent evaluations, and the migration:</a:t>
            </a:r>
            <a:endParaRPr lang="en-US" sz="1450" dirty="0"/>
          </a:p>
        </p:txBody>
      </p:sp>
      <p:sp>
        <p:nvSpPr>
          <p:cNvPr id="7" name="Text 5"/>
          <p:cNvSpPr/>
          <p:nvPr/>
        </p:nvSpPr>
        <p:spPr>
          <a:xfrm>
            <a:off x="751713" y="3915829"/>
            <a:ext cx="11098403" cy="981498"/>
          </a:xfrm>
          <a:prstGeom prst="rect">
            <a:avLst/>
          </a:prstGeom>
          <a:noFill/>
          <a:ln/>
        </p:spPr>
        <p:txBody>
          <a:bodyPr wrap="square" lIns="0" tIns="0" rIns="0" bIns="0" rtlCol="0" anchor="t">
            <a:normAutofit/>
          </a:bodyPr>
          <a:lstStyle/>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Patel-Schneider. </a:t>
            </a:r>
            <a:r>
              <a:rPr lang="en-US" sz="1350" b="1" dirty="0">
                <a:solidFill>
                  <a:srgbClr val="000000"/>
                </a:solidFill>
                <a:latin typeface="Roboto" pitchFamily="34" charset="0"/>
                <a:ea typeface="Roboto" pitchFamily="34" charset="-122"/>
                <a:cs typeface="Roboto" pitchFamily="34" charset="-120"/>
              </a:rPr>
              <a:t>Benchmarking SPARQL Engines on Wikidata Queries.</a:t>
            </a:r>
            <a:r>
              <a:rPr lang="en-US" sz="1350" dirty="0">
                <a:solidFill>
                  <a:srgbClr val="000000"/>
                </a:solidFill>
                <a:latin typeface="Roboto" pitchFamily="34" charset="0"/>
                <a:ea typeface="Roboto" pitchFamily="34" charset="-122"/>
                <a:cs typeface="Roboto" pitchFamily="34" charset="-120"/>
              </a:rPr>
              <a:t> Wikidata Workshop at ISWC 2025.</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Lam, Elvesæter, Martin-Recuerda. </a:t>
            </a:r>
            <a:r>
              <a:rPr lang="en-US" sz="1350" b="1" dirty="0">
                <a:solidFill>
                  <a:srgbClr val="000000"/>
                </a:solidFill>
                <a:latin typeface="Roboto" pitchFamily="34" charset="0"/>
                <a:ea typeface="Roboto" pitchFamily="34" charset="-122"/>
                <a:cs typeface="Roboto" pitchFamily="34" charset="-120"/>
              </a:rPr>
              <a:t>Evaluation of a Representative Selection of SPARQL Query Engines Using Wikidata.</a:t>
            </a:r>
            <a:r>
              <a:rPr lang="en-US" sz="1350" dirty="0">
                <a:solidFill>
                  <a:srgbClr val="000000"/>
                </a:solidFill>
                <a:latin typeface="Roboto" pitchFamily="34" charset="0"/>
                <a:ea typeface="Roboto" pitchFamily="34" charset="-122"/>
                <a:cs typeface="Roboto" pitchFamily="34" charset="-120"/>
              </a:rPr>
              <a:t> ESWC 2023, 679–696.</a:t>
            </a:r>
            <a:endParaRPr lang="en-US" sz="1350" dirty="0"/>
          </a:p>
          <a:p>
            <a:pPr marL="162687" indent="-162687" algn="l">
              <a:lnSpc>
                <a:spcPts val="1863"/>
              </a:lnSpc>
              <a:buSzPct val="100000"/>
              <a:buChar char="•"/>
            </a:pPr>
            <a:r>
              <a:rPr lang="en-US" sz="1350" dirty="0">
                <a:solidFill>
                  <a:srgbClr val="000000"/>
                </a:solidFill>
                <a:latin typeface="Roboto" pitchFamily="34" charset="0"/>
                <a:ea typeface="Roboto" pitchFamily="34" charset="-122"/>
                <a:cs typeface="Roboto" pitchFamily="34" charset="-120"/>
              </a:rPr>
              <a:t>Wikidata Platform Team. </a:t>
            </a:r>
            <a:r>
              <a:rPr lang="en-US" sz="1350" b="1" dirty="0">
                <a:solidFill>
                  <a:srgbClr val="000000"/>
                </a:solidFill>
                <a:latin typeface="Roboto" pitchFamily="34" charset="0"/>
                <a:ea typeface="Roboto" pitchFamily="34" charset="-122"/>
                <a:cs typeface="Roboto" pitchFamily="34" charset="-120"/>
              </a:rPr>
              <a:t>WDQS backend update — Backend Replacement.</a:t>
            </a:r>
            <a:r>
              <a:rPr lang="en-US" sz="1350" dirty="0">
                <a:solidFill>
                  <a:srgbClr val="000000"/>
                </a:solidFill>
                <a:latin typeface="Roboto" pitchFamily="34" charset="0"/>
                <a:ea typeface="Roboto" pitchFamily="34" charset="-122"/>
                <a:cs typeface="Roboto" pitchFamily="34" charset="-120"/>
              </a:rPr>
              <a:t> wikidata.org.</a:t>
            </a:r>
            <a:endParaRPr lang="en-US" sz="1350" dirty="0"/>
          </a:p>
        </p:txBody>
      </p:sp>
      <p:sp>
        <p:nvSpPr>
          <p:cNvPr id="8" name="Text 6"/>
          <p:cNvSpPr/>
          <p:nvPr/>
        </p:nvSpPr>
        <p:spPr>
          <a:xfrm>
            <a:off x="660400" y="4998926"/>
            <a:ext cx="11197336" cy="516043"/>
          </a:xfrm>
          <a:prstGeom prst="rect">
            <a:avLst/>
          </a:prstGeom>
          <a:noFill/>
          <a:ln/>
        </p:spPr>
        <p:txBody>
          <a:bodyPr wrap="square" lIns="0" tIns="0" rIns="0" bIns="0" rtlCol="0" anchor="t">
            <a:normAutofit/>
          </a:bodyPr>
          <a:lstStyle/>
          <a:p>
            <a:pPr marL="0" indent="0" algn="l">
              <a:lnSpc>
                <a:spcPts val="1932"/>
              </a:lnSpc>
              <a:buNone/>
            </a:pPr>
            <a:r>
              <a:rPr lang="en-US" sz="1400" b="1" dirty="0">
                <a:solidFill>
                  <a:srgbClr val="000000"/>
                </a:solidFill>
                <a:latin typeface="Roboto" pitchFamily="34" charset="0"/>
                <a:ea typeface="Roboto" pitchFamily="34" charset="-122"/>
                <a:cs typeface="Roboto" pitchFamily="34" charset="-120"/>
              </a:rPr>
              <a:t>Talks:</a:t>
            </a:r>
            <a:r>
              <a:rPr lang="en-US" sz="1400" dirty="0">
                <a:solidFill>
                  <a:srgbClr val="000000"/>
                </a:solidFill>
                <a:latin typeface="Roboto" pitchFamily="34" charset="0"/>
                <a:ea typeface="Roboto" pitchFamily="34" charset="-122"/>
                <a:cs typeface="Roboto" pitchFamily="34" charset="-120"/>
              </a:rPr>
              <a:t> Bast, </a:t>
            </a:r>
            <a:r>
              <a:rPr lang="en-US" sz="1400" i="1" dirty="0">
                <a:solidFill>
                  <a:srgbClr val="000000"/>
                </a:solidFill>
                <a:latin typeface="Roboto" pitchFamily="34" charset="0"/>
                <a:ea typeface="Roboto" pitchFamily="34" charset="-122"/>
                <a:cs typeface="Roboto" pitchFamily="34" charset="-120"/>
              </a:rPr>
              <a:t>The QLever SPARQL Engine</a:t>
            </a:r>
            <a:r>
              <a:rPr lang="en-US" sz="1400" dirty="0">
                <a:solidFill>
                  <a:srgbClr val="000000"/>
                </a:solidFill>
                <a:latin typeface="Roboto" pitchFamily="34" charset="0"/>
                <a:ea typeface="Roboto" pitchFamily="34" charset="-122"/>
                <a:cs typeface="Roboto" pitchFamily="34" charset="-120"/>
              </a:rPr>
              <a:t> — DSG Seminar, Waterloo 2022 (recorded) · Wikidata Data Modeling Days 2023 · DBpedia Day keynote, SEMANTiCS 2025. </a:t>
            </a:r>
            <a:r>
              <a:rPr lang="en-US" sz="1400" b="1" dirty="0">
                <a:solidFill>
                  <a:srgbClr val="000000"/>
                </a:solidFill>
                <a:latin typeface="Roboto" pitchFamily="34" charset="0"/>
                <a:ea typeface="Roboto" pitchFamily="34" charset="-122"/>
                <a:cs typeface="Roboto" pitchFamily="34" charset="-120"/>
              </a:rPr>
              <a:t>Docs:</a:t>
            </a:r>
            <a:r>
              <a:rPr lang="en-US" sz="1400" dirty="0">
                <a:solidFill>
                  <a:srgbClr val="000000"/>
                </a:solidFill>
                <a:latin typeface="Roboto" pitchFamily="34" charset="0"/>
                <a:ea typeface="Roboto" pitchFamily="34" charset="-122"/>
                <a:cs typeface="Roboto" pitchFamily="34" charset="-120"/>
              </a:rPr>
              <a:t> docs.qlever.dev · github.com/ad-freiburg/qlever/wiki</a:t>
            </a:r>
            <a:endParaRPr lang="en-US" sz="1400" dirty="0"/>
          </a:p>
        </p:txBody>
      </p:sp>
      <p:sp>
        <p:nvSpPr>
          <p:cNvPr id="9" name="Text 7"/>
          <p:cNvSpPr/>
          <p:nvPr/>
        </p:nvSpPr>
        <p:spPr>
          <a:xfrm>
            <a:off x="10744200" y="6347458"/>
            <a:ext cx="939800" cy="25654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95959"/>
                </a:solidFill>
                <a:latin typeface="Roboto" pitchFamily="34" charset="0"/>
                <a:ea typeface="Roboto" pitchFamily="34" charset="-122"/>
                <a:cs typeface="Roboto" pitchFamily="34" charset="-120"/>
              </a:rPr>
              <a:t>16</a:t>
            </a:r>
            <a:endParaRPr lang="en-US" sz="1300" dirty="0"/>
          </a:p>
        </p:txBody>
      </p:sp>
    </p:spTree>
  </p:cSld>
  <p:clrMapOvr>
    <a:masterClrMapping/>
  </p:clrMapOvr>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QLever as a Passage backend">
  <a:themeElements>
    <a:clrScheme name="QLever as a Passage backend">
      <a:dk1>
        <a:srgbClr val="000000"/>
      </a:dk1>
      <a:lt1>
        <a:srgbClr val="FFFFFF"/>
      </a:lt1>
      <a:dk2>
        <a:srgbClr val="404040"/>
      </a:dk2>
      <a:lt2>
        <a:srgbClr val="E6E6E6"/>
      </a:lt2>
      <a:accent1>
        <a:srgbClr val="0084D1"/>
      </a:accent1>
      <a:accent2>
        <a:srgbClr val="FF0000"/>
      </a:accent2>
      <a:accent3>
        <a:srgbClr val="38761D"/>
      </a:accent3>
      <a:accent4>
        <a:srgbClr val="595959"/>
      </a:accent4>
      <a:accent5>
        <a:srgbClr val="D9EAD3"/>
      </a:accent5>
      <a:accent6>
        <a:srgbClr val="9AA0A6"/>
      </a:accent6>
      <a:hlink>
        <a:srgbClr val="0563C1"/>
      </a:hlink>
      <a:folHlink>
        <a:srgbClr val="954F72"/>
      </a:folHlink>
    </a:clrScheme>
    <a:fontScheme name="QLever as a Passage backend">
      <a:majorFont>
        <a:latin typeface="Roboto Slab"/>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ONLYOFFICE/10.0.0.169</Application>
  <PresentationFormat>On-screen Show (4:3)</PresentationFormat>
  <Paragraphs>0</Paragraphs>
  <Slides>16</Slides>
  <Notes>16</Notes>
  <HiddenSlides>0</HiddenSlides>
  <MMClips>0</MMClips>
  <ScaleCrop>0</ScaleCrop>
  <HeadingPairs>
    <vt:vector size="4" baseType="variant">
      <vt:variant>
        <vt:lpstr>Theme</vt:lpstr>
      </vt:variant>
      <vt:variant>
        <vt:i4>1</vt:i4>
      </vt:variant>
      <vt:variant>
        <vt:lpstr>Slide Titles</vt:lpstr>
      </vt:variant>
      <vt:variant>
        <vt:i4>16</vt:i4>
      </vt:variant>
    </vt:vector>
  </HeadingPairs>
  <TitlesOfParts>
    <vt:vector size="1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QLever as a Passage backend</dc:title>
  <dc:subject/>
  <dc:creator/>
  <cp:lastModifiedBy/>
  <cp:revision>1</cp:revision>
  <dcterms:created xsi:type="dcterms:W3CDTF">2026-10-17T07:11:53Z</dcterms:created>
  <dcterms:modified xsi:type="dcterms:W3CDTF">2026-10-17T07:11:53Z</dcterms:modified>
</cp:coreProperties>
</file>